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ee93babef8d4a59" /><Relationship Type="http://schemas.openxmlformats.org/officeDocument/2006/relationships/extended-properties" Target="/docProps/app.xml" Id="R806998c01bed4ded" /><Relationship Type="http://schemas.openxmlformats.org/officeDocument/2006/relationships/officeDocument" Target="/ppt/presentation.xml" Id="R3bdbabb110d745ab" /></Relationships>
</file>

<file path=ppt/presentation.xml><?xml version="1.0" encoding="utf-8"?>
<p:presentation xmlns:p="http://schemas.openxmlformats.org/presentationml/2006/main">
  <p:sldMasterIdLst>
    <p:sldMasterId xmlns:r="http://schemas.openxmlformats.org/officeDocument/2006/relationships" id="2147483648" r:id="Ra16e055439f34ff5"/>
  </p:sldMasterIdLst>
  <p:notesMasterIdLst>
    <p:notesMasterId xmlns:r="http://schemas.openxmlformats.org/officeDocument/2006/relationships" r:id="Re20a2c2f37544b6c"/>
  </p:notesMasterIdLst>
  <p:sldIdLst>
    <p:sldId xmlns:r="http://schemas.openxmlformats.org/officeDocument/2006/relationships" id="256" r:id="Rffa2a18dc08146d9"/>
    <p:sldId xmlns:r="http://schemas.openxmlformats.org/officeDocument/2006/relationships" id="257" r:id="Re88c692cb4b042e9"/>
    <p:sldId xmlns:r="http://schemas.openxmlformats.org/officeDocument/2006/relationships" id="258" r:id="R686f39ddb35d496c"/>
    <p:sldId xmlns:r="http://schemas.openxmlformats.org/officeDocument/2006/relationships" id="259" r:id="R8f355510f13d457a"/>
    <p:sldId xmlns:r="http://schemas.openxmlformats.org/officeDocument/2006/relationships" id="260" r:id="R3a9a4d0f47cc4a15"/>
    <p:sldId xmlns:r="http://schemas.openxmlformats.org/officeDocument/2006/relationships" id="261" r:id="R90aedf4c0c9342e7"/>
    <p:sldId xmlns:r="http://schemas.openxmlformats.org/officeDocument/2006/relationships" id="262" r:id="Rdfdee1aafc6a413f"/>
    <p:sldId xmlns:r="http://schemas.openxmlformats.org/officeDocument/2006/relationships" id="263" r:id="R012db8473e2f4556"/>
    <p:sldId xmlns:r="http://schemas.openxmlformats.org/officeDocument/2006/relationships" id="264" r:id="R9f1d262b90294745"/>
    <p:sldId xmlns:r="http://schemas.openxmlformats.org/officeDocument/2006/relationships" id="265" r:id="R21b46964555043c3"/>
    <p:sldId xmlns:r="http://schemas.openxmlformats.org/officeDocument/2006/relationships" id="266" r:id="R44a12d3164904bc2"/>
    <p:sldId xmlns:r="http://schemas.openxmlformats.org/officeDocument/2006/relationships" id="267" r:id="R8806f1729e284b17"/>
    <p:sldId xmlns:r="http://schemas.openxmlformats.org/officeDocument/2006/relationships" id="268" r:id="R9c9992f5262942f1"/>
    <p:sldId xmlns:r="http://schemas.openxmlformats.org/officeDocument/2006/relationships" id="269" r:id="R25626a896fd0446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4d9f274d9f42a2" /><Relationship Type="http://schemas.openxmlformats.org/officeDocument/2006/relationships/slideMaster" Target="/ppt/slideMasters/slideMaster1.xml" Id="Ra16e055439f34ff5" /><Relationship Type="http://schemas.openxmlformats.org/officeDocument/2006/relationships/notesMaster" Target="/ppt/notesMasters/notesMaster1.xml" Id="Re20a2c2f37544b6c" /><Relationship Type="http://schemas.openxmlformats.org/officeDocument/2006/relationships/presProps" Target="/ppt/presProps.xml" Id="R35dec56eaf9c4927" /><Relationship Type="http://schemas.openxmlformats.org/officeDocument/2006/relationships/tableStyles" Target="/ppt/tableStyles.xml" Id="R047220b6e90b4aab" /><Relationship Type="http://schemas.openxmlformats.org/officeDocument/2006/relationships/slide" Target="/ppt/slides/slide1.xml" Id="Rffa2a18dc08146d9" /><Relationship Type="http://schemas.openxmlformats.org/officeDocument/2006/relationships/slide" Target="/ppt/slides/slide2.xml" Id="Re88c692cb4b042e9" /><Relationship Type="http://schemas.openxmlformats.org/officeDocument/2006/relationships/slide" Target="/ppt/slides/slide3.xml" Id="R686f39ddb35d496c" /><Relationship Type="http://schemas.openxmlformats.org/officeDocument/2006/relationships/slide" Target="/ppt/slides/slide4.xml" Id="R8f355510f13d457a" /><Relationship Type="http://schemas.openxmlformats.org/officeDocument/2006/relationships/slide" Target="/ppt/slides/slide5.xml" Id="R3a9a4d0f47cc4a15" /><Relationship Type="http://schemas.openxmlformats.org/officeDocument/2006/relationships/slide" Target="/ppt/slides/slide6.xml" Id="R90aedf4c0c9342e7" /><Relationship Type="http://schemas.openxmlformats.org/officeDocument/2006/relationships/slide" Target="/ppt/slides/slide7.xml" Id="Rdfdee1aafc6a413f" /><Relationship Type="http://schemas.openxmlformats.org/officeDocument/2006/relationships/slide" Target="/ppt/slides/slide8.xml" Id="R012db8473e2f4556" /><Relationship Type="http://schemas.openxmlformats.org/officeDocument/2006/relationships/slide" Target="/ppt/slides/slide9.xml" Id="R9f1d262b90294745" /><Relationship Type="http://schemas.openxmlformats.org/officeDocument/2006/relationships/slide" Target="/ppt/slides/slide10.xml" Id="R21b46964555043c3" /><Relationship Type="http://schemas.openxmlformats.org/officeDocument/2006/relationships/slide" Target="/ppt/slides/slide11.xml" Id="R44a12d3164904bc2" /><Relationship Type="http://schemas.openxmlformats.org/officeDocument/2006/relationships/slide" Target="/ppt/slides/slide12.xml" Id="R8806f1729e284b17" /><Relationship Type="http://schemas.openxmlformats.org/officeDocument/2006/relationships/slide" Target="/ppt/slides/slide13.xml" Id="R9c9992f5262942f1" /><Relationship Type="http://schemas.openxmlformats.org/officeDocument/2006/relationships/slide" Target="/ppt/slides/slide14.xml" Id="R25626a896fd0446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7fbdd207a8463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ea452dd7a0a496d" /><Relationship Type="http://schemas.openxmlformats.org/officeDocument/2006/relationships/notesMaster" Target="/ppt/notesMasters/notesMaster1.xml" Id="R047f0b53f8044d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7ddca6c68e48e9" /><Relationship Type="http://schemas.openxmlformats.org/officeDocument/2006/relationships/notesMaster" Target="/ppt/notesMasters/notesMaster1.xml" Id="R0871809a80034736" /></Relationships>
</file>

<file path=ppt/notesSlides/_rels/notesSlide3.xml.rels>&#65279;<?xml version="1.0" encoding="utf-8"?><Relationships xmlns="http://schemas.openxmlformats.org/package/2006/relationships"><Relationship Type="http://schemas.openxmlformats.org/officeDocument/2006/relationships/slide" Target="/ppt/slides/slide3.xml" Id="Rf8f7016ebb574b60" /><Relationship Type="http://schemas.openxmlformats.org/officeDocument/2006/relationships/notesMaster" Target="/ppt/notesMasters/notesMaster1.xml" Id="R11e5bf2426474c8b" /></Relationships>
</file>

<file path=ppt/notesSlides/_rels/notesSlide4.xml.rels>&#65279;<?xml version="1.0" encoding="utf-8"?><Relationships xmlns="http://schemas.openxmlformats.org/package/2006/relationships"><Relationship Type="http://schemas.openxmlformats.org/officeDocument/2006/relationships/slide" Target="/ppt/slides/slide4.xml" Id="R677c076cce3f4fab" /><Relationship Type="http://schemas.openxmlformats.org/officeDocument/2006/relationships/notesMaster" Target="/ppt/notesMasters/notesMaster1.xml" Id="Rd5fcef41b0284666" /></Relationships>
</file>

<file path=ppt/notesSlides/_rels/notesSlide5.xml.rels>&#65279;<?xml version="1.0" encoding="utf-8"?><Relationships xmlns="http://schemas.openxmlformats.org/package/2006/relationships"><Relationship Type="http://schemas.openxmlformats.org/officeDocument/2006/relationships/slide" Target="/ppt/slides/slide5.xml" Id="R7578dfb440b2435a" /><Relationship Type="http://schemas.openxmlformats.org/officeDocument/2006/relationships/notesMaster" Target="/ppt/notesMasters/notesMaster1.xml" Id="R7801e4a5da934d8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849ca894714882" /><Relationship Type="http://schemas.openxmlformats.org/officeDocument/2006/relationships/notesMaster" Target="/ppt/notesMasters/notesMaster1.xml" Id="Re631a91a7517473e"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bf961fd94f432d" /><Relationship Type="http://schemas.openxmlformats.org/officeDocument/2006/relationships/notesMaster" Target="/ppt/notesMasters/notesMaster1.xml" Id="R79486cc6bf86464f"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197434f4484ffc" /><Relationship Type="http://schemas.openxmlformats.org/officeDocument/2006/relationships/notesMaster" Target="/ppt/notesMasters/notesMaster1.xml" Id="R97c29299edb44db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81e0287b1d6420c" /><Relationship Type="http://schemas.openxmlformats.org/officeDocument/2006/relationships/notesMaster" Target="/ppt/notesMasters/notesMaster1.xml" Id="Ra7729d896ca9476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080042d9df4708" /><Relationship Type="http://schemas.openxmlformats.org/officeDocument/2006/relationships/notesMaster" Target="/ppt/notesMasters/notesMaster1.xml" Id="R8384cb606891476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207a0c48566453a" /><Relationship Type="http://schemas.openxmlformats.org/officeDocument/2006/relationships/notesMaster" Target="/ppt/notesMasters/notesMaster1.xml" Id="Rc4a49acd2e4c44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6648a6c917747ff" /><Relationship Type="http://schemas.openxmlformats.org/officeDocument/2006/relationships/notesMaster" Target="/ppt/notesMasters/notesMaster1.xml" Id="R2ba1bdb428954a6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d1406def37a4736" /><Relationship Type="http://schemas.openxmlformats.org/officeDocument/2006/relationships/notesMaster" Target="/ppt/notesMasters/notesMaster1.xml" Id="R1a6a77c5f162409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f9dca6010874e0f" /><Relationship Type="http://schemas.openxmlformats.org/officeDocument/2006/relationships/notesMaster" Target="/ppt/notesMasters/notesMaster1.xml" Id="R3f07e9b3ecd94ce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Mandate Wallet lets an AI agent pay for an approved service while the owner controls its spending authority. We connect a real Claude Desktop session to a smart wallet on Base Sepolia. The demonstration buys an ETH statistics sample using test USDC, recovers a failed delivery and ends with an owner-signed revocation.</a:t>
            </a:r>
          </a:p>
          <a:p xmlns:a="http://schemas.openxmlformats.org/drawingml/2006/main">
            <a:r>
              <a:t/>
            </a:r>
          </a:p>
          <a:p xmlns:a="http://schemas.openxmlformats.org/drawingml/2006/main">
            <a:r>
              <a:t>Presenter timing: 20 seconds.</a:t>
            </a:r>
          </a:p>
          <a:p xmlns:a="http://schemas.openxmlformats.org/drawingml/2006/main">
            <a:r>
              <a:t>Chinese cue: 先说明产品用途，再说明演示使用 Base Sepolia 和测试 USDC。</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competition/video/claude-desktop-base-v1/execution-evidence/run.json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agent may know which API it needs, but that does not define what it may spend. Giving the runtime an unrestricted wallet key gives it more authority than a single task requires. An approval prompt for every small call also interrupts execution. We separate the owner’s spending decision from the agent’s operation. The owner specifies a task, approved services, payment asset, recipient, budget and expiry. The agent can then complete the approved steps. The contract checks the financial boundary even if the host uses the session key directly.</a:t>
            </a:r>
          </a:p>
          <a:p xmlns:a="http://schemas.openxmlformats.org/drawingml/2006/main">
            <a:r>
              <a:t/>
            </a:r>
          </a:p>
          <a:p xmlns:a="http://schemas.openxmlformats.org/drawingml/2006/main">
            <a:r>
              <a:t>Presenter timing: 40 seconds.</a:t>
            </a:r>
          </a:p>
          <a:p xmlns:a="http://schemas.openxmlformats.org/drawingml/2006/main">
            <a:r>
              <a:t>Chinese cue: 解释任务权限与钱包主密钥权限的区别，避免泛泛介绍 AI 支付。</a:t>
            </a:r>
          </a:p>
          <a:p xmlns:a="http://schemas.openxmlformats.org/drawingml/2006/main">
            <a:r>
              <a:t/>
            </a:r>
          </a:p>
          <a:p xmlns:a="http://schemas.openxmlformats.org/drawingml/2006/main">
            <a:r>
              <a:t>Sources (repository-relative):</a:t>
            </a:r>
          </a:p>
          <a:p xmlns:a="http://schemas.openxmlformats.org/drawingml/2006/main">
            <a:r>
              <a:t>mandate/contracts/src/MandateAccount.sol</a:t>
            </a:r>
          </a:p>
          <a:p xmlns:a="http://schemas.openxmlformats.org/drawingml/2006/main">
            <a:r>
              <a:t>planning/M1_SPEC.zh-CN.md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Mandate is delivered as a wallet protocol with an owner workspace, a local gateway and agent integrations. The owner reviews permissions and transactions in the workspace and signs management operations in Rabby. Claude Desktop connects through a configured MCP extension. The gateway handles quotes, durable orders and recovery. The blockchain enforces the approved payment scope. The website and manual explain this workflow to new users. The owner key remains in the external wallet.</a:t>
            </a:r>
          </a:p>
          <a:p xmlns:a="http://schemas.openxmlformats.org/drawingml/2006/main">
            <a:r>
              <a:t/>
            </a:r>
          </a:p>
          <a:p xmlns:a="http://schemas.openxmlformats.org/drawingml/2006/main">
            <a:r>
              <a:t>Presenter timing: 35 seconds.</a:t>
            </a:r>
          </a:p>
          <a:p xmlns:a="http://schemas.openxmlformats.org/drawingml/2006/main">
            <a:r>
              <a:t>Chinese cue: 指出网站、MCP、Gateway 与链上钱包各自职责。</a:t>
            </a:r>
          </a:p>
          <a:p xmlns:a="http://schemas.openxmlformats.org/drawingml/2006/main">
            <a:r>
              <a:t/>
            </a:r>
          </a:p>
          <a:p xmlns:a="http://schemas.openxmlformats.org/drawingml/2006/main">
            <a:r>
              <a:t>Sources (repository-relative):</a:t>
            </a:r>
          </a:p>
          <a:p xmlns:a="http://schemas.openxmlformats.org/drawingml/2006/main">
            <a:r>
              <a:t>mandate/onboarding/README.zh-CN.md</a:t>
            </a:r>
          </a:p>
          <a:p xmlns:a="http://schemas.openxmlformats.org/drawingml/2006/main">
            <a:r>
              <a:t>mandate/gateway/README.zh-CN.md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concrete task is to purchase a fixed ETH statistics sample and write a short brief. The owner funds the smart account with 0.15 test USDC, approves that total budget and caps each payment at 0.10. The quoted service costs 0.01. ETH names the requested dataset. USDC is the payment asset. Operator gas receives separate test ETH. These small test amounts make the result easy to inspect. The merchant and facilitator are controlled demonstration services, and the sample is not live market data.</a:t>
            </a:r>
          </a:p>
          <a:p xmlns:a="http://schemas.openxmlformats.org/drawingml/2006/main">
            <a:r>
              <a:t/>
            </a:r>
          </a:p>
          <a:p xmlns:a="http://schemas.openxmlformats.org/drawingml/2006/main">
            <a:r>
              <a:t>Presenter timing: 40 seconds.</a:t>
            </a:r>
          </a:p>
          <a:p xmlns:a="http://schemas.openxmlformats.org/drawingml/2006/main">
            <a:r>
              <a:t>Chinese cue: 强调 ETH 是数据名称，USDC 才是付款资产；三组金额均来自实测。</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competition/video/claude-desktop-base-v1/execution-evidence/run.json</a:t>
            </a:r>
          </a:p>
          <a:p xmlns:a="http://schemas.openxmlformats.org/drawingml/2006/main">
            <a:r>
              <a:t>competition/video/claude-desktop-base-v1/execution-evidence/new-eth-payment-evidence.json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sequence shows how the applications cooperate. The workspace prepares a decoded transaction for the owner to review. Rabby signs deployment, funding and permission transactions directly for Base Sepolia. The owner approves a session signer for explicit steps, a budget and a finite expiry. For this successful case, the session lasts two hours. The user imports the Guided connector into Claude Desktop. The connector already points to this local task, so the user does not select profile files. Claude first reads the network, account and current grant through the gateway. Importing the connector does not create new on-chain spending authority.</a:t>
            </a:r>
          </a:p>
          <a:p xmlns:a="http://schemas.openxmlformats.org/drawingml/2006/main">
            <a:r>
              <a:t/>
            </a:r>
          </a:p>
          <a:p xmlns:a="http://schemas.openxmlformats.org/drawingml/2006/main">
            <a:r>
              <a:t>Presenter timing: 55 seconds.</a:t>
            </a:r>
          </a:p>
          <a:p xmlns:a="http://schemas.openxmlformats.org/drawingml/2006/main">
            <a:r>
              <a:t>Chinese cue: 按泳道逐行讲解。手动导入扩展属于用户操作，不将其画成自动安装。</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competition/video/claude-desktop-base-v1/execution-evidence/transactions.json</a:t>
            </a:r>
          </a:p>
          <a:p xmlns:a="http://schemas.openxmlformats.org/drawingml/2006/main">
            <a:r>
              <a:t>planning/M8_ACCEPTANCE.zh-CN.md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 calls the approved service through the gateway. The gateway obtains a 402 quote and checks it against the owner-approved request and merchant. It constructs a concrete payment with a deterministic step nonce. Registration first reserves the task and session budgets on chain. Only after confirmed registration does the client release the exact payment signature. The merchant asks the facilitator to settle. The token invokes the wallet’s ERC-1271 check, which reads current authorization rather than relying only on an earlier precheck. A matching token transfer proves payment. The merchant response and the configured result checker then determine delivery and result status. These are three separate conclusions.</a:t>
            </a:r>
          </a:p>
          <a:p xmlns:a="http://schemas.openxmlformats.org/drawingml/2006/main">
            <a:r>
              <a:t/>
            </a:r>
          </a:p>
          <a:p xmlns:a="http://schemas.openxmlformats.org/drawingml/2006/main">
            <a:r>
              <a:t>Presenter timing: 70 seconds.</a:t>
            </a:r>
          </a:p>
          <a:p xmlns:a="http://schemas.openxmlformats.org/drawingml/2006/main">
            <a:r>
              <a:t>Chinese cue: 重点解释先登记预留，再提供付款签名；预验证不能代替结算时验权。</a:t>
            </a:r>
          </a:p>
          <a:p xmlns:a="http://schemas.openxmlformats.org/drawingml/2006/main">
            <a:r>
              <a:t/>
            </a:r>
          </a:p>
          <a:p xmlns:a="http://schemas.openxmlformats.org/drawingml/2006/main">
            <a:r>
              <a:t>Sources (repository-relative):</a:t>
            </a:r>
          </a:p>
          <a:p xmlns:a="http://schemas.openxmlformats.org/drawingml/2006/main">
            <a:r>
              <a:t>mandate/services/client.ts</a:t>
            </a:r>
          </a:p>
          <a:p xmlns:a="http://schemas.openxmlformats.org/drawingml/2006/main">
            <a:r>
              <a:t>mandate/contracts/src/MandateAccount.sol</a:t>
            </a:r>
          </a:p>
          <a:p xmlns:a="http://schemas.openxmlformats.org/drawingml/2006/main">
            <a:r>
              <a:t>competition/video/claude-desktop-base-v1/execution-evidence/purchase-bundle.json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policy uses one fixed payment asset and approves concrete merchant and request hashes. Sessions inherit a subset of the task scope. Registration atomically reserves the shared task and session budgets, so two 0.10 requests cannot both register against a 0.15 root. Each step has one deterministic payment nonce and remains marked as used. At token settlement, the wallet accepts only a registered exact digest with live permissions. Expired unused commitments can release their reservation safely. Paid or uncertain commitments remain occupied. Occupied budget is therefore different from confirmed spend and from wallet cash.</a:t>
            </a:r>
          </a:p>
          <a:p xmlns:a="http://schemas.openxmlformats.org/drawingml/2006/main">
            <a:r>
              <a:t/>
            </a:r>
          </a:p>
          <a:p xmlns:a="http://schemas.openxmlformats.org/drawingml/2006/main">
            <a:r>
              <a:t>Presenter timing: 45 seconds.</a:t>
            </a:r>
          </a:p>
          <a:p xmlns:a="http://schemas.openxmlformats.org/drawingml/2006/main">
            <a:r>
              <a:t>Chinese cue: 说明合约保护范围，同时区分预算占用、实际付款与钱包余额。</a:t>
            </a:r>
          </a:p>
          <a:p xmlns:a="http://schemas.openxmlformats.org/drawingml/2006/main">
            <a:r>
              <a:t/>
            </a:r>
          </a:p>
          <a:p xmlns:a="http://schemas.openxmlformats.org/drawingml/2006/main">
            <a:r>
              <a:t>Sources (repository-relative):</a:t>
            </a:r>
          </a:p>
          <a:p xmlns:a="http://schemas.openxmlformats.org/drawingml/2006/main">
            <a:r>
              <a:t>mandate/contracts/src/MandateAccount.sol</a:t>
            </a:r>
          </a:p>
          <a:p xmlns:a="http://schemas.openxmlformats.org/drawingml/2006/main">
            <a:r>
              <a:t>planning/M7_FORMAL_BOUNDARIES.zh-CN.md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real Base Sepolia purchase settled 0.01 test USDC. We deliberately made the first paid response fail with HTTP 500. The gateway recorded payment as paid, delivery as failed and the result as unchecked. Claude reconciled the existing order and resumed it. The same nonce and settlement hash remained in use. The second response returned HTTP 200 and passed the fixed-data checker. No second payment occurred. This does not guarantee that every merchant will deliver or refund. It shows that a retry can preserve the original payment identity.</a:t>
            </a:r>
          </a:p>
          <a:p xmlns:a="http://schemas.openxmlformats.org/drawingml/2006/main">
            <a:r>
              <a:t/>
            </a:r>
          </a:p>
          <a:p xmlns:a="http://schemas.openxmlformats.org/drawingml/2006/main">
            <a:r>
              <a:t>Presenter timing: 40 seconds.</a:t>
            </a:r>
          </a:p>
          <a:p xmlns:a="http://schemas.openxmlformats.org/drawingml/2006/main">
            <a:r>
              <a:t>Chinese cue: 把服务故障作为恢复能力的实际案例，避免将付款成功解释为服务成功。</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competition/video/claude-desktop-base-v1/execution-evidence/service-and-orders.json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ETH task completed, Claude prepared an unsigned revocation request. The owner reviewed it and signed in Rabby. The SessionRevoked event and fresh chain state identify the same task and session. We then attempted the unused BTC sample once. The gateway returned AGENT_GRANT_INACTIVE before creating a payment authorization or broadcasting a registration. The wallet retained 0.14 test USDC. A completed payment remains paid after revocation. Revocation removes future authority rather than reversing the service purchase.</a:t>
            </a:r>
          </a:p>
          <a:p xmlns:a="http://schemas.openxmlformats.org/drawingml/2006/main">
            <a:r>
              <a:t/>
            </a:r>
          </a:p>
          <a:p xmlns:a="http://schemas.openxmlformats.org/drawingml/2006/main">
            <a:r>
              <a:t>Presenter timing: 35 seconds.</a:t>
            </a:r>
          </a:p>
          <a:p xmlns:a="http://schemas.openxmlformats.org/drawingml/2006/main">
            <a:r>
              <a:t>Chinese cue: 已签署撤销与随后广播前拒绝是两类证据，不捏造失败交易。</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competition/video/claude-desktop-base-v1/execution-evidence/revocation-evidence.json</a:t>
            </a:r>
          </a:p>
          <a:p xmlns:a="http://schemas.openxmlformats.org/drawingml/2006/main">
            <a:r>
              <a:t>competition/video/claude-desktop-base-v1/execution-evidence/refusal-evidence.json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financial record connects the owner-approved scope, registration, token nonce, amount and matching transfer. Signed checkpoints and salted Merkle disclosures connect the purchase to recorded observations. An independent verifier can check the disclosed request, merchant offer, receipt and fixed result against separately trusted configuration. In this run, the required checks passed, but the overall report remains incomplete. We have no independent HTTPS witness for this paid merchant and no external retained history anchor. A session signature cannot establish source truth, and a valid local prefix cannot prove that no later activity was omitted.</a:t>
            </a:r>
          </a:p>
          <a:p xmlns:a="http://schemas.openxmlformats.org/drawingml/2006/main">
            <a:r>
              <a:t/>
            </a:r>
          </a:p>
          <a:p xmlns:a="http://schemas.openxmlformats.org/drawingml/2006/main">
            <a:r>
              <a:t>Presenter timing: 50 seconds.</a:t>
            </a:r>
          </a:p>
          <a:p xmlns:a="http://schemas.openxmlformats.org/drawingml/2006/main">
            <a:r>
              <a:t>Chinese cue: 研究重点在证据能证明什么，不能把签名和 Merkle 完整性等同于真实来源或完整历史。</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competition/video/claude-desktop-base-v1/execution-evidence/independent-verification.json</a:t>
            </a:r>
          </a:p>
          <a:p xmlns:a="http://schemas.openxmlformats.org/drawingml/2006/main">
            <a:r>
              <a:t>mandate/evidence/verifier.ts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controlled evaluation contains thirty tasks in each of four comparable HTTP configurations. Across 120 tasks, it recorded 132 settlements and zero duplicate payments, including retries and injected delivery failures. Ten thousand distinct explicitly invalid contract calls were rejected, with six legal controls. Eight stateful cases probe budget contention, replay, revocation and controller boundaries. The chart shows local median full-task time. Adding reservation, evidence and controller work increases cost. These measurements exclude setup and include export and verification where applicable. They are not public-network latency, production throughput or a ranking of commercial wallets.</a:t>
            </a:r>
          </a:p>
          <a:p xmlns:a="http://schemas.openxmlformats.org/drawingml/2006/main">
            <a:r>
              <a:t/>
            </a:r>
          </a:p>
          <a:p xmlns:a="http://schemas.openxmlformats.org/drawingml/2006/main">
            <a:r>
              <a:t>Presenter timing: 55 seconds.</a:t>
            </a:r>
          </a:p>
          <a:p xmlns:a="http://schemas.openxmlformats.org/drawingml/2006/main">
            <a:r>
              <a:t>Chinese cue: 图表为既有本地实验，不把它当作本次 Base Sepolia 延迟；主动解释新增安全与证据工作的成本。</a:t>
            </a:r>
          </a:p>
          <a:p xmlns:a="http://schemas.openxmlformats.org/drawingml/2006/main">
            <a:r>
              <a:t/>
            </a:r>
          </a:p>
          <a:p xmlns:a="http://schemas.openxmlformats.org/drawingml/2006/main">
            <a:r>
              <a:t>Sources (repository-relative):</a:t>
            </a:r>
          </a:p>
          <a:p xmlns:a="http://schemas.openxmlformats.org/drawingml/2006/main">
            <a:r>
              <a:t>artifacts/m7/benchmarks/audit.json</a:t>
            </a:r>
          </a:p>
          <a:p xmlns:a="http://schemas.openxmlformats.org/drawingml/2006/main">
            <a:r>
              <a:t>artifacts/m7/research/dataset-audit.json</a:t>
            </a:r>
          </a:p>
          <a:p xmlns:a="http://schemas.openxmlformats.org/drawingml/2006/main">
            <a:r>
              <a:t>planning/M7_BENCHMARK_ACCEPTANCE.zh-CN.md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Echo is our earlier account-abstraction project. We preserved its upstream baseline, then repaired operation signatures, swap decoding, execution restrictions and actual input-spend accounting. Mandate adds a separate registered-payment route for x402 API purchases. It uses an immutable ERC-1271 account, shared reservations, finite sessions and persistent purchase recovery. The earlier research proposal motivates accountability under host interference, selective disclosure and detection of suppressed history. We implemented and tested a bounded subset, and retained counterexamples where extra trust is necessary. We do not claim that all of the proposal’s intended guarantees are complete.</a:t>
            </a:r>
          </a:p>
          <a:p xmlns:a="http://schemas.openxmlformats.org/drawingml/2006/main">
            <a:r>
              <a:t/>
            </a:r>
          </a:p>
          <a:p xmlns:a="http://schemas.openxmlformats.org/drawingml/2006/main">
            <a:r>
              <a:t>Presenter timing: 50 seconds.</a:t>
            </a:r>
          </a:p>
          <a:p xmlns:a="http://schemas.openxmlformats.org/drawingml/2006/main">
            <a:r>
              <a:t>Chinese cue: 清楚披露前作与新增贡献，不照搬 Echo deck 中的 TEE、ZKP 或市场数据主张。</a:t>
            </a:r>
          </a:p>
          <a:p xmlns:a="http://schemas.openxmlformats.org/drawingml/2006/main">
            <a:r>
              <a:t/>
            </a:r>
          </a:p>
          <a:p xmlns:a="http://schemas.openxmlformats.org/drawingml/2006/main">
            <a:r>
              <a:t>Sources (repository-relative):</a:t>
            </a:r>
          </a:p>
          <a:p xmlns:a="http://schemas.openxmlformats.org/drawingml/2006/main">
            <a:r>
              <a:t>competition/TECHNICAL_REPORT.en.md</a:t>
            </a:r>
          </a:p>
          <a:p xmlns:a="http://schemas.openxmlformats.org/drawingml/2006/main">
            <a:r>
              <a:t>planning/M2_ACCEPTANCE.zh-CN.md</a:t>
            </a:r>
          </a:p>
          <a:p xmlns:a="http://schemas.openxmlformats.org/drawingml/2006/main">
            <a:r>
              <a:t>planning/M7_FORMAL_BOUNDARIES.zh-CN.md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working product includes the wallet contracts, workspace, SDK, local MCP gateway and native Claude Desktop integration. The Base Sepolia case links real owner transactions to one purchase, delivery recovery and revocation. The next product priorities are a signed installer with a supported update path, persistent local practice state and broader third-party merchant and facilitator compatibility. A deployment with separately managed signing and evidence retention would need its own verification. Mainnet spending, physical-device coverage and an external human security audit remain outside the present acceptance. These are explicit release tasks rather than capabilities implied by the demonstration.</a:t>
            </a:r>
          </a:p>
          <a:p xmlns:a="http://schemas.openxmlformats.org/drawingml/2006/main">
            <a:r>
              <a:t/>
            </a:r>
          </a:p>
          <a:p xmlns:a="http://schemas.openxmlformats.org/drawingml/2006/main">
            <a:r>
              <a:t>Presenter timing: 45 seconds.</a:t>
            </a:r>
          </a:p>
          <a:p xmlns:a="http://schemas.openxmlformats.org/drawingml/2006/main">
            <a:r>
              <a:t>Chinese cue: 说明当前可用范围与发布缺口，避免把原生演示等同于正式产品发行。</a:t>
            </a:r>
          </a:p>
          <a:p xmlns:a="http://schemas.openxmlformats.org/drawingml/2006/main">
            <a:r>
              <a:t/>
            </a:r>
          </a:p>
          <a:p xmlns:a="http://schemas.openxmlformats.org/drawingml/2006/main">
            <a:r>
              <a:t>Sources (repository-relative):</a:t>
            </a:r>
          </a:p>
          <a:p xmlns:a="http://schemas.openxmlformats.org/drawingml/2006/main">
            <a:r>
              <a:t>planning/IMPLEMENTATION_TASKS.zh-CN.md</a:t>
            </a:r>
          </a:p>
          <a:p xmlns:a="http://schemas.openxmlformats.org/drawingml/2006/main">
            <a:r>
              <a:t>planning/M8_ACCEPTANCE.zh-CN.md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Mandate Wallet gives an agent a useful payment capability with a boundary that the owner can inspect and revoke. The demonstration and execution package show the approved scope, the actual USDC transfer, successful recovery and the rejected follow-up. We are building an agent wallet whose financial controls and evidence claims can be reviewed separately.</a:t>
            </a:r>
          </a:p>
          <a:p xmlns:a="http://schemas.openxmlformats.org/drawingml/2006/main">
            <a:r>
              <a:t/>
            </a:r>
          </a:p>
          <a:p xmlns:a="http://schemas.openxmlformats.org/drawingml/2006/main">
            <a:r>
              <a:t>Presenter timing: 20 seconds.</a:t>
            </a:r>
          </a:p>
          <a:p xmlns:a="http://schemas.openxmlformats.org/drawingml/2006/main">
            <a:r>
              <a:t>Chinese cue: 以产品价值和可核对的结果结束，不增加未经验证的规模或收入预测。</a:t>
            </a:r>
          </a:p>
          <a:p xmlns:a="http://schemas.openxmlformats.org/drawingml/2006/main">
            <a:r>
              <a:t/>
            </a:r>
          </a:p>
          <a:p xmlns:a="http://schemas.openxmlformats.org/drawingml/2006/main">
            <a:r>
              <a:t>Sources (repository-relative):</a:t>
            </a:r>
          </a:p>
          <a:p xmlns:a="http://schemas.openxmlformats.org/drawingml/2006/main">
            <a:r>
              <a:t>competition/video/claude-desktop-base-v1/execution-evidence/checks.json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f3ec40e477458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863c5cb01b4c4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11a1d0bf6aa41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24d068455cf47c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b542847f6bc48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c3094659deb444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7C4CF-B3A9-4898-BE07-0E9644D368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6C7850-885C-45DC-8311-3231B9F5C9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4357708-C319-420C-8D85-A0DD954AB4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73B8BB-9712-4C2A-A48E-06839A2617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320A802-BF02-4496-9E46-CDF03A20F8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767669-155C-4DFD-9C62-964A70AE71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B4DD71-BC04-49C3-89A1-B4159CE54B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C0988E-075B-47E6-B2DA-68D397EE1E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81444B-48D0-4583-8271-449E1A9E7E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CD06DF-D467-4611-907A-B5029ECEB2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9fd2e205b04fdc" /><Relationship Type="http://schemas.openxmlformats.org/officeDocument/2006/relationships/slideLayout" Target="/ppt/slideLayouts/slideLayout1.xml" Id="R40b691483046499a" /><Relationship Type="http://schemas.openxmlformats.org/officeDocument/2006/relationships/slideLayout" Target="/ppt/slideLayouts/slideLayout2.xml" Id="R58ae29dc94d74b86" /><Relationship Type="http://schemas.openxmlformats.org/officeDocument/2006/relationships/slideLayout" Target="/ppt/slideLayouts/slideLayout3.xml" Id="Rf88581fe7d6c4bad" /><Relationship Type="http://schemas.openxmlformats.org/officeDocument/2006/relationships/slideLayout" Target="/ppt/slideLayouts/slideLayout4.xml" Id="R8e87c947b06f4970" /><Relationship Type="http://schemas.openxmlformats.org/officeDocument/2006/relationships/slideLayout" Target="/ppt/slideLayouts/slideLayout5.xml" Id="Rfe34f2ee2bff49e0" /><Relationship Type="http://schemas.openxmlformats.org/officeDocument/2006/relationships/slideLayout" Target="/ppt/slideLayouts/slideLayout6.xml" Id="Rc1af7b714a6042b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0b691483046499a"/>
    <p:sldLayoutId xmlns:r="http://schemas.openxmlformats.org/officeDocument/2006/relationships" id="2147483650" r:id="R58ae29dc94d74b86"/>
    <p:sldLayoutId xmlns:r="http://schemas.openxmlformats.org/officeDocument/2006/relationships" id="2147483651" r:id="Rf88581fe7d6c4bad"/>
    <p:sldLayoutId xmlns:r="http://schemas.openxmlformats.org/officeDocument/2006/relationships" id="2147483652" r:id="R8e87c947b06f4970"/>
    <p:sldLayoutId xmlns:r="http://schemas.openxmlformats.org/officeDocument/2006/relationships" id="2147483653" r:id="Rfe34f2ee2bff49e0"/>
    <p:sldLayoutId xmlns:r="http://schemas.openxmlformats.org/officeDocument/2006/relationships" id="2147483654" r:id="Rc1af7b714a6042b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a0465c2a36847a4" /><Relationship Type="http://schemas.openxmlformats.org/officeDocument/2006/relationships/image" Target="/ppt/media/image.png" Id="R190b3fc62e184ee5" /><Relationship Type="http://schemas.openxmlformats.org/officeDocument/2006/relationships/image" Target="/ppt/media/image.svg" Id="R9ca3ef6de657453c" /><Relationship Type="http://schemas.openxmlformats.org/officeDocument/2006/relationships/image" Target="/ppt/media/image2.png" Id="R3908b4e0ab5a4539" /><Relationship Type="http://schemas.openxmlformats.org/officeDocument/2006/relationships/image" Target="/ppt/media/image2.svg" Id="R2791a30cee624807" /><Relationship Type="http://schemas.openxmlformats.org/officeDocument/2006/relationships/image" Target="/ppt/media/image3.png" Id="Rf4fd2c54f37e42ae" /><Relationship Type="http://schemas.openxmlformats.org/officeDocument/2006/relationships/image" Target="/ppt/media/image3.svg" Id="R6e3a5b1fe24f45ef" /><Relationship Type="http://schemas.openxmlformats.org/officeDocument/2006/relationships/notesSlide" Target="/ppt/notesSlides/notesSlide1.xml" Id="R304da42c4f7b48c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7103dedf01d41d9" /><Relationship Type="http://schemas.openxmlformats.org/officeDocument/2006/relationships/image" Target="/ppt/media/image4.png" Id="R65f42dc0eb94443a" /><Relationship Type="http://schemas.openxmlformats.org/officeDocument/2006/relationships/image" Target="/ppt/media/image4.svg" Id="Rfbc588213e4048d8" /><Relationship Type="http://schemas.openxmlformats.org/officeDocument/2006/relationships/notesSlide" Target="/ppt/notesSlides/notesSlide2.xml" Id="R398a6d2b146f42d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b0de5548944ce6" /><Relationship Type="http://schemas.openxmlformats.org/officeDocument/2006/relationships/image" Target="/ppt/media/image5.png" Id="R8acd6de04f1649b0" /><Relationship Type="http://schemas.openxmlformats.org/officeDocument/2006/relationships/image" Target="/ppt/media/image5.svg" Id="R72b9b39b6989434f" /><Relationship Type="http://schemas.openxmlformats.org/officeDocument/2006/relationships/image" Target="/ppt/media/image.jpeg" Id="R1d68e829531648b9" /><Relationship Type="http://schemas.openxmlformats.org/officeDocument/2006/relationships/notesSlide" Target="/ppt/notesSlides/notesSlide3.xml" Id="Re35c7bb87de9423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e7f73bcd0aa47cb" /><Relationship Type="http://schemas.openxmlformats.org/officeDocument/2006/relationships/image" Target="/ppt/media/image6.png" Id="Rf681b2e369cc49bc" /><Relationship Type="http://schemas.openxmlformats.org/officeDocument/2006/relationships/image" Target="/ppt/media/image6.svg" Id="R56e902fb1e1f4950" /><Relationship Type="http://schemas.openxmlformats.org/officeDocument/2006/relationships/image" Target="/ppt/media/image2.jpeg" Id="R73c3a0cd25384380" /><Relationship Type="http://schemas.openxmlformats.org/officeDocument/2006/relationships/notesSlide" Target="/ppt/notesSlides/notesSlide4.xml" Id="Rb2a47fdf43fd4af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78fa2fbc4d74a8c" /><Relationship Type="http://schemas.openxmlformats.org/officeDocument/2006/relationships/image" Target="/ppt/media/image7.png" Id="R223d07070cf54180" /><Relationship Type="http://schemas.openxmlformats.org/officeDocument/2006/relationships/image" Target="/ppt/media/image7.svg" Id="Reb082b8336254d2e" /><Relationship Type="http://schemas.openxmlformats.org/officeDocument/2006/relationships/notesSlide" Target="/ppt/notesSlides/notesSlide5.xml" Id="R921875e251814c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f63749cd32b4cca" /><Relationship Type="http://schemas.openxmlformats.org/officeDocument/2006/relationships/image" Target="/ppt/media/image8.png" Id="Rce5d69f49d3a4908" /><Relationship Type="http://schemas.openxmlformats.org/officeDocument/2006/relationships/image" Target="/ppt/media/image8.svg" Id="R78344561c48f4a00" /><Relationship Type="http://schemas.openxmlformats.org/officeDocument/2006/relationships/notesSlide" Target="/ppt/notesSlides/notesSlide6.xml" Id="Rb70321d678e7494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9bdc397ab614c5b" /><Relationship Type="http://schemas.openxmlformats.org/officeDocument/2006/relationships/image" Target="/ppt/media/image9.png" Id="Rf5660b827e1a42d9" /><Relationship Type="http://schemas.openxmlformats.org/officeDocument/2006/relationships/image" Target="/ppt/media/image9.svg" Id="Rb922e06795d7404b" /><Relationship Type="http://schemas.openxmlformats.org/officeDocument/2006/relationships/notesSlide" Target="/ppt/notesSlides/notesSlide7.xml" Id="R5ee1b11ef532466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91bf3bfdf944d92" /><Relationship Type="http://schemas.openxmlformats.org/officeDocument/2006/relationships/image" Target="/ppt/media/image10.png" Id="R23ffea0f22e64577" /><Relationship Type="http://schemas.openxmlformats.org/officeDocument/2006/relationships/image" Target="/ppt/media/image10.svg" Id="R17fee36803f848c0" /><Relationship Type="http://schemas.openxmlformats.org/officeDocument/2006/relationships/notesSlide" Target="/ppt/notesSlides/notesSlide8.xml" Id="R2c29dac5bbb848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890706f4d94a403e" /><Relationship Type="http://schemas.openxmlformats.org/officeDocument/2006/relationships/image" Target="/ppt/media/image11.png" Id="Rb191d289a0e448ac" /><Relationship Type="http://schemas.openxmlformats.org/officeDocument/2006/relationships/image" Target="/ppt/media/image11.svg" Id="R5a63f00a560847ca" /><Relationship Type="http://schemas.openxmlformats.org/officeDocument/2006/relationships/image" Target="/ppt/media/image3.jpeg" Id="R42865f711a6c4219" /><Relationship Type="http://schemas.openxmlformats.org/officeDocument/2006/relationships/notesSlide" Target="/ppt/notesSlides/notesSlide9.xml" Id="Rad19d051014b46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ac3e0c5f84941c8" /><Relationship Type="http://schemas.openxmlformats.org/officeDocument/2006/relationships/image" Target="/ppt/media/image12.png" Id="Ra1f7754f61a94e6c" /><Relationship Type="http://schemas.openxmlformats.org/officeDocument/2006/relationships/image" Target="/ppt/media/image12.svg" Id="Rb1d4b1f462c244c6" /><Relationship Type="http://schemas.openxmlformats.org/officeDocument/2006/relationships/notesSlide" Target="/ppt/notesSlides/notesSlide10.xml" Id="R87ba0a4cabc24a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2f06bb1a5cc54f40" /><Relationship Type="http://schemas.openxmlformats.org/officeDocument/2006/relationships/image" Target="/ppt/media/image13.png" Id="Recf001b566e44097" /><Relationship Type="http://schemas.openxmlformats.org/officeDocument/2006/relationships/image" Target="/ppt/media/image13.svg" Id="R9e1ffc6659204534" /><Relationship Type="http://schemas.openxmlformats.org/officeDocument/2006/relationships/chart" Target="/ppt/slides/charts/chart1.xml" Id="R961bc2ebb691419e" /><Relationship Type="http://schemas.openxmlformats.org/officeDocument/2006/relationships/notesSlide" Target="/ppt/notesSlides/notesSlide11.xml" Id="R9b39172a58754d6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d6f1133f35c4e05" /><Relationship Type="http://schemas.openxmlformats.org/officeDocument/2006/relationships/image" Target="/ppt/media/image14.png" Id="Rbc57855229324138" /><Relationship Type="http://schemas.openxmlformats.org/officeDocument/2006/relationships/image" Target="/ppt/media/image14.svg" Id="Rb0527dd98f3445ba" /><Relationship Type="http://schemas.openxmlformats.org/officeDocument/2006/relationships/notesSlide" Target="/ppt/notesSlides/notesSlide12.xml" Id="R484ff13f8231452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48492c30904c4fea" /><Relationship Type="http://schemas.openxmlformats.org/officeDocument/2006/relationships/image" Target="/ppt/media/image15.png" Id="R06eea0e143fe4c0b" /><Relationship Type="http://schemas.openxmlformats.org/officeDocument/2006/relationships/image" Target="/ppt/media/image15.svg" Id="R44530c1f510b4db7" /><Relationship Type="http://schemas.openxmlformats.org/officeDocument/2006/relationships/notesSlide" Target="/ppt/notesSlides/notesSlide13.xml" Id="Ra789203766f442f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07f223524894ad9" /><Relationship Type="http://schemas.openxmlformats.org/officeDocument/2006/relationships/image" Target="/ppt/media/image16.png" Id="R5359883365e74409" /><Relationship Type="http://schemas.openxmlformats.org/officeDocument/2006/relationships/image" Target="/ppt/media/image16.svg" Id="Raf4bdd1c95c04761" /><Relationship Type="http://schemas.openxmlformats.org/officeDocument/2006/relationships/image" Target="/ppt/media/image17.png" Id="R626e3132712c4d66" /><Relationship Type="http://schemas.openxmlformats.org/officeDocument/2006/relationships/image" Target="/ppt/media/image17.svg" Id="R7254deabc9764795" /><Relationship Type="http://schemas.openxmlformats.org/officeDocument/2006/relationships/notesSlide" Target="/ppt/notesSlides/notesSlide14.xml" Id="R9e3d4912f3bb442f"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Milliseconds</c:v>
          </c:tx>
          <c:spPr>
            <a:solidFill xmlns:a="http://schemas.openxmlformats.org/drawingml/2006/main">
              <a:srgbClr val="62ACFF"/>
            </a:solidFill>
          </c:spPr>
          <c:invertIfNegative val="0"/>
          <c:cat>
            <c:strRef>
              <c:f>'Chart Data'!$A$2:$A$5</c:f>
              <c:strCache>
                <c:ptCount val="4"/>
                <c:pt idx="0">
                  <c:v>EOA reference</c:v>
                </c:pt>
                <c:pt idx="1">
                  <c:v>Mandate</c:v>
                </c:pt>
                <c:pt idx="2">
                  <c:v>+ evidence</c:v>
                </c:pt>
                <c:pt idx="3">
                  <c:v>+ controller</c:v>
                </c:pt>
              </c:strCache>
            </c:strRef>
          </c:cat>
          <c:val>
            <c:numRef>
              <c:f>'Chart Data'!$B$2:$B$5</c:f>
              <c:numCache>
                <c:formatCode>General</c:formatCode>
                <c:ptCount val="4"/>
                <c:pt idx="0">
                  <c:v>27.33</c:v>
                </c:pt>
                <c:pt idx="1">
                  <c:v>55.72</c:v>
                </c:pt>
                <c:pt idx="2">
                  <c:v>317.94</c:v>
                </c:pt>
                <c:pt idx="3">
                  <c:v>399.33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F5F6F8"/>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54052"/>
            </a:solidFill>
          </a:ln>
        </c:spPr>
        <c:txPr>
          <a:bodyPr xmlns:a="http://schemas.openxmlformats.org/drawingml/2006/main" anchorCtr="1"/>
          <a:lstStyle xmlns:a="http://schemas.openxmlformats.org/drawingml/2006/main"/>
          <a:p xmlns:a="http://schemas.openxmlformats.org/drawingml/2006/main">
            <a:pPr>
              <a:defRPr sz="1425">
                <a:solidFill>
                  <a:srgbClr val="F5F6F8"/>
                </a:solidFill>
                <a:latin typeface="Arial"/>
                <a:ea typeface="Arial"/>
                <a:cs typeface="Arial"/>
              </a:defRPr>
            </a:pPr>
          </a:p>
        </c:txPr>
        <c:crossAx val="48672768"/>
      </c:catAx>
      <c:valAx>
        <c:axId val="48672768"/>
        <c:scaling>
          <c:orientation val="minMax"/>
          <c:max val="450"/>
          <c:min val="0"/>
        </c:scaling>
        <c:delete val="0"/>
        <c:axPos val="l"/>
        <c:majorGridlines>
          <c:spPr>
            <a:ln xmlns:a="http://schemas.openxmlformats.org/drawingml/2006/main" w="9525">
              <a:solidFill>
                <a:srgbClr val="354052"/>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A0A5AF"/>
                </a:solidFill>
                <a:latin typeface="Arial"/>
                <a:ea typeface="Arial"/>
                <a:cs typeface="Arial"/>
              </a:defRPr>
            </a:pPr>
          </a:p>
        </c:txPr>
        <c:crossAx val="48650112"/>
        <c:crossBetween val="between"/>
      </c:valAx>
      <c:spPr>
        <a:solidFill xmlns:a="http://schemas.openxmlformats.org/drawingml/2006/main">
          <a:srgbClr val="08090B"/>
        </a:solidFill>
      </c:spPr>
    </c:plotArea>
    <c:plotVisOnly val="1"/>
  </c:chart>
  <c:spPr>
    <a:solidFill xmlns:a="http://schemas.openxmlformats.org/drawingml/2006/main">
      <a:srgbClr val="08090B"/>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075FF83-A5D6-410D-9D25-F145AAF16A0D}"/>
              </a:ext>
            </a:extLst>
          </p:cNvPr>
          <p:cNvPicPr>
            <a:picLocks xmlns:a="http://schemas.openxmlformats.org/drawingml/2006/main" noChangeAspect="1"/>
          </p:cNvPicPr>
          <p:nvPr/>
        </p:nvPicPr>
        <p:blipFill>
          <a:blip xmlns:r="http://schemas.openxmlformats.org/officeDocument/2006/relationships" xmlns:a="http://schemas.openxmlformats.org/drawingml/2006/main" r:embed="R190b3fc62e184ee5">
            <a:extLst>
              <a:ext uri="{96DAC541-7B7A-43D3-8B79-37D633B846F1}">
                <asvg:svgBlip xmlns:asvg="http://schemas.microsoft.com/office/drawing/2016/SVG/main" r:embed="R9ca3ef6de657453c"/>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01">
            <a:extLst xmlns:a="http://schemas.openxmlformats.org/drawingml/2006/main">
              <a:ext uri="{FF2B5EF4-FFF2-40B4-BE49-F238E27FC236}">
                <a16:creationId xmlns:a16="http://schemas.microsoft.com/office/drawing/2014/main" id="{C27AE413-8431-4719-8B8C-A9555964800D}"/>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01</a:t>
            </a:r>
          </a:p>
        </p:txBody>
      </p:sp>
      <p:pic>
        <p:nvPicPr>
          <p:cNvPr id="4" name="">
            <a:extLst xmlns:a="http://schemas.openxmlformats.org/drawingml/2006/main">
              <a:ext uri="{FF2B5EF4-FFF2-40B4-BE49-F238E27FC236}">
                <a16:creationId xmlns:a16="http://schemas.microsoft.com/office/drawing/2014/main" id="{506356F9-D38D-45F6-B322-E1F5FE9EE0EA}"/>
              </a:ext>
            </a:extLst>
          </p:cNvPr>
          <p:cNvPicPr>
            <a:picLocks xmlns:a="http://schemas.openxmlformats.org/drawingml/2006/main" noChangeAspect="1"/>
          </p:cNvPicPr>
          <p:nvPr/>
        </p:nvPicPr>
        <p:blipFill>
          <a:blip xmlns:r="http://schemas.openxmlformats.org/officeDocument/2006/relationships" xmlns:a="http://schemas.openxmlformats.org/drawingml/2006/main" r:embed="R3908b4e0ab5a4539">
            <a:extLst>
              <a:ext uri="{96DAC541-7B7A-43D3-8B79-37D633B846F1}">
                <asvg:svgBlip xmlns:asvg="http://schemas.microsoft.com/office/drawing/2016/SVG/main" r:embed="R2791a30cee624807"/>
              </a:ext>
            </a:extLst>
          </a:blip>
          <a:stretch xmlns:a="http://schemas.openxmlformats.org/drawingml/2006/main"/>
        </p:blipFill>
        <p:spPr>
          <a:xfrm xmlns:a="http://schemas.openxmlformats.org/drawingml/2006/main">
            <a:off x="609600" y="1762125"/>
            <a:ext cx="6191250" cy="1076325"/>
          </a:xfrm>
          <a:prstGeom xmlns:a="http://schemas.openxmlformats.org/drawingml/2006/main" prst="rect">
            <a:avLst/>
          </a:prstGeom>
        </p:spPr>
      </p:pic>
      <p:sp>
        <p:nvSpPr>
          <p:cNvPr id="5" name="Scoped USDC payments&#10;for AI agents">
            <a:extLst xmlns:a="http://schemas.openxmlformats.org/drawingml/2006/main">
              <a:ext uri="{FF2B5EF4-FFF2-40B4-BE49-F238E27FC236}">
                <a16:creationId xmlns:a16="http://schemas.microsoft.com/office/drawing/2014/main" id="{8A643403-D94F-4493-9969-B140D4EB1114}"/>
              </a:ext>
            </a:extLst>
          </p:cNvPr>
          <p:cNvSpPr>
            <a:spLocks xmlns:a="http://schemas.openxmlformats.org/drawingml/2006/main" noGrp="1"/>
          </p:cNvSpPr>
          <p:nvPr/>
        </p:nvSpPr>
        <p:spPr>
          <a:xfrm xmlns:a="http://schemas.openxmlformats.org/drawingml/2006/main">
            <a:off x="666750" y="3181350"/>
            <a:ext cx="69532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F5F6F8"/>
                </a:solidFill>
                <a:latin typeface="Arial"/>
                <a:ea typeface="Arial"/>
                <a:cs typeface="Arial"/>
              </a:defRPr>
            </a:defPPr>
          </a:lstStyle>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Scoped USDC payments</a:t>
            </a:r>
          </a:p>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for AI agents</a:t>
            </a:r>
          </a:p>
        </p:txBody>
      </p:sp>
      <p:sp>
        <p:nvSpPr>
          <p:cNvPr id="6" name="2026 FinTechathon  /  Topic F">
            <a:extLst xmlns:a="http://schemas.openxmlformats.org/drawingml/2006/main">
              <a:ext uri="{FF2B5EF4-FFF2-40B4-BE49-F238E27FC236}">
                <a16:creationId xmlns:a16="http://schemas.microsoft.com/office/drawing/2014/main" id="{4AFDE9AA-C5BF-47C8-A66A-0082A78B410B}"/>
              </a:ext>
            </a:extLst>
          </p:cNvPr>
          <p:cNvSpPr>
            <a:spLocks xmlns:a="http://schemas.openxmlformats.org/drawingml/2006/main" noGrp="1"/>
          </p:cNvSpPr>
          <p:nvPr/>
        </p:nvSpPr>
        <p:spPr>
          <a:xfrm xmlns:a="http://schemas.openxmlformats.org/drawingml/2006/main">
            <a:off x="685800" y="5095875"/>
            <a:ext cx="742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2ACFF"/>
                </a:solidFill>
                <a:latin typeface="Arial"/>
                <a:ea typeface="Arial"/>
                <a:cs typeface="Arial"/>
              </a:defRPr>
            </a:defPPr>
          </a:lstStyle>
          <a:p xmlns:a="http://schemas.openxmlformats.org/drawingml/2006/main">
            <a:pPr algn="l">
              <a:defRPr sz="1875" b="0">
                <a:solidFill>
                  <a:srgbClr val="62ACFF"/>
                </a:solidFill>
                <a:latin typeface="Arial"/>
                <a:ea typeface="Arial"/>
                <a:cs typeface="Arial"/>
              </a:defRPr>
            </a:pPr>
            <a:r>
              <a:rPr sz="1875" b="0">
                <a:solidFill>
                  <a:srgbClr val="62ACFF"/>
                </a:solidFill>
                <a:latin typeface="Arial"/>
                <a:ea typeface="Arial"/>
                <a:cs typeface="Arial"/>
              </a:rPr>
              <a:t>2026 FinTechathon  /  Topic F</a:t>
            </a:r>
          </a:p>
        </p:txBody>
      </p:sp>
      <p:sp>
        <p:nvSpPr>
          <p:cNvPr id="7" name="Mandate Labs">
            <a:extLst xmlns:a="http://schemas.openxmlformats.org/drawingml/2006/main">
              <a:ext uri="{FF2B5EF4-FFF2-40B4-BE49-F238E27FC236}">
                <a16:creationId xmlns:a16="http://schemas.microsoft.com/office/drawing/2014/main" id="{34F89CEE-599A-48FC-BA28-858315E2166D}"/>
              </a:ext>
            </a:extLst>
          </p:cNvPr>
          <p:cNvSpPr>
            <a:spLocks xmlns:a="http://schemas.openxmlformats.org/drawingml/2006/main" noGrp="1"/>
          </p:cNvSpPr>
          <p:nvPr/>
        </p:nvSpPr>
        <p:spPr>
          <a:xfrm xmlns:a="http://schemas.openxmlformats.org/drawingml/2006/main">
            <a:off x="685800" y="5657850"/>
            <a:ext cx="666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0A5AF"/>
                </a:solidFill>
                <a:latin typeface="Arial"/>
                <a:ea typeface="Arial"/>
                <a:cs typeface="Arial"/>
              </a:defRPr>
            </a:defPPr>
          </a:lstStyle>
          <a:p xmlns:a="http://schemas.openxmlformats.org/drawingml/2006/main">
            <a:pPr algn="l">
              <a:defRPr sz="1725" b="0">
                <a:solidFill>
                  <a:srgbClr val="A0A5AF"/>
                </a:solidFill>
                <a:latin typeface="Arial"/>
                <a:ea typeface="Arial"/>
                <a:cs typeface="Arial"/>
              </a:defRPr>
            </a:pPr>
            <a:r>
              <a:rPr sz="1725" b="0">
                <a:solidFill>
                  <a:srgbClr val="A0A5AF"/>
                </a:solidFill>
                <a:latin typeface="Arial"/>
                <a:ea typeface="Arial"/>
                <a:cs typeface="Arial"/>
              </a:rPr>
              <a:t>Mandate Labs</a:t>
            </a:r>
          </a:p>
        </p:txBody>
      </p:sp>
      <p:pic>
        <p:nvPicPr>
          <p:cNvPr id="8" name="">
            <a:extLst xmlns:a="http://schemas.openxmlformats.org/drawingml/2006/main">
              <a:ext uri="{FF2B5EF4-FFF2-40B4-BE49-F238E27FC236}">
                <a16:creationId xmlns:a16="http://schemas.microsoft.com/office/drawing/2014/main" id="{0EB1F0BB-1318-44C2-9619-1FE94AEE6CB0}"/>
              </a:ext>
            </a:extLst>
          </p:cNvPr>
          <p:cNvPicPr>
            <a:picLocks xmlns:a="http://schemas.openxmlformats.org/drawingml/2006/main" noChangeAspect="1"/>
          </p:cNvPicPr>
          <p:nvPr/>
        </p:nvPicPr>
        <p:blipFill>
          <a:blip xmlns:r="http://schemas.openxmlformats.org/officeDocument/2006/relationships" xmlns:a="http://schemas.openxmlformats.org/drawingml/2006/main" r:embed="Rf4fd2c54f37e42ae">
            <a:extLst>
              <a:ext uri="{96DAC541-7B7A-43D3-8B79-37D633B846F1}">
                <asvg:svgBlip xmlns:asvg="http://schemas.microsoft.com/office/drawing/2016/SVG/main" r:embed="R6e3a5b1fe24f45ef"/>
              </a:ext>
            </a:extLst>
          </a:blip>
          <a:stretch xmlns:a="http://schemas.openxmlformats.org/drawingml/2006/main"/>
        </p:blipFill>
        <p:spPr>
          <a:xfrm xmlns:a="http://schemas.openxmlformats.org/drawingml/2006/main">
            <a:off x="8534400" y="2333625"/>
            <a:ext cx="2762250" cy="2762250"/>
          </a:xfrm>
          <a:prstGeom xmlns:a="http://schemas.openxmlformats.org/drawingml/2006/main" prst="rect">
            <a:avLst/>
          </a:prstGeom>
        </p:spPr>
      </p:pic>
    </p:spTree>
    <p:extLst>
      <p:ext uri="{BB962C8B-B14F-4D97-AF65-F5344CB8AC3E}">
        <p14:creationId xmlns:p14="http://schemas.microsoft.com/office/powerpoint/2010/main" val="1154537004"/>
      </p:ext>
    </p:extLst>
  </p:cSld>
</p:sld>
</file>

<file path=ppt/slides/slide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AE74119-08BC-488D-A166-15E9F21BAE47}"/>
              </a:ext>
            </a:extLst>
          </p:cNvPr>
          <p:cNvPicPr>
            <a:picLocks xmlns:a="http://schemas.openxmlformats.org/drawingml/2006/main" noChangeAspect="1"/>
          </p:cNvPicPr>
          <p:nvPr/>
        </p:nvPicPr>
        <p:blipFill>
          <a:blip xmlns:r="http://schemas.openxmlformats.org/officeDocument/2006/relationships" xmlns:a="http://schemas.openxmlformats.org/drawingml/2006/main" r:embed="R65f42dc0eb94443a">
            <a:extLst>
              <a:ext uri="{96DAC541-7B7A-43D3-8B79-37D633B846F1}">
                <asvg:svgBlip xmlns:asvg="http://schemas.microsoft.com/office/drawing/2016/SVG/main" r:embed="Rfbc588213e4048d8"/>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pending authority for AI agents">
            <a:extLst xmlns:a="http://schemas.openxmlformats.org/drawingml/2006/main">
              <a:ext uri="{FF2B5EF4-FFF2-40B4-BE49-F238E27FC236}">
                <a16:creationId xmlns:a16="http://schemas.microsoft.com/office/drawing/2014/main" id="{BE91EAA5-9741-4E36-A1CD-6BAF1DD2A9C5}"/>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Spending authority for AI agents</a:t>
            </a:r>
          </a:p>
        </p:txBody>
      </p:sp>
      <p:sp>
        <p:nvSpPr>
          <p:cNvPr id="4" name="Mandate Labs">
            <a:extLst xmlns:a="http://schemas.openxmlformats.org/drawingml/2006/main">
              <a:ext uri="{FF2B5EF4-FFF2-40B4-BE49-F238E27FC236}">
                <a16:creationId xmlns:a16="http://schemas.microsoft.com/office/drawing/2014/main" id="{6F5D9ACF-B3EE-47C5-A5F0-5765E1516964}"/>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2">
            <a:extLst xmlns:a="http://schemas.openxmlformats.org/drawingml/2006/main">
              <a:ext uri="{FF2B5EF4-FFF2-40B4-BE49-F238E27FC236}">
                <a16:creationId xmlns:a16="http://schemas.microsoft.com/office/drawing/2014/main" id="{2E64DD24-1762-48CC-B9F6-971DEA0ED40C}"/>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02</a:t>
            </a:r>
          </a:p>
        </p:txBody>
      </p:sp>
      <p:sp>
        <p:nvSpPr>
          <p:cNvPr id="6" name="The owner defines the task">
            <a:extLst xmlns:a="http://schemas.openxmlformats.org/drawingml/2006/main">
              <a:ext uri="{FF2B5EF4-FFF2-40B4-BE49-F238E27FC236}">
                <a16:creationId xmlns:a16="http://schemas.microsoft.com/office/drawing/2014/main" id="{5A24DF87-9467-4CA6-8922-A07BB95A8C22}"/>
              </a:ext>
            </a:extLst>
          </p:cNvPr>
          <p:cNvSpPr>
            <a:spLocks xmlns:a="http://schemas.openxmlformats.org/drawingml/2006/main" noGrp="1"/>
          </p:cNvSpPr>
          <p:nvPr/>
        </p:nvSpPr>
        <p:spPr>
          <a:xfrm xmlns:a="http://schemas.openxmlformats.org/drawingml/2006/main">
            <a:off x="609600" y="2381250"/>
            <a:ext cx="5095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stStyle>
          <a:p xmlns:a="http://schemas.openxmlformats.org/drawingml/2006/main">
            <a:pPr algn="l">
              <a:defRPr sz="3000" b="1">
                <a:solidFill>
                  <a:srgbClr val="62ACFF"/>
                </a:solidFill>
                <a:latin typeface="Arial"/>
                <a:ea typeface="Arial"/>
                <a:cs typeface="Arial"/>
              </a:defRPr>
            </a:pPr>
            <a:r>
              <a:rPr sz="3000" b="1">
                <a:solidFill>
                  <a:srgbClr val="62ACFF"/>
                </a:solidFill>
                <a:latin typeface="Arial"/>
                <a:ea typeface="Arial"/>
                <a:cs typeface="Arial"/>
              </a:rPr>
              <a:t>The owner defines the task</a:t>
            </a:r>
          </a:p>
        </p:txBody>
      </p:sp>
      <p:sp>
        <p:nvSpPr>
          <p:cNvPr id="7" name="Approve services, recipient, asset, budget and expiry.">
            <a:extLst xmlns:a="http://schemas.openxmlformats.org/drawingml/2006/main">
              <a:ext uri="{FF2B5EF4-FFF2-40B4-BE49-F238E27FC236}">
                <a16:creationId xmlns:a16="http://schemas.microsoft.com/office/drawing/2014/main" id="{D758A035-06E4-40AC-B4DA-0769CF72D93E}"/>
              </a:ext>
            </a:extLst>
          </p:cNvPr>
          <p:cNvSpPr>
            <a:spLocks xmlns:a="http://schemas.openxmlformats.org/drawingml/2006/main" noGrp="1"/>
          </p:cNvSpPr>
          <p:nvPr/>
        </p:nvSpPr>
        <p:spPr>
          <a:xfrm xmlns:a="http://schemas.openxmlformats.org/drawingml/2006/main">
            <a:off x="609600" y="3790950"/>
            <a:ext cx="5095875"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stStyle>
          <a:p xmlns:a="http://schemas.openxmlformats.org/drawingml/2006/main">
            <a:pPr algn="l">
              <a:defRPr sz="2325" b="0">
                <a:solidFill>
                  <a:srgbClr val="F5F6F8"/>
                </a:solidFill>
                <a:latin typeface="Arial"/>
                <a:ea typeface="Arial"/>
                <a:cs typeface="Arial"/>
              </a:defRPr>
            </a:pPr>
            <a:r>
              <a:rPr sz="2325" b="0">
                <a:solidFill>
                  <a:srgbClr val="F5F6F8"/>
                </a:solidFill>
                <a:latin typeface="Arial"/>
                <a:ea typeface="Arial"/>
                <a:cs typeface="Arial"/>
              </a:rPr>
              <a:t>Approve services, recipient, asset, budget and expiry.</a:t>
            </a:r>
          </a:p>
        </p:txBody>
      </p:sp>
      <p:sp>
        <p:nvSpPr>
          <p:cNvPr id="8" name="The agent executes within it">
            <a:extLst xmlns:a="http://schemas.openxmlformats.org/drawingml/2006/main">
              <a:ext uri="{FF2B5EF4-FFF2-40B4-BE49-F238E27FC236}">
                <a16:creationId xmlns:a16="http://schemas.microsoft.com/office/drawing/2014/main" id="{E0C0AA9F-4DE5-4916-939E-2E9BD4E38538}"/>
              </a:ext>
            </a:extLst>
          </p:cNvPr>
          <p:cNvSpPr>
            <a:spLocks xmlns:a="http://schemas.openxmlformats.org/drawingml/2006/main" noGrp="1"/>
          </p:cNvSpPr>
          <p:nvPr/>
        </p:nvSpPr>
        <p:spPr>
          <a:xfrm xmlns:a="http://schemas.openxmlformats.org/drawingml/2006/main">
            <a:off x="6372225" y="2381250"/>
            <a:ext cx="50958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stStyle>
          <a:p xmlns:a="http://schemas.openxmlformats.org/drawingml/2006/main">
            <a:pPr algn="l">
              <a:defRPr sz="3000" b="1">
                <a:solidFill>
                  <a:srgbClr val="62ACFF"/>
                </a:solidFill>
                <a:latin typeface="Arial"/>
                <a:ea typeface="Arial"/>
                <a:cs typeface="Arial"/>
              </a:defRPr>
            </a:pPr>
            <a:r>
              <a:rPr sz="3000" b="1">
                <a:solidFill>
                  <a:srgbClr val="62ACFF"/>
                </a:solidFill>
                <a:latin typeface="Arial"/>
                <a:ea typeface="Arial"/>
                <a:cs typeface="Arial"/>
              </a:rPr>
              <a:t>The agent executes</a:t>
            </a:r>
          </a:p>
        </p:txBody>
      </p:sp>
      <p:sp>
        <p:nvSpPr>
          <p:cNvPr id="9" name="Use a limited session to purchase approved steps.">
            <a:extLst xmlns:a="http://schemas.openxmlformats.org/drawingml/2006/main">
              <a:ext uri="{FF2B5EF4-FFF2-40B4-BE49-F238E27FC236}">
                <a16:creationId xmlns:a16="http://schemas.microsoft.com/office/drawing/2014/main" id="{91831F42-AE93-4C93-BDE4-FEEA17AD73B6}"/>
              </a:ext>
            </a:extLst>
          </p:cNvPr>
          <p:cNvSpPr>
            <a:spLocks xmlns:a="http://schemas.openxmlformats.org/drawingml/2006/main" noGrp="1"/>
          </p:cNvSpPr>
          <p:nvPr/>
        </p:nvSpPr>
        <p:spPr>
          <a:xfrm xmlns:a="http://schemas.openxmlformats.org/drawingml/2006/main">
            <a:off x="6372225" y="3790950"/>
            <a:ext cx="5095875"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stStyle>
          <a:p xmlns:a="http://schemas.openxmlformats.org/drawingml/2006/main">
            <a:pPr algn="l">
              <a:defRPr sz="2325" b="0">
                <a:solidFill>
                  <a:srgbClr val="F5F6F8"/>
                </a:solidFill>
                <a:latin typeface="Arial"/>
                <a:ea typeface="Arial"/>
                <a:cs typeface="Arial"/>
              </a:defRPr>
            </a:pPr>
            <a:r>
              <a:rPr sz="2325" b="0">
                <a:solidFill>
                  <a:srgbClr val="F5F6F8"/>
                </a:solidFill>
                <a:latin typeface="Arial"/>
                <a:ea typeface="Arial"/>
                <a:cs typeface="Arial"/>
              </a:rPr>
              <a:t>Use a limited session to purchase approved steps.</a:t>
            </a:r>
          </a:p>
        </p:txBody>
      </p:sp>
      <p:sp>
        <p:nvSpPr>
          <p:cNvPr id="10" name="The contract enforces the financial boundary during execution.">
            <a:extLst xmlns:a="http://schemas.openxmlformats.org/drawingml/2006/main">
              <a:ext uri="{FF2B5EF4-FFF2-40B4-BE49-F238E27FC236}">
                <a16:creationId xmlns:a16="http://schemas.microsoft.com/office/drawing/2014/main" id="{84401CD7-BE50-4AA1-A271-CE2D90D18DD6}"/>
              </a:ext>
            </a:extLst>
          </p:cNvPr>
          <p:cNvSpPr>
            <a:spLocks xmlns:a="http://schemas.openxmlformats.org/drawingml/2006/main" noGrp="1"/>
          </p:cNvSpPr>
          <p:nvPr/>
        </p:nvSpPr>
        <p:spPr>
          <a:xfrm xmlns:a="http://schemas.openxmlformats.org/drawingml/2006/main">
            <a:off x="609600" y="563880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stStyle>
          <a:p xmlns:a="http://schemas.openxmlformats.org/drawingml/2006/main">
            <a:pPr algn="l">
              <a:defRPr sz="2025" b="0">
                <a:solidFill>
                  <a:srgbClr val="A0A5AF"/>
                </a:solidFill>
                <a:latin typeface="Arial"/>
                <a:ea typeface="Arial"/>
                <a:cs typeface="Arial"/>
              </a:defRPr>
            </a:pPr>
            <a:r>
              <a:rPr sz="2025" b="0">
                <a:solidFill>
                  <a:srgbClr val="A0A5AF"/>
                </a:solidFill>
                <a:latin typeface="Arial"/>
                <a:ea typeface="Arial"/>
                <a:cs typeface="Arial"/>
              </a:rPr>
              <a:t>The contract enforces the financial boundary during execution.</a:t>
            </a:r>
          </a:p>
        </p:txBody>
      </p:sp>
    </p:spTree>
    <p:extLst>
      <p:ext uri="{BB962C8B-B14F-4D97-AF65-F5344CB8AC3E}">
        <p14:creationId xmlns:p14="http://schemas.microsoft.com/office/powerpoint/2010/main" val="1141072842"/>
      </p:ext>
    </p:extLst>
  </p:cSld>
</p:sld>
</file>

<file path=ppt/slides/slide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ADB519E-6436-4BE0-BC6A-79FBE76DE129}"/>
              </a:ext>
            </a:extLst>
          </p:cNvPr>
          <p:cNvPicPr>
            <a:picLocks xmlns:a="http://schemas.openxmlformats.org/drawingml/2006/main" noChangeAspect="1"/>
          </p:cNvPicPr>
          <p:nvPr/>
        </p:nvPicPr>
        <p:blipFill>
          <a:blip xmlns:r="http://schemas.openxmlformats.org/officeDocument/2006/relationships" xmlns:a="http://schemas.openxmlformats.org/drawingml/2006/main" r:embed="R8acd6de04f1649b0">
            <a:extLst>
              <a:ext uri="{96DAC541-7B7A-43D3-8B79-37D633B846F1}">
                <asvg:svgBlip xmlns:asvg="http://schemas.microsoft.com/office/drawing/2016/SVG/main" r:embed="R72b9b39b6989434f"/>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The workspace and Claude share one task">
            <a:extLst xmlns:a="http://schemas.openxmlformats.org/drawingml/2006/main">
              <a:ext uri="{FF2B5EF4-FFF2-40B4-BE49-F238E27FC236}">
                <a16:creationId xmlns:a16="http://schemas.microsoft.com/office/drawing/2014/main" id="{853E60B6-553B-47A7-90E6-B468B4AC053B}"/>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The workspace and Claude share one task</a:t>
            </a:r>
          </a:p>
        </p:txBody>
      </p:sp>
      <p:sp>
        <p:nvSpPr>
          <p:cNvPr id="4" name="Mandate Labs">
            <a:extLst xmlns:a="http://schemas.openxmlformats.org/drawingml/2006/main">
              <a:ext uri="{FF2B5EF4-FFF2-40B4-BE49-F238E27FC236}">
                <a16:creationId xmlns:a16="http://schemas.microsoft.com/office/drawing/2014/main" id="{B11ABFC4-CFB1-413C-B5C5-98A4D98A5228}"/>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3">
            <a:extLst xmlns:a="http://schemas.openxmlformats.org/drawingml/2006/main">
              <a:ext uri="{FF2B5EF4-FFF2-40B4-BE49-F238E27FC236}">
                <a16:creationId xmlns:a16="http://schemas.microsoft.com/office/drawing/2014/main" id="{7AB52AE6-14C2-4E0F-BEAE-8BDCB87E1435}"/>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03</a:t>
            </a:r>
          </a:p>
        </p:txBody>
      </p:sp>
      <p:pic>
        <p:nvPicPr>
          <p:cNvPr id="6" name="">
            <a:extLst xmlns:a="http://schemas.openxmlformats.org/drawingml/2006/main">
              <a:ext uri="{FF2B5EF4-FFF2-40B4-BE49-F238E27FC236}">
                <a16:creationId xmlns:a16="http://schemas.microsoft.com/office/drawing/2014/main" id="{D46C00B8-8432-443A-9756-2E0073DC3131}"/>
              </a:ext>
            </a:extLst>
          </p:cNvPr>
          <p:cNvPicPr>
            <a:picLocks xmlns:a="http://schemas.openxmlformats.org/drawingml/2006/main" noChangeAspect="1"/>
          </p:cNvPicPr>
          <p:nvPr/>
        </p:nvPicPr>
        <p:blipFill>
          <a:blip xmlns:r="http://schemas.openxmlformats.org/officeDocument/2006/relationships" xmlns:a="http://schemas.openxmlformats.org/drawingml/2006/main" r:embed="R1d68e829531648b9"/>
          <a:stretch xmlns:a="http://schemas.openxmlformats.org/drawingml/2006/main"/>
        </p:blipFill>
        <p:spPr>
          <a:xfrm xmlns:a="http://schemas.openxmlformats.org/drawingml/2006/main">
            <a:off x="1276350" y="1905000"/>
            <a:ext cx="6477000" cy="4048125"/>
          </a:xfrm>
          <a:prstGeom xmlns:a="http://schemas.openxmlformats.org/drawingml/2006/main" prst="rect">
            <a:avLst/>
          </a:prstGeom>
        </p:spPr>
      </p:pic>
      <p:sp>
        <p:nvSpPr>
          <p:cNvPr id="7" name="Owner workspace">
            <a:extLst xmlns:a="http://schemas.openxmlformats.org/drawingml/2006/main">
              <a:ext uri="{FF2B5EF4-FFF2-40B4-BE49-F238E27FC236}">
                <a16:creationId xmlns:a16="http://schemas.microsoft.com/office/drawing/2014/main" id="{158E7B15-06ED-4528-BF97-523BC82637D8}"/>
              </a:ext>
            </a:extLst>
          </p:cNvPr>
          <p:cNvSpPr>
            <a:spLocks xmlns:a="http://schemas.openxmlformats.org/drawingml/2006/main" noGrp="1"/>
          </p:cNvSpPr>
          <p:nvPr/>
        </p:nvSpPr>
        <p:spPr>
          <a:xfrm xmlns:a="http://schemas.openxmlformats.org/drawingml/2006/main">
            <a:off x="8810625" y="2200275"/>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62ACFF"/>
                </a:solidFill>
                <a:latin typeface="Arial"/>
                <a:ea typeface="Arial"/>
                <a:cs typeface="Arial"/>
              </a:defRPr>
            </a:defPPr>
          </a:lstStyle>
          <a:p xmlns:a="http://schemas.openxmlformats.org/drawingml/2006/main">
            <a:pPr algn="l">
              <a:defRPr sz="2100" b="1">
                <a:solidFill>
                  <a:srgbClr val="62ACFF"/>
                </a:solidFill>
                <a:latin typeface="Arial"/>
                <a:ea typeface="Arial"/>
                <a:cs typeface="Arial"/>
              </a:defRPr>
            </a:pPr>
            <a:r>
              <a:rPr sz="2100" b="1">
                <a:solidFill>
                  <a:srgbClr val="62ACFF"/>
                </a:solidFill>
                <a:latin typeface="Arial"/>
                <a:ea typeface="Arial"/>
                <a:cs typeface="Arial"/>
              </a:rPr>
              <a:t>Owner workspace</a:t>
            </a:r>
          </a:p>
        </p:txBody>
      </p:sp>
      <p:sp>
        <p:nvSpPr>
          <p:cNvPr id="8" name="Review permissions&#10;and payment outcomes">
            <a:extLst xmlns:a="http://schemas.openxmlformats.org/drawingml/2006/main">
              <a:ext uri="{FF2B5EF4-FFF2-40B4-BE49-F238E27FC236}">
                <a16:creationId xmlns:a16="http://schemas.microsoft.com/office/drawing/2014/main" id="{89D738F5-E202-4A35-BC7E-44CDED9974C6}"/>
              </a:ext>
            </a:extLst>
          </p:cNvPr>
          <p:cNvSpPr>
            <a:spLocks xmlns:a="http://schemas.openxmlformats.org/drawingml/2006/main" noGrp="1"/>
          </p:cNvSpPr>
          <p:nvPr/>
        </p:nvSpPr>
        <p:spPr>
          <a:xfrm xmlns:a="http://schemas.openxmlformats.org/drawingml/2006/main">
            <a:off x="8810625" y="2647950"/>
            <a:ext cx="285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stStyle>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Review permissions</a:t>
            </a:r>
          </a:p>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and payment outcomes</a:t>
            </a:r>
          </a:p>
        </p:txBody>
      </p:sp>
      <p:sp>
        <p:nvSpPr>
          <p:cNvPr id="9" name="Claude Desktop MCP">
            <a:extLst xmlns:a="http://schemas.openxmlformats.org/drawingml/2006/main">
              <a:ext uri="{FF2B5EF4-FFF2-40B4-BE49-F238E27FC236}">
                <a16:creationId xmlns:a16="http://schemas.microsoft.com/office/drawing/2014/main" id="{B0FF0B1A-8C29-4E4C-B294-1F80CAA0949D}"/>
              </a:ext>
            </a:extLst>
          </p:cNvPr>
          <p:cNvSpPr>
            <a:spLocks xmlns:a="http://schemas.openxmlformats.org/drawingml/2006/main" noGrp="1"/>
          </p:cNvSpPr>
          <p:nvPr/>
        </p:nvSpPr>
        <p:spPr>
          <a:xfrm xmlns:a="http://schemas.openxmlformats.org/drawingml/2006/main">
            <a:off x="8810625" y="369570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62ACFF"/>
                </a:solidFill>
                <a:latin typeface="Arial"/>
                <a:ea typeface="Arial"/>
                <a:cs typeface="Arial"/>
              </a:defRPr>
            </a:defPPr>
          </a:lstStyle>
          <a:p xmlns:a="http://schemas.openxmlformats.org/drawingml/2006/main">
            <a:pPr algn="l">
              <a:defRPr sz="2100" b="1">
                <a:solidFill>
                  <a:srgbClr val="62ACFF"/>
                </a:solidFill>
                <a:latin typeface="Arial"/>
                <a:ea typeface="Arial"/>
                <a:cs typeface="Arial"/>
              </a:defRPr>
            </a:pPr>
            <a:r>
              <a:rPr sz="2100" b="1">
                <a:solidFill>
                  <a:srgbClr val="62ACFF"/>
                </a:solidFill>
                <a:latin typeface="Arial"/>
                <a:ea typeface="Arial"/>
                <a:cs typeface="Arial"/>
              </a:rPr>
              <a:t>Claude Desktop MCP</a:t>
            </a:r>
          </a:p>
        </p:txBody>
      </p:sp>
      <p:sp>
        <p:nvSpPr>
          <p:cNvPr id="10" name="Run the approved task&#10;through a local gateway">
            <a:extLst xmlns:a="http://schemas.openxmlformats.org/drawingml/2006/main">
              <a:ext uri="{FF2B5EF4-FFF2-40B4-BE49-F238E27FC236}">
                <a16:creationId xmlns:a16="http://schemas.microsoft.com/office/drawing/2014/main" id="{47EA524C-2C90-4C2E-BFB1-C7FBCD4E59B4}"/>
              </a:ext>
            </a:extLst>
          </p:cNvPr>
          <p:cNvSpPr>
            <a:spLocks xmlns:a="http://schemas.openxmlformats.org/drawingml/2006/main" noGrp="1"/>
          </p:cNvSpPr>
          <p:nvPr/>
        </p:nvSpPr>
        <p:spPr>
          <a:xfrm xmlns:a="http://schemas.openxmlformats.org/drawingml/2006/main">
            <a:off x="8810625" y="4143375"/>
            <a:ext cx="285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stStyle>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Run the approved task</a:t>
            </a:r>
          </a:p>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through a local gateway</a:t>
            </a:r>
          </a:p>
        </p:txBody>
      </p:sp>
      <p:sp>
        <p:nvSpPr>
          <p:cNvPr id="11" name="Owner keys remain&#10;in the external wallet">
            <a:extLst xmlns:a="http://schemas.openxmlformats.org/drawingml/2006/main">
              <a:ext uri="{FF2B5EF4-FFF2-40B4-BE49-F238E27FC236}">
                <a16:creationId xmlns:a16="http://schemas.microsoft.com/office/drawing/2014/main" id="{CD50593F-E873-4888-AF5A-5D63D6591AC1}"/>
              </a:ext>
            </a:extLst>
          </p:cNvPr>
          <p:cNvSpPr>
            <a:spLocks xmlns:a="http://schemas.openxmlformats.org/drawingml/2006/main" noGrp="1"/>
          </p:cNvSpPr>
          <p:nvPr/>
        </p:nvSpPr>
        <p:spPr>
          <a:xfrm xmlns:a="http://schemas.openxmlformats.org/drawingml/2006/main">
            <a:off x="8810625" y="5295900"/>
            <a:ext cx="2857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0A5AF"/>
                </a:solidFill>
                <a:latin typeface="Arial"/>
                <a:ea typeface="Arial"/>
                <a:cs typeface="Arial"/>
              </a:defRPr>
            </a:defPPr>
          </a:lstStyle>
          <a:p xmlns:a="http://schemas.openxmlformats.org/drawingml/2006/main">
            <a:pPr algn="l">
              <a:defRPr sz="1800" b="0">
                <a:solidFill>
                  <a:srgbClr val="A0A5AF"/>
                </a:solidFill>
                <a:latin typeface="Arial"/>
                <a:ea typeface="Arial"/>
                <a:cs typeface="Arial"/>
              </a:defRPr>
            </a:pPr>
            <a:r>
              <a:rPr sz="1800" b="0">
                <a:solidFill>
                  <a:srgbClr val="A0A5AF"/>
                </a:solidFill>
                <a:latin typeface="Arial"/>
                <a:ea typeface="Arial"/>
                <a:cs typeface="Arial"/>
              </a:rPr>
              <a:t>Owner keys remain</a:t>
            </a:r>
          </a:p>
          <a:p xmlns:a="http://schemas.openxmlformats.org/drawingml/2006/main">
            <a:pPr algn="l">
              <a:defRPr sz="1800" b="0">
                <a:solidFill>
                  <a:srgbClr val="A0A5AF"/>
                </a:solidFill>
                <a:latin typeface="Arial"/>
                <a:ea typeface="Arial"/>
                <a:cs typeface="Arial"/>
              </a:defRPr>
            </a:pPr>
            <a:r>
              <a:rPr sz="1800" b="0">
                <a:solidFill>
                  <a:srgbClr val="A0A5AF"/>
                </a:solidFill>
                <a:latin typeface="Arial"/>
                <a:ea typeface="Arial"/>
                <a:cs typeface="Arial"/>
              </a:rPr>
              <a:t>in the external wallet</a:t>
            </a:r>
          </a:p>
        </p:txBody>
      </p:sp>
    </p:spTree>
    <p:extLst>
      <p:ext uri="{BB962C8B-B14F-4D97-AF65-F5344CB8AC3E}">
        <p14:creationId xmlns:p14="http://schemas.microsoft.com/office/powerpoint/2010/main" val="1870126046"/>
      </p:ext>
    </p:extLst>
  </p:cSld>
</p:sld>
</file>

<file path=ppt/slides/slide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19C4E69-8651-4F49-A1D1-DC367B1E6BAF}"/>
              </a:ext>
            </a:extLst>
          </p:cNvPr>
          <p:cNvPicPr>
            <a:picLocks xmlns:a="http://schemas.openxmlformats.org/drawingml/2006/main" noChangeAspect="1"/>
          </p:cNvPicPr>
          <p:nvPr/>
        </p:nvPicPr>
        <p:blipFill>
          <a:blip xmlns:r="http://schemas.openxmlformats.org/officeDocument/2006/relationships" xmlns:a="http://schemas.openxmlformats.org/drawingml/2006/main" r:embed="Rf681b2e369cc49bc">
            <a:extLst>
              <a:ext uri="{96DAC541-7B7A-43D3-8B79-37D633B846F1}">
                <asvg:svgBlip xmlns:asvg="http://schemas.microsoft.com/office/drawing/2016/SVG/main" r:embed="R56e902fb1e1f4950"/>
              </a:ext>
            </a:extLst>
          </a:blip>
          <a:srcRect xmlns:a="http://schemas.openxmlformats.org/drawingml/2006/main" l="0" t="0" r="0" b="0"/>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Claude purchases an ETH statistics sample">
            <a:extLst xmlns:a="http://schemas.openxmlformats.org/drawingml/2006/main">
              <a:ext uri="{FF2B5EF4-FFF2-40B4-BE49-F238E27FC236}">
                <a16:creationId xmlns:a16="http://schemas.microsoft.com/office/drawing/2014/main" id="{AFD46AEC-EDCE-40BA-91B3-6F2B3827C15D}"/>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Claude purchases an ETH statistics sample</a:t>
            </a:r>
          </a:p>
        </p:txBody>
      </p:sp>
      <p:sp>
        <p:nvSpPr>
          <p:cNvPr id="4" name="Mandate Labs">
            <a:extLst xmlns:a="http://schemas.openxmlformats.org/drawingml/2006/main">
              <a:ext uri="{FF2B5EF4-FFF2-40B4-BE49-F238E27FC236}">
                <a16:creationId xmlns:a16="http://schemas.microsoft.com/office/drawing/2014/main" id="{FE7A95D0-A639-454E-B190-0A56DDBFA262}"/>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4">
            <a:extLst xmlns:a="http://schemas.openxmlformats.org/drawingml/2006/main">
              <a:ext uri="{FF2B5EF4-FFF2-40B4-BE49-F238E27FC236}">
                <a16:creationId xmlns:a16="http://schemas.microsoft.com/office/drawing/2014/main" id="{2FACD09B-32D5-4579-9415-0FF493398722}"/>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04</a:t>
            </a:r>
          </a:p>
        </p:txBody>
      </p:sp>
      <p:sp>
        <p:nvSpPr>
          <p:cNvPr id="6" name="0.15">
            <a:extLst xmlns:a="http://schemas.openxmlformats.org/drawingml/2006/main">
              <a:ext uri="{FF2B5EF4-FFF2-40B4-BE49-F238E27FC236}">
                <a16:creationId xmlns:a16="http://schemas.microsoft.com/office/drawing/2014/main" id="{68FEE004-F669-4901-9E2D-920505832C0E}"/>
              </a:ext>
            </a:extLst>
          </p:cNvPr>
          <p:cNvSpPr>
            <a:spLocks xmlns:a="http://schemas.openxmlformats.org/drawingml/2006/main" noGrp="1"/>
          </p:cNvSpPr>
          <p:nvPr/>
        </p:nvSpPr>
        <p:spPr>
          <a:xfrm xmlns:a="http://schemas.openxmlformats.org/drawingml/2006/main">
            <a:off x="609600" y="1981200"/>
            <a:ext cx="3714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62ACFF"/>
                </a:solidFill>
                <a:latin typeface="Arial"/>
                <a:ea typeface="Arial"/>
                <a:cs typeface="Arial"/>
              </a:defRPr>
            </a:defPPr>
          </a:lstStyle>
          <a:p xmlns:a="http://schemas.openxmlformats.org/drawingml/2006/main">
            <a:pPr algn="l">
              <a:defRPr sz="4800" b="1">
                <a:solidFill>
                  <a:srgbClr val="62ACFF"/>
                </a:solidFill>
                <a:latin typeface="Arial"/>
                <a:ea typeface="Arial"/>
                <a:cs typeface="Arial"/>
              </a:defRPr>
            </a:pPr>
            <a:r>
              <a:rPr sz="4800" b="1">
                <a:solidFill>
                  <a:srgbClr val="62ACFF"/>
                </a:solidFill>
                <a:latin typeface="Arial"/>
                <a:ea typeface="Arial"/>
                <a:cs typeface="Arial"/>
              </a:rPr>
              <a:t>0.15</a:t>
            </a:r>
          </a:p>
        </p:txBody>
      </p:sp>
      <p:sp>
        <p:nvSpPr>
          <p:cNvPr id="7" name="test USDC budget">
            <a:extLst xmlns:a="http://schemas.openxmlformats.org/drawingml/2006/main">
              <a:ext uri="{FF2B5EF4-FFF2-40B4-BE49-F238E27FC236}">
                <a16:creationId xmlns:a16="http://schemas.microsoft.com/office/drawing/2014/main" id="{5F074EA4-0779-4C93-9BE5-344568F1F4F3}"/>
              </a:ext>
            </a:extLst>
          </p:cNvPr>
          <p:cNvSpPr>
            <a:spLocks xmlns:a="http://schemas.openxmlformats.org/drawingml/2006/main" noGrp="1"/>
          </p:cNvSpPr>
          <p:nvPr/>
        </p:nvSpPr>
        <p:spPr>
          <a:xfrm xmlns:a="http://schemas.openxmlformats.org/drawingml/2006/main">
            <a:off x="638175" y="2724150"/>
            <a:ext cx="395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stStyle>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test USDC budget</a:t>
            </a:r>
          </a:p>
        </p:txBody>
      </p:sp>
      <p:sp>
        <p:nvSpPr>
          <p:cNvPr id="8" name="0.10">
            <a:extLst xmlns:a="http://schemas.openxmlformats.org/drawingml/2006/main">
              <a:ext uri="{FF2B5EF4-FFF2-40B4-BE49-F238E27FC236}">
                <a16:creationId xmlns:a16="http://schemas.microsoft.com/office/drawing/2014/main" id="{4EFCEA14-179C-4AFC-AA05-E77854DDE577}"/>
              </a:ext>
            </a:extLst>
          </p:cNvPr>
          <p:cNvSpPr>
            <a:spLocks xmlns:a="http://schemas.openxmlformats.org/drawingml/2006/main" noGrp="1"/>
          </p:cNvSpPr>
          <p:nvPr/>
        </p:nvSpPr>
        <p:spPr>
          <a:xfrm xmlns:a="http://schemas.openxmlformats.org/drawingml/2006/main">
            <a:off x="609600" y="3248025"/>
            <a:ext cx="3714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62ACFF"/>
                </a:solidFill>
                <a:latin typeface="Arial"/>
                <a:ea typeface="Arial"/>
                <a:cs typeface="Arial"/>
              </a:defRPr>
            </a:defPPr>
          </a:lstStyle>
          <a:p xmlns:a="http://schemas.openxmlformats.org/drawingml/2006/main">
            <a:pPr algn="l">
              <a:defRPr sz="4800" b="1">
                <a:solidFill>
                  <a:srgbClr val="62ACFF"/>
                </a:solidFill>
                <a:latin typeface="Arial"/>
                <a:ea typeface="Arial"/>
                <a:cs typeface="Arial"/>
              </a:defRPr>
            </a:pPr>
            <a:r>
              <a:rPr sz="4800" b="1">
                <a:solidFill>
                  <a:srgbClr val="62ACFF"/>
                </a:solidFill>
                <a:latin typeface="Arial"/>
                <a:ea typeface="Arial"/>
                <a:cs typeface="Arial"/>
              </a:rPr>
              <a:t>0.10</a:t>
            </a:r>
          </a:p>
        </p:txBody>
      </p:sp>
      <p:sp>
        <p:nvSpPr>
          <p:cNvPr id="9" name="per-payment maximum">
            <a:extLst xmlns:a="http://schemas.openxmlformats.org/drawingml/2006/main">
              <a:ext uri="{FF2B5EF4-FFF2-40B4-BE49-F238E27FC236}">
                <a16:creationId xmlns:a16="http://schemas.microsoft.com/office/drawing/2014/main" id="{5507B77A-74BC-4A11-A5D3-5C8C308B407D}"/>
              </a:ext>
            </a:extLst>
          </p:cNvPr>
          <p:cNvSpPr>
            <a:spLocks xmlns:a="http://schemas.openxmlformats.org/drawingml/2006/main" noGrp="1"/>
          </p:cNvSpPr>
          <p:nvPr/>
        </p:nvSpPr>
        <p:spPr>
          <a:xfrm xmlns:a="http://schemas.openxmlformats.org/drawingml/2006/main">
            <a:off x="638175" y="3990975"/>
            <a:ext cx="395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stStyle>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per-payment maximum</a:t>
            </a:r>
          </a:p>
        </p:txBody>
      </p:sp>
      <p:sp>
        <p:nvSpPr>
          <p:cNvPr id="10" name="0.01">
            <a:extLst xmlns:a="http://schemas.openxmlformats.org/drawingml/2006/main">
              <a:ext uri="{FF2B5EF4-FFF2-40B4-BE49-F238E27FC236}">
                <a16:creationId xmlns:a16="http://schemas.microsoft.com/office/drawing/2014/main" id="{9C8C988F-0037-4BF3-9779-C0C379B0116C}"/>
              </a:ext>
            </a:extLst>
          </p:cNvPr>
          <p:cNvSpPr>
            <a:spLocks xmlns:a="http://schemas.openxmlformats.org/drawingml/2006/main" noGrp="1"/>
          </p:cNvSpPr>
          <p:nvPr/>
        </p:nvSpPr>
        <p:spPr>
          <a:xfrm xmlns:a="http://schemas.openxmlformats.org/drawingml/2006/main">
            <a:off x="609600" y="4514850"/>
            <a:ext cx="3714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800" b="1">
                <a:solidFill>
                  <a:srgbClr val="62ACFF"/>
                </a:solidFill>
                <a:latin typeface="Arial"/>
                <a:ea typeface="Arial"/>
                <a:cs typeface="Arial"/>
              </a:defRPr>
            </a:defPPr>
          </a:lstStyle>
          <a:p xmlns:a="http://schemas.openxmlformats.org/drawingml/2006/main">
            <a:pPr algn="l">
              <a:defRPr sz="4800" b="1">
                <a:solidFill>
                  <a:srgbClr val="62ACFF"/>
                </a:solidFill>
                <a:latin typeface="Arial"/>
                <a:ea typeface="Arial"/>
                <a:cs typeface="Arial"/>
              </a:defRPr>
            </a:pPr>
            <a:r>
              <a:rPr sz="4800" b="1">
                <a:solidFill>
                  <a:srgbClr val="62ACFF"/>
                </a:solidFill>
                <a:latin typeface="Arial"/>
                <a:ea typeface="Arial"/>
                <a:cs typeface="Arial"/>
              </a:rPr>
              <a:t>0.01</a:t>
            </a:r>
          </a:p>
        </p:txBody>
      </p:sp>
      <p:sp>
        <p:nvSpPr>
          <p:cNvPr id="11" name="ETH sample price">
            <a:extLst xmlns:a="http://schemas.openxmlformats.org/drawingml/2006/main">
              <a:ext uri="{FF2B5EF4-FFF2-40B4-BE49-F238E27FC236}">
                <a16:creationId xmlns:a16="http://schemas.microsoft.com/office/drawing/2014/main" id="{C20EA2E3-C004-4F00-AE3B-A8B8BF1455F4}"/>
              </a:ext>
            </a:extLst>
          </p:cNvPr>
          <p:cNvSpPr>
            <a:spLocks xmlns:a="http://schemas.openxmlformats.org/drawingml/2006/main" noGrp="1"/>
          </p:cNvSpPr>
          <p:nvPr/>
        </p:nvSpPr>
        <p:spPr>
          <a:xfrm xmlns:a="http://schemas.openxmlformats.org/drawingml/2006/main">
            <a:off x="638175" y="5257800"/>
            <a:ext cx="3952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stStyle>
          <a:p xmlns:a="http://schemas.openxmlformats.org/drawingml/2006/main">
            <a:pPr algn="l">
              <a:defRPr sz="1875" b="0">
                <a:solidFill>
                  <a:srgbClr val="F5F6F8"/>
                </a:solidFill>
                <a:latin typeface="Arial"/>
                <a:ea typeface="Arial"/>
                <a:cs typeface="Arial"/>
              </a:defRPr>
            </a:pPr>
            <a:r>
              <a:rPr sz="1875" b="0">
                <a:solidFill>
                  <a:srgbClr val="F5F6F8"/>
                </a:solidFill>
                <a:latin typeface="Arial"/>
                <a:ea typeface="Arial"/>
                <a:cs typeface="Arial"/>
              </a:rPr>
              <a:t>ETH sample price</a:t>
            </a:r>
          </a:p>
        </p:txBody>
      </p:sp>
      <p:pic>
        <p:nvPicPr>
          <p:cNvPr id="12" name="">
            <a:extLst xmlns:a="http://schemas.openxmlformats.org/drawingml/2006/main">
              <a:ext uri="{FF2B5EF4-FFF2-40B4-BE49-F238E27FC236}">
                <a16:creationId xmlns:a16="http://schemas.microsoft.com/office/drawing/2014/main" id="{03AABEEA-530D-4525-BFE8-975F427988BD}"/>
              </a:ext>
            </a:extLst>
          </p:cNvPr>
          <p:cNvPicPr>
            <a:picLocks xmlns:a="http://schemas.openxmlformats.org/drawingml/2006/main" noChangeAspect="1"/>
          </p:cNvPicPr>
          <p:nvPr/>
        </p:nvPicPr>
        <p:blipFill>
          <a:blip xmlns:r="http://schemas.openxmlformats.org/officeDocument/2006/relationships" xmlns:a="http://schemas.openxmlformats.org/drawingml/2006/main" r:embed="R73c3a0cd25384380"/>
          <a:srcRect xmlns:a="http://schemas.openxmlformats.org/drawingml/2006/main" l="29400" t="55000" r="28000" b="22000"/>
          <a:stretch xmlns:a="http://schemas.openxmlformats.org/drawingml/2006/main"/>
        </p:blipFill>
        <p:spPr>
          <a:xfrm xmlns:a="http://schemas.openxmlformats.org/drawingml/2006/main">
            <a:off x="4914900" y="2352675"/>
            <a:ext cx="6667500" cy="2524125"/>
          </a:xfrm>
          <a:prstGeom xmlns:a="http://schemas.openxmlformats.org/drawingml/2006/main" prst="rect">
            <a:avLst/>
          </a:prstGeom>
        </p:spPr>
      </p:pic>
      <p:sp>
        <p:nvSpPr>
          <p:cNvPr id="13" name="Fixed demonstration data. ETH is the dataset; USDC is the payment">
            <a:extLst xmlns:a="http://schemas.openxmlformats.org/drawingml/2006/main">
              <a:ext uri="{FF2B5EF4-FFF2-40B4-BE49-F238E27FC236}">
                <a16:creationId xmlns:a16="http://schemas.microsoft.com/office/drawing/2014/main" id="{2BDA4CC9-C2E0-4B2D-9298-12384EF03BAC}"/>
              </a:ext>
            </a:extLst>
          </p:cNvPr>
          <p:cNvSpPr>
            <a:spLocks xmlns:a="http://schemas.openxmlformats.org/drawingml/2006/main" noGrp="1"/>
          </p:cNvSpPr>
          <p:nvPr/>
        </p:nvSpPr>
        <p:spPr>
          <a:xfrm xmlns:a="http://schemas.openxmlformats.org/drawingml/2006/main">
            <a:off x="4895850" y="5876925"/>
            <a:ext cx="6619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stStyle>
          <a:p xmlns:a="http://schemas.openxmlformats.org/drawingml/2006/main">
            <a:pPr algn="l">
              <a:defRPr sz="1650" b="0">
                <a:solidFill>
                  <a:srgbClr val="A0A5AF"/>
                </a:solidFill>
                <a:latin typeface="Arial"/>
                <a:ea typeface="Arial"/>
                <a:cs typeface="Arial"/>
              </a:defRPr>
            </a:pPr>
            <a:r>
              <a:rPr sz="1650" b="0">
                <a:solidFill>
                  <a:srgbClr val="A0A5AF"/>
                </a:solidFill>
                <a:latin typeface="Arial"/>
                <a:ea typeface="Arial"/>
                <a:cs typeface="Arial"/>
              </a:rPr>
              <a:t>Fixed sample dataset. Purchases use test USDC.</a:t>
            </a:r>
          </a:p>
        </p:txBody>
      </p:sp>
    </p:spTree>
    <p:extLst>
      <p:ext uri="{BB962C8B-B14F-4D97-AF65-F5344CB8AC3E}">
        <p14:creationId xmlns:p14="http://schemas.microsoft.com/office/powerpoint/2010/main" val="1783499649"/>
      </p:ext>
    </p:extLst>
  </p:cSld>
</p:sld>
</file>

<file path=ppt/slides/slide5.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38EAF70-5607-45C0-BBDA-691D3EB35059}"/>
              </a:ext>
            </a:extLst>
          </p:cNvPr>
          <p:cNvPicPr>
            <a:picLocks xmlns:a="http://schemas.openxmlformats.org/drawingml/2006/main" noChangeAspect="1"/>
          </p:cNvPicPr>
          <p:nvPr/>
        </p:nvPicPr>
        <p:blipFill>
          <a:blip xmlns:r="http://schemas.openxmlformats.org/officeDocument/2006/relationships" xmlns:a="http://schemas.openxmlformats.org/drawingml/2006/main" r:embed="R223d07070cf54180">
            <a:extLst>
              <a:ext uri="{96DAC541-7B7A-43D3-8B79-37D633B846F1}">
                <asvg:svgBlip xmlns:asvg="http://schemas.microsoft.com/office/drawing/2016/SVG/main" r:embed="Reb082b8336254d2e"/>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Account preparation and delegation">
            <a:extLst xmlns:a="http://schemas.openxmlformats.org/drawingml/2006/main">
              <a:ext uri="{FF2B5EF4-FFF2-40B4-BE49-F238E27FC236}">
                <a16:creationId xmlns:a16="http://schemas.microsoft.com/office/drawing/2014/main" id="{FA2F4AE6-6E87-48C4-AFA8-CA1257027196}"/>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Account preparation and delegation</a:t>
            </a:r>
          </a:p>
        </p:txBody>
      </p:sp>
      <p:sp>
        <p:nvSpPr>
          <p:cNvPr id="4" name="Mandate Labs">
            <a:extLst xmlns:a="http://schemas.openxmlformats.org/drawingml/2006/main">
              <a:ext uri="{FF2B5EF4-FFF2-40B4-BE49-F238E27FC236}">
                <a16:creationId xmlns:a16="http://schemas.microsoft.com/office/drawing/2014/main" id="{C92E1449-A3EA-4FEA-99BB-626545AC4DC1}"/>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5">
            <a:extLst xmlns:a="http://schemas.openxmlformats.org/drawingml/2006/main">
              <a:ext uri="{FF2B5EF4-FFF2-40B4-BE49-F238E27FC236}">
                <a16:creationId xmlns:a16="http://schemas.microsoft.com/office/drawing/2014/main" id="{F960BC48-4141-43A7-A886-64C807A98071}"/>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BF2FA90D-4D66-42BE-B964-4D7B7CDD5500}"/>
              </a:ext>
            </a:extLst>
          </p:cNvPr>
          <p:cNvSpPr>
            <a:spLocks xmlns:a="http://schemas.openxmlformats.org/drawingml/2006/main" noGrp="1"/>
          </p:cNvSpPr>
          <p:nvPr/>
        </p:nvSpPr>
        <p:spPr>
          <a:xfrm xmlns:a="http://schemas.openxmlformats.org/drawingml/2006/main">
            <a:off x="44767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Owner wallet</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Rabby</a:t>
            </a:r>
          </a:p>
        </p:txBody>
      </p:sp>
      <p:cxnSp>
        <p:nvCxnSpPr>
          <p:cNvPr id="7" name="">
            <a:extLst xmlns:a="http://schemas.openxmlformats.org/drawingml/2006/main">
              <a:ext uri="{FF2B5EF4-FFF2-40B4-BE49-F238E27FC236}">
                <a16:creationId xmlns:a16="http://schemas.microsoft.com/office/drawing/2014/main" id="{AD3DCF37-2332-438C-B3B7-D9DD3A2F9E1D}"/>
              </a:ext>
            </a:extLst>
          </p:cNvPr>
          <p:cNvCxnSpPr/>
          <p:nvPr/>
        </p:nvCxnSpPr>
        <p:spPr>
          <a:xfrm xmlns:a="http://schemas.openxmlformats.org/drawingml/2006/main">
            <a:off x="1352550"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8" name="">
            <a:extLst xmlns:a="http://schemas.openxmlformats.org/drawingml/2006/main">
              <a:ext uri="{FF2B5EF4-FFF2-40B4-BE49-F238E27FC236}">
                <a16:creationId xmlns:a16="http://schemas.microsoft.com/office/drawing/2014/main" id="{262AD027-EE98-4F11-89AA-4C8D300F1DD0}"/>
              </a:ext>
            </a:extLst>
          </p:cNvPr>
          <p:cNvSpPr>
            <a:spLocks xmlns:a="http://schemas.openxmlformats.org/drawingml/2006/main" noGrp="1"/>
          </p:cNvSpPr>
          <p:nvPr/>
        </p:nvSpPr>
        <p:spPr>
          <a:xfrm xmlns:a="http://schemas.openxmlformats.org/drawingml/2006/main">
            <a:off x="2819400"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Mandate</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workspace</a:t>
            </a:r>
          </a:p>
        </p:txBody>
      </p:sp>
      <p:cxnSp>
        <p:nvCxnSpPr>
          <p:cNvPr id="9" name="">
            <a:extLst xmlns:a="http://schemas.openxmlformats.org/drawingml/2006/main">
              <a:ext uri="{FF2B5EF4-FFF2-40B4-BE49-F238E27FC236}">
                <a16:creationId xmlns:a16="http://schemas.microsoft.com/office/drawing/2014/main" id="{7F632599-7DD9-4DFD-935E-9BB5962AECB1}"/>
              </a:ext>
            </a:extLst>
          </p:cNvPr>
          <p:cNvCxnSpPr/>
          <p:nvPr/>
        </p:nvCxnSpPr>
        <p:spPr>
          <a:xfrm xmlns:a="http://schemas.openxmlformats.org/drawingml/2006/main">
            <a:off x="3724275"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0" name="">
            <a:extLst xmlns:a="http://schemas.openxmlformats.org/drawingml/2006/main">
              <a:ext uri="{FF2B5EF4-FFF2-40B4-BE49-F238E27FC236}">
                <a16:creationId xmlns:a16="http://schemas.microsoft.com/office/drawing/2014/main" id="{D1229447-7C54-4D63-BAC0-7F55747F9C36}"/>
              </a:ext>
            </a:extLst>
          </p:cNvPr>
          <p:cNvSpPr>
            <a:spLocks xmlns:a="http://schemas.openxmlformats.org/drawingml/2006/main" noGrp="1"/>
          </p:cNvSpPr>
          <p:nvPr/>
        </p:nvSpPr>
        <p:spPr>
          <a:xfrm xmlns:a="http://schemas.openxmlformats.org/drawingml/2006/main">
            <a:off x="519112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Local</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gateway</a:t>
            </a:r>
          </a:p>
        </p:txBody>
      </p:sp>
      <p:cxnSp>
        <p:nvCxnSpPr>
          <p:cNvPr id="11" name="">
            <a:extLst xmlns:a="http://schemas.openxmlformats.org/drawingml/2006/main">
              <a:ext uri="{FF2B5EF4-FFF2-40B4-BE49-F238E27FC236}">
                <a16:creationId xmlns:a16="http://schemas.microsoft.com/office/drawing/2014/main" id="{B3A93AA7-1949-4AF0-A475-0F1A5238E254}"/>
              </a:ext>
            </a:extLst>
          </p:cNvPr>
          <p:cNvCxnSpPr/>
          <p:nvPr/>
        </p:nvCxnSpPr>
        <p:spPr>
          <a:xfrm xmlns:a="http://schemas.openxmlformats.org/drawingml/2006/main">
            <a:off x="6096000"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2" name="">
            <a:extLst xmlns:a="http://schemas.openxmlformats.org/drawingml/2006/main">
              <a:ext uri="{FF2B5EF4-FFF2-40B4-BE49-F238E27FC236}">
                <a16:creationId xmlns:a16="http://schemas.microsoft.com/office/drawing/2014/main" id="{290CCA07-2FA8-4302-B2A4-04325FE2EDFB}"/>
              </a:ext>
            </a:extLst>
          </p:cNvPr>
          <p:cNvSpPr>
            <a:spLocks xmlns:a="http://schemas.openxmlformats.org/drawingml/2006/main" noGrp="1"/>
          </p:cNvSpPr>
          <p:nvPr/>
        </p:nvSpPr>
        <p:spPr>
          <a:xfrm xmlns:a="http://schemas.openxmlformats.org/drawingml/2006/main">
            <a:off x="7562850"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Agent</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Claude</a:t>
            </a:r>
          </a:p>
        </p:txBody>
      </p:sp>
      <p:cxnSp>
        <p:nvCxnSpPr>
          <p:cNvPr id="13" name="">
            <a:extLst xmlns:a="http://schemas.openxmlformats.org/drawingml/2006/main">
              <a:ext uri="{FF2B5EF4-FFF2-40B4-BE49-F238E27FC236}">
                <a16:creationId xmlns:a16="http://schemas.microsoft.com/office/drawing/2014/main" id="{EA3A4DDB-01B1-4D84-BFF2-25FA4C5238F7}"/>
              </a:ext>
            </a:extLst>
          </p:cNvPr>
          <p:cNvCxnSpPr/>
          <p:nvPr/>
        </p:nvCxnSpPr>
        <p:spPr>
          <a:xfrm xmlns:a="http://schemas.openxmlformats.org/drawingml/2006/main">
            <a:off x="8467725"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4" name="">
            <a:extLst xmlns:a="http://schemas.openxmlformats.org/drawingml/2006/main">
              <a:ext uri="{FF2B5EF4-FFF2-40B4-BE49-F238E27FC236}">
                <a16:creationId xmlns:a16="http://schemas.microsoft.com/office/drawing/2014/main" id="{AF01D218-16FE-4011-9FF9-B648A0361C0B}"/>
              </a:ext>
            </a:extLst>
          </p:cNvPr>
          <p:cNvSpPr>
            <a:spLocks xmlns:a="http://schemas.openxmlformats.org/drawingml/2006/main" noGrp="1"/>
          </p:cNvSpPr>
          <p:nvPr/>
        </p:nvSpPr>
        <p:spPr>
          <a:xfrm xmlns:a="http://schemas.openxmlformats.org/drawingml/2006/main">
            <a:off x="993457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Blockchain</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Base Sepolia</a:t>
            </a:r>
          </a:p>
        </p:txBody>
      </p:sp>
      <p:cxnSp>
        <p:nvCxnSpPr>
          <p:cNvPr id="15" name="">
            <a:extLst xmlns:a="http://schemas.openxmlformats.org/drawingml/2006/main">
              <a:ext uri="{FF2B5EF4-FFF2-40B4-BE49-F238E27FC236}">
                <a16:creationId xmlns:a16="http://schemas.microsoft.com/office/drawing/2014/main" id="{7599A0DA-4A92-42E7-8D90-38DDDFFD1291}"/>
              </a:ext>
            </a:extLst>
          </p:cNvPr>
          <p:cNvCxnSpPr/>
          <p:nvPr/>
        </p:nvCxnSpPr>
        <p:spPr>
          <a:xfrm xmlns:a="http://schemas.openxmlformats.org/drawingml/2006/main">
            <a:off x="10839450" y="2581275"/>
            <a:ext cx="0" cy="3524250"/>
          </a:xfrm>
          <a:prstGeom xmlns:a="http://schemas.openxmlformats.org/drawingml/2006/main" prst="straightConnector1">
            <a:avLst/>
          </a:prstGeom>
          <a:ln xmlns:a="http://schemas.openxmlformats.org/drawingml/2006/main" w="9525">
            <a:solidFill>
              <a:srgbClr val="354052"/>
            </a:solidFill>
            <a:prstDash val="dash"/>
          </a:ln>
        </p:spPr>
      </p:cxnSp>
      <p:cxnSp>
        <p:nvCxnSpPr>
          <p:cNvPr id="16" name="">
            <a:extLst xmlns:a="http://schemas.openxmlformats.org/drawingml/2006/main">
              <a:ext uri="{FF2B5EF4-FFF2-40B4-BE49-F238E27FC236}">
                <a16:creationId xmlns:a16="http://schemas.microsoft.com/office/drawing/2014/main" id="{1C7618E3-B6DB-4822-B5A2-6A008B45968F}"/>
              </a:ext>
            </a:extLst>
          </p:cNvPr>
          <p:cNvCxnSpPr/>
          <p:nvPr/>
        </p:nvCxnSpPr>
        <p:spPr>
          <a:xfrm xmlns:a="http://schemas.openxmlformats.org/drawingml/2006/main">
            <a:off x="1352550" y="2914650"/>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17" name="1  Review transaction intent">
            <a:extLst xmlns:a="http://schemas.openxmlformats.org/drawingml/2006/main">
              <a:ext uri="{FF2B5EF4-FFF2-40B4-BE49-F238E27FC236}">
                <a16:creationId xmlns:a16="http://schemas.microsoft.com/office/drawing/2014/main" id="{DD06A803-F645-40B9-8E8F-9ADFFAC4B179}"/>
              </a:ext>
            </a:extLst>
          </p:cNvPr>
          <p:cNvSpPr>
            <a:spLocks xmlns:a="http://schemas.openxmlformats.org/drawingml/2006/main" noGrp="1"/>
          </p:cNvSpPr>
          <p:nvPr/>
        </p:nvSpPr>
        <p:spPr>
          <a:xfrm xmlns:a="http://schemas.openxmlformats.org/drawingml/2006/main">
            <a:off x="966788" y="26384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1  Review transaction intent</a:t>
            </a:r>
          </a:p>
        </p:txBody>
      </p:sp>
      <p:cxnSp>
        <p:nvCxnSpPr>
          <p:cNvPr id="18" name="">
            <a:extLst xmlns:a="http://schemas.openxmlformats.org/drawingml/2006/main">
              <a:ext uri="{FF2B5EF4-FFF2-40B4-BE49-F238E27FC236}">
                <a16:creationId xmlns:a16="http://schemas.microsoft.com/office/drawing/2014/main" id="{9FAB608C-DB95-46D5-BD78-AE855B67C91D}"/>
              </a:ext>
            </a:extLst>
          </p:cNvPr>
          <p:cNvCxnSpPr/>
          <p:nvPr/>
        </p:nvCxnSpPr>
        <p:spPr>
          <a:xfrm xmlns:a="http://schemas.openxmlformats.org/drawingml/2006/main">
            <a:off x="1352550" y="333375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2  Sign deployment and funding">
            <a:extLst xmlns:a="http://schemas.openxmlformats.org/drawingml/2006/main">
              <a:ext uri="{FF2B5EF4-FFF2-40B4-BE49-F238E27FC236}">
                <a16:creationId xmlns:a16="http://schemas.microsoft.com/office/drawing/2014/main" id="{EB7B0F7B-FBF9-4D62-979A-07875B44EDBE}"/>
              </a:ext>
            </a:extLst>
          </p:cNvPr>
          <p:cNvSpPr>
            <a:spLocks xmlns:a="http://schemas.openxmlformats.org/drawingml/2006/main" noGrp="1"/>
          </p:cNvSpPr>
          <p:nvPr/>
        </p:nvSpPr>
        <p:spPr>
          <a:xfrm xmlns:a="http://schemas.openxmlformats.org/drawingml/2006/main">
            <a:off x="3238500" y="3057525"/>
            <a:ext cx="571500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2  Sign deployment and funding</a:t>
            </a:r>
          </a:p>
        </p:txBody>
      </p:sp>
      <p:cxnSp>
        <p:nvCxnSpPr>
          <p:cNvPr id="20" name="">
            <a:extLst xmlns:a="http://schemas.openxmlformats.org/drawingml/2006/main">
              <a:ext uri="{FF2B5EF4-FFF2-40B4-BE49-F238E27FC236}">
                <a16:creationId xmlns:a16="http://schemas.microsoft.com/office/drawing/2014/main" id="{319D0480-7895-4B34-BBD3-8C8C010D79D8}"/>
              </a:ext>
            </a:extLst>
          </p:cNvPr>
          <p:cNvCxnSpPr/>
          <p:nvPr/>
        </p:nvCxnSpPr>
        <p:spPr>
          <a:xfrm xmlns:a="http://schemas.openxmlformats.org/drawingml/2006/main">
            <a:off x="1352550" y="3752850"/>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1" name="3  Review finite session scope">
            <a:extLst xmlns:a="http://schemas.openxmlformats.org/drawingml/2006/main">
              <a:ext uri="{FF2B5EF4-FFF2-40B4-BE49-F238E27FC236}">
                <a16:creationId xmlns:a16="http://schemas.microsoft.com/office/drawing/2014/main" id="{491BE506-1EE2-420A-82EA-E3CD60375AB2}"/>
              </a:ext>
            </a:extLst>
          </p:cNvPr>
          <p:cNvSpPr>
            <a:spLocks xmlns:a="http://schemas.openxmlformats.org/drawingml/2006/main" noGrp="1"/>
          </p:cNvSpPr>
          <p:nvPr/>
        </p:nvSpPr>
        <p:spPr>
          <a:xfrm xmlns:a="http://schemas.openxmlformats.org/drawingml/2006/main">
            <a:off x="966788" y="34766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3  Review finite session scope</a:t>
            </a:r>
          </a:p>
        </p:txBody>
      </p:sp>
      <p:cxnSp>
        <p:nvCxnSpPr>
          <p:cNvPr id="22" name="">
            <a:extLst xmlns:a="http://schemas.openxmlformats.org/drawingml/2006/main">
              <a:ext uri="{FF2B5EF4-FFF2-40B4-BE49-F238E27FC236}">
                <a16:creationId xmlns:a16="http://schemas.microsoft.com/office/drawing/2014/main" id="{032E8ABB-E9BB-443E-A549-D8B4A0CB0C79}"/>
              </a:ext>
            </a:extLst>
          </p:cNvPr>
          <p:cNvCxnSpPr/>
          <p:nvPr/>
        </p:nvCxnSpPr>
        <p:spPr>
          <a:xfrm xmlns:a="http://schemas.openxmlformats.org/drawingml/2006/main">
            <a:off x="1352550" y="417195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3" name="4  Authorize signer and budget">
            <a:extLst xmlns:a="http://schemas.openxmlformats.org/drawingml/2006/main">
              <a:ext uri="{FF2B5EF4-FFF2-40B4-BE49-F238E27FC236}">
                <a16:creationId xmlns:a16="http://schemas.microsoft.com/office/drawing/2014/main" id="{378E7D2C-1541-49DE-BC09-0BC5F2521DF1}"/>
              </a:ext>
            </a:extLst>
          </p:cNvPr>
          <p:cNvSpPr>
            <a:spLocks xmlns:a="http://schemas.openxmlformats.org/drawingml/2006/main" noGrp="1"/>
          </p:cNvSpPr>
          <p:nvPr/>
        </p:nvSpPr>
        <p:spPr>
          <a:xfrm xmlns:a="http://schemas.openxmlformats.org/drawingml/2006/main">
            <a:off x="3238500" y="3895725"/>
            <a:ext cx="571500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4  Authorize signer and budget</a:t>
            </a:r>
          </a:p>
        </p:txBody>
      </p:sp>
      <p:cxnSp>
        <p:nvCxnSpPr>
          <p:cNvPr id="24" name="">
            <a:extLst xmlns:a="http://schemas.openxmlformats.org/drawingml/2006/main">
              <a:ext uri="{FF2B5EF4-FFF2-40B4-BE49-F238E27FC236}">
                <a16:creationId xmlns:a16="http://schemas.microsoft.com/office/drawing/2014/main" id="{5B1CE07A-B316-46C6-BF57-67AD778E4F40}"/>
              </a:ext>
            </a:extLst>
          </p:cNvPr>
          <p:cNvCxnSpPr/>
          <p:nvPr/>
        </p:nvCxnSpPr>
        <p:spPr>
          <a:xfrm xmlns:a="http://schemas.openxmlformats.org/drawingml/2006/main">
            <a:off x="3724275" y="4591050"/>
            <a:ext cx="4743450"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25" name="5  User imports Guided MCP package">
            <a:extLst xmlns:a="http://schemas.openxmlformats.org/drawingml/2006/main">
              <a:ext uri="{FF2B5EF4-FFF2-40B4-BE49-F238E27FC236}">
                <a16:creationId xmlns:a16="http://schemas.microsoft.com/office/drawing/2014/main" id="{79817C3A-495E-43FF-99E8-45A35CF7624D}"/>
              </a:ext>
            </a:extLst>
          </p:cNvPr>
          <p:cNvSpPr>
            <a:spLocks xmlns:a="http://schemas.openxmlformats.org/drawingml/2006/main" noGrp="1"/>
          </p:cNvSpPr>
          <p:nvPr/>
        </p:nvSpPr>
        <p:spPr>
          <a:xfrm xmlns:a="http://schemas.openxmlformats.org/drawingml/2006/main">
            <a:off x="3819525" y="4314825"/>
            <a:ext cx="45529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5  User imports Guided MCP package</a:t>
            </a:r>
          </a:p>
        </p:txBody>
      </p:sp>
      <p:cxnSp>
        <p:nvCxnSpPr>
          <p:cNvPr id="26" name="">
            <a:extLst xmlns:a="http://schemas.openxmlformats.org/drawingml/2006/main">
              <a:ext uri="{FF2B5EF4-FFF2-40B4-BE49-F238E27FC236}">
                <a16:creationId xmlns:a16="http://schemas.microsoft.com/office/drawing/2014/main" id="{F9E0088E-A7C1-4A7C-82C3-673A62EBFD7E}"/>
              </a:ext>
            </a:extLst>
          </p:cNvPr>
          <p:cNvCxnSpPr/>
          <p:nvPr/>
        </p:nvCxnSpPr>
        <p:spPr>
          <a:xfrm xmlns:a="http://schemas.openxmlformats.org/drawingml/2006/main">
            <a:off x="6096000" y="5010150"/>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7" name="6  Read account context">
            <a:extLst xmlns:a="http://schemas.openxmlformats.org/drawingml/2006/main">
              <a:ext uri="{FF2B5EF4-FFF2-40B4-BE49-F238E27FC236}">
                <a16:creationId xmlns:a16="http://schemas.microsoft.com/office/drawing/2014/main" id="{B9CBE129-7322-41D3-AA9D-B84799827FB8}"/>
              </a:ext>
            </a:extLst>
          </p:cNvPr>
          <p:cNvSpPr>
            <a:spLocks xmlns:a="http://schemas.openxmlformats.org/drawingml/2006/main" noGrp="1"/>
          </p:cNvSpPr>
          <p:nvPr/>
        </p:nvSpPr>
        <p:spPr>
          <a:xfrm xmlns:a="http://schemas.openxmlformats.org/drawingml/2006/main">
            <a:off x="5710238" y="47339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6  Read account context</a:t>
            </a:r>
          </a:p>
        </p:txBody>
      </p:sp>
      <p:cxnSp>
        <p:nvCxnSpPr>
          <p:cNvPr id="28" name="">
            <a:extLst xmlns:a="http://schemas.openxmlformats.org/drawingml/2006/main">
              <a:ext uri="{FF2B5EF4-FFF2-40B4-BE49-F238E27FC236}">
                <a16:creationId xmlns:a16="http://schemas.microsoft.com/office/drawing/2014/main" id="{64541F9F-78E0-4BF9-A265-4BF648713071}"/>
              </a:ext>
            </a:extLst>
          </p:cNvPr>
          <p:cNvCxnSpPr/>
          <p:nvPr/>
        </p:nvCxnSpPr>
        <p:spPr>
          <a:xfrm xmlns:a="http://schemas.openxmlformats.org/drawingml/2006/main">
            <a:off x="6096000" y="5429250"/>
            <a:ext cx="47434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7  Read current chain authority">
            <a:extLst xmlns:a="http://schemas.openxmlformats.org/drawingml/2006/main">
              <a:ext uri="{FF2B5EF4-FFF2-40B4-BE49-F238E27FC236}">
                <a16:creationId xmlns:a16="http://schemas.microsoft.com/office/drawing/2014/main" id="{B119D960-648B-466A-B148-D9C553ECE73F}"/>
              </a:ext>
            </a:extLst>
          </p:cNvPr>
          <p:cNvSpPr>
            <a:spLocks xmlns:a="http://schemas.openxmlformats.org/drawingml/2006/main" noGrp="1"/>
          </p:cNvSpPr>
          <p:nvPr/>
        </p:nvSpPr>
        <p:spPr>
          <a:xfrm xmlns:a="http://schemas.openxmlformats.org/drawingml/2006/main">
            <a:off x="6191250" y="5153025"/>
            <a:ext cx="45529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7  Read current chain authority</a:t>
            </a:r>
          </a:p>
        </p:txBody>
      </p:sp>
      <p:cxnSp>
        <p:nvCxnSpPr>
          <p:cNvPr id="30" name="">
            <a:extLst xmlns:a="http://schemas.openxmlformats.org/drawingml/2006/main">
              <a:ext uri="{FF2B5EF4-FFF2-40B4-BE49-F238E27FC236}">
                <a16:creationId xmlns:a16="http://schemas.microsoft.com/office/drawing/2014/main" id="{72871B69-BD0F-4300-B9E4-1C6E78326724}"/>
              </a:ext>
            </a:extLst>
          </p:cNvPr>
          <p:cNvCxnSpPr/>
          <p:nvPr/>
        </p:nvCxnSpPr>
        <p:spPr>
          <a:xfrm xmlns:a="http://schemas.openxmlformats.org/drawingml/2006/main">
            <a:off x="6096000" y="5848350"/>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1" name="8  Return approved task context">
            <a:extLst xmlns:a="http://schemas.openxmlformats.org/drawingml/2006/main">
              <a:ext uri="{FF2B5EF4-FFF2-40B4-BE49-F238E27FC236}">
                <a16:creationId xmlns:a16="http://schemas.microsoft.com/office/drawing/2014/main" id="{F91C47A7-9527-4C17-ACAF-5BC419716061}"/>
              </a:ext>
            </a:extLst>
          </p:cNvPr>
          <p:cNvSpPr>
            <a:spLocks xmlns:a="http://schemas.openxmlformats.org/drawingml/2006/main" noGrp="1"/>
          </p:cNvSpPr>
          <p:nvPr/>
        </p:nvSpPr>
        <p:spPr>
          <a:xfrm xmlns:a="http://schemas.openxmlformats.org/drawingml/2006/main">
            <a:off x="5710238" y="55721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8  Return approved task context</a:t>
            </a:r>
          </a:p>
        </p:txBody>
      </p:sp>
    </p:spTree>
    <p:extLst>
      <p:ext uri="{BB962C8B-B14F-4D97-AF65-F5344CB8AC3E}">
        <p14:creationId xmlns:p14="http://schemas.microsoft.com/office/powerpoint/2010/main" val="57109772"/>
      </p:ext>
    </p:extLst>
  </p:cSld>
</p:sld>
</file>

<file path=ppt/slides/slide6.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AFA3864A-9FF4-4796-9E4B-D359DDDF020E}"/>
              </a:ext>
            </a:extLst>
          </p:cNvPr>
          <p:cNvPicPr>
            <a:picLocks xmlns:a="http://schemas.openxmlformats.org/drawingml/2006/main" noChangeAspect="1"/>
          </p:cNvPicPr>
          <p:nvPr/>
        </p:nvPicPr>
        <p:blipFill>
          <a:blip xmlns:r="http://schemas.openxmlformats.org/officeDocument/2006/relationships" xmlns:a="http://schemas.openxmlformats.org/drawingml/2006/main" r:embed="Rce5d69f49d3a4908">
            <a:extLst>
              <a:ext uri="{96DAC541-7B7A-43D3-8B79-37D633B846F1}">
                <asvg:svgBlip xmlns:asvg="http://schemas.microsoft.com/office/drawing/2016/SVG/main" r:embed="R78344561c48f4a00"/>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Quote, registration and settlement">
            <a:extLst xmlns:a="http://schemas.openxmlformats.org/drawingml/2006/main">
              <a:ext uri="{FF2B5EF4-FFF2-40B4-BE49-F238E27FC236}">
                <a16:creationId xmlns:a16="http://schemas.microsoft.com/office/drawing/2014/main" id="{A2AAAA2F-919B-40B4-8207-2F3EB2DF2F6E}"/>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Quote, registration and settlement</a:t>
            </a:r>
          </a:p>
        </p:txBody>
      </p:sp>
      <p:sp>
        <p:nvSpPr>
          <p:cNvPr id="4" name="Mandate Labs">
            <a:extLst xmlns:a="http://schemas.openxmlformats.org/drawingml/2006/main">
              <a:ext uri="{FF2B5EF4-FFF2-40B4-BE49-F238E27FC236}">
                <a16:creationId xmlns:a16="http://schemas.microsoft.com/office/drawing/2014/main" id="{044A87B7-5473-4436-B100-E91A9CF082FE}"/>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6">
            <a:extLst xmlns:a="http://schemas.openxmlformats.org/drawingml/2006/main">
              <a:ext uri="{FF2B5EF4-FFF2-40B4-BE49-F238E27FC236}">
                <a16:creationId xmlns:a16="http://schemas.microsoft.com/office/drawing/2014/main" id="{178734F4-9C83-425B-9CD6-E977CEB8FE0A}"/>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42D43E0F-933A-4BE8-A6B4-5307C9FF8164}"/>
              </a:ext>
            </a:extLst>
          </p:cNvPr>
          <p:cNvSpPr>
            <a:spLocks xmlns:a="http://schemas.openxmlformats.org/drawingml/2006/main" noGrp="1"/>
          </p:cNvSpPr>
          <p:nvPr/>
        </p:nvSpPr>
        <p:spPr>
          <a:xfrm xmlns:a="http://schemas.openxmlformats.org/drawingml/2006/main">
            <a:off x="44767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Agent</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Claude</a:t>
            </a:r>
          </a:p>
        </p:txBody>
      </p:sp>
      <p:cxnSp>
        <p:nvCxnSpPr>
          <p:cNvPr id="7" name="">
            <a:extLst xmlns:a="http://schemas.openxmlformats.org/drawingml/2006/main">
              <a:ext uri="{FF2B5EF4-FFF2-40B4-BE49-F238E27FC236}">
                <a16:creationId xmlns:a16="http://schemas.microsoft.com/office/drawing/2014/main" id="{1A9D3A2C-E935-4B49-86FA-2D5492579C1B}"/>
              </a:ext>
            </a:extLst>
          </p:cNvPr>
          <p:cNvCxnSpPr/>
          <p:nvPr/>
        </p:nvCxnSpPr>
        <p:spPr>
          <a:xfrm xmlns:a="http://schemas.openxmlformats.org/drawingml/2006/main">
            <a:off x="1352550"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8" name="">
            <a:extLst xmlns:a="http://schemas.openxmlformats.org/drawingml/2006/main">
              <a:ext uri="{FF2B5EF4-FFF2-40B4-BE49-F238E27FC236}">
                <a16:creationId xmlns:a16="http://schemas.microsoft.com/office/drawing/2014/main" id="{DC151630-67F4-4879-B574-14BE19A7E6BD}"/>
              </a:ext>
            </a:extLst>
          </p:cNvPr>
          <p:cNvSpPr>
            <a:spLocks xmlns:a="http://schemas.openxmlformats.org/drawingml/2006/main" noGrp="1"/>
          </p:cNvSpPr>
          <p:nvPr/>
        </p:nvSpPr>
        <p:spPr>
          <a:xfrm xmlns:a="http://schemas.openxmlformats.org/drawingml/2006/main">
            <a:off x="2819400"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Mandate</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gateway</a:t>
            </a:r>
          </a:p>
        </p:txBody>
      </p:sp>
      <p:cxnSp>
        <p:nvCxnSpPr>
          <p:cNvPr id="9" name="">
            <a:extLst xmlns:a="http://schemas.openxmlformats.org/drawingml/2006/main">
              <a:ext uri="{FF2B5EF4-FFF2-40B4-BE49-F238E27FC236}">
                <a16:creationId xmlns:a16="http://schemas.microsoft.com/office/drawing/2014/main" id="{1ECA5C1C-9603-46E9-B685-03088782556F}"/>
              </a:ext>
            </a:extLst>
          </p:cNvPr>
          <p:cNvCxnSpPr/>
          <p:nvPr/>
        </p:nvCxnSpPr>
        <p:spPr>
          <a:xfrm xmlns:a="http://schemas.openxmlformats.org/drawingml/2006/main">
            <a:off x="3724275"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0" name="">
            <a:extLst xmlns:a="http://schemas.openxmlformats.org/drawingml/2006/main">
              <a:ext uri="{FF2B5EF4-FFF2-40B4-BE49-F238E27FC236}">
                <a16:creationId xmlns:a16="http://schemas.microsoft.com/office/drawing/2014/main" id="{571421D5-2EAD-4ED9-A7B5-4ED4818055DC}"/>
              </a:ext>
            </a:extLst>
          </p:cNvPr>
          <p:cNvSpPr>
            <a:spLocks xmlns:a="http://schemas.openxmlformats.org/drawingml/2006/main" noGrp="1"/>
          </p:cNvSpPr>
          <p:nvPr/>
        </p:nvSpPr>
        <p:spPr>
          <a:xfrm xmlns:a="http://schemas.openxmlformats.org/drawingml/2006/main">
            <a:off x="519112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API</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merchant</a:t>
            </a:r>
          </a:p>
        </p:txBody>
      </p:sp>
      <p:cxnSp>
        <p:nvCxnSpPr>
          <p:cNvPr id="11" name="">
            <a:extLst xmlns:a="http://schemas.openxmlformats.org/drawingml/2006/main">
              <a:ext uri="{FF2B5EF4-FFF2-40B4-BE49-F238E27FC236}">
                <a16:creationId xmlns:a16="http://schemas.microsoft.com/office/drawing/2014/main" id="{C5BB0DC7-DD0E-4F28-A78C-034A2762B941}"/>
              </a:ext>
            </a:extLst>
          </p:cNvPr>
          <p:cNvCxnSpPr/>
          <p:nvPr/>
        </p:nvCxnSpPr>
        <p:spPr>
          <a:xfrm xmlns:a="http://schemas.openxmlformats.org/drawingml/2006/main">
            <a:off x="6096000"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2" name="">
            <a:extLst xmlns:a="http://schemas.openxmlformats.org/drawingml/2006/main">
              <a:ext uri="{FF2B5EF4-FFF2-40B4-BE49-F238E27FC236}">
                <a16:creationId xmlns:a16="http://schemas.microsoft.com/office/drawing/2014/main" id="{9B13A666-23B3-4ABD-B610-10077455E21C}"/>
              </a:ext>
            </a:extLst>
          </p:cNvPr>
          <p:cNvSpPr>
            <a:spLocks xmlns:a="http://schemas.openxmlformats.org/drawingml/2006/main" noGrp="1"/>
          </p:cNvSpPr>
          <p:nvPr/>
        </p:nvSpPr>
        <p:spPr>
          <a:xfrm xmlns:a="http://schemas.openxmlformats.org/drawingml/2006/main">
            <a:off x="7562850"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Payment</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facilitator</a:t>
            </a:r>
          </a:p>
        </p:txBody>
      </p:sp>
      <p:cxnSp>
        <p:nvCxnSpPr>
          <p:cNvPr id="13" name="">
            <a:extLst xmlns:a="http://schemas.openxmlformats.org/drawingml/2006/main">
              <a:ext uri="{FF2B5EF4-FFF2-40B4-BE49-F238E27FC236}">
                <a16:creationId xmlns:a16="http://schemas.microsoft.com/office/drawing/2014/main" id="{FA817AE4-9208-4C7C-B35C-A895D76FEF57}"/>
              </a:ext>
            </a:extLst>
          </p:cNvPr>
          <p:cNvCxnSpPr/>
          <p:nvPr/>
        </p:nvCxnSpPr>
        <p:spPr>
          <a:xfrm xmlns:a="http://schemas.openxmlformats.org/drawingml/2006/main">
            <a:off x="8467725" y="2581275"/>
            <a:ext cx="0" cy="3524250"/>
          </a:xfrm>
          <a:prstGeom xmlns:a="http://schemas.openxmlformats.org/drawingml/2006/main" prst="straightConnector1">
            <a:avLst/>
          </a:prstGeom>
          <a:ln xmlns:a="http://schemas.openxmlformats.org/drawingml/2006/main" w="9525">
            <a:solidFill>
              <a:srgbClr val="354052"/>
            </a:solidFill>
            <a:prstDash val="dash"/>
          </a:ln>
        </p:spPr>
      </p:cxnSp>
      <p:sp>
        <p:nvSpPr>
          <p:cNvPr id="14" name="">
            <a:extLst xmlns:a="http://schemas.openxmlformats.org/drawingml/2006/main">
              <a:ext uri="{FF2B5EF4-FFF2-40B4-BE49-F238E27FC236}">
                <a16:creationId xmlns:a16="http://schemas.microsoft.com/office/drawing/2014/main" id="{9FDE666A-2EF9-4FA1-ADC5-F54C5E4961C4}"/>
              </a:ext>
            </a:extLst>
          </p:cNvPr>
          <p:cNvSpPr>
            <a:spLocks xmlns:a="http://schemas.openxmlformats.org/drawingml/2006/main" noGrp="1"/>
          </p:cNvSpPr>
          <p:nvPr/>
        </p:nvSpPr>
        <p:spPr>
          <a:xfrm xmlns:a="http://schemas.openxmlformats.org/drawingml/2006/main">
            <a:off x="9934575" y="1914525"/>
            <a:ext cx="1809750" cy="6477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ln>
        </p:spPr>
        <p:txBody>
          <a:bodyPr xmlns:a="http://schemas.openxmlformats.org/drawingml/2006/main" lIns="57150" tIns="57150" rIns="57150" bIns="57150" anchor="ctr"/>
          <a:lstStyle xmlns:a="http://schemas.openxmlformats.org/drawingml/2006/main">
            <a:defPPr algn="ctr">
              <a:defRPr sz="1650" b="1">
                <a:solidFill>
                  <a:srgbClr val="F5F6F8"/>
                </a:solidFill>
                <a:latin typeface="Arial"/>
                <a:ea typeface="Arial"/>
                <a:cs typeface="Arial"/>
              </a:defRPr>
            </a:defPPr>
          </a:lstStyle>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Blockchain</a:t>
            </a:r>
          </a:p>
          <a:p xmlns:a="http://schemas.openxmlformats.org/drawingml/2006/main">
            <a:pPr algn="ctr">
              <a:defRPr sz="1650" b="1">
                <a:solidFill>
                  <a:srgbClr val="F5F6F8"/>
                </a:solidFill>
                <a:latin typeface="Arial"/>
                <a:ea typeface="Arial"/>
                <a:cs typeface="Arial"/>
              </a:defRPr>
            </a:pPr>
            <a:r>
              <a:rPr sz="1650" b="1">
                <a:solidFill>
                  <a:srgbClr val="F5F6F8"/>
                </a:solidFill>
                <a:latin typeface="Arial"/>
                <a:ea typeface="Arial"/>
                <a:cs typeface="Arial"/>
              </a:rPr>
              <a:t>USDC + wallet</a:t>
            </a:r>
          </a:p>
        </p:txBody>
      </p:sp>
      <p:cxnSp>
        <p:nvCxnSpPr>
          <p:cNvPr id="15" name="">
            <a:extLst xmlns:a="http://schemas.openxmlformats.org/drawingml/2006/main">
              <a:ext uri="{FF2B5EF4-FFF2-40B4-BE49-F238E27FC236}">
                <a16:creationId xmlns:a16="http://schemas.microsoft.com/office/drawing/2014/main" id="{E2B81044-5220-411C-8849-83F505B94589}"/>
              </a:ext>
            </a:extLst>
          </p:cNvPr>
          <p:cNvCxnSpPr/>
          <p:nvPr/>
        </p:nvCxnSpPr>
        <p:spPr>
          <a:xfrm xmlns:a="http://schemas.openxmlformats.org/drawingml/2006/main">
            <a:off x="10839450" y="2581275"/>
            <a:ext cx="0" cy="3524250"/>
          </a:xfrm>
          <a:prstGeom xmlns:a="http://schemas.openxmlformats.org/drawingml/2006/main" prst="straightConnector1">
            <a:avLst/>
          </a:prstGeom>
          <a:ln xmlns:a="http://schemas.openxmlformats.org/drawingml/2006/main" w="9525">
            <a:solidFill>
              <a:srgbClr val="354052"/>
            </a:solidFill>
            <a:prstDash val="dash"/>
          </a:ln>
        </p:spPr>
      </p:cxnSp>
      <p:cxnSp>
        <p:nvCxnSpPr>
          <p:cNvPr id="16" name="">
            <a:extLst xmlns:a="http://schemas.openxmlformats.org/drawingml/2006/main">
              <a:ext uri="{FF2B5EF4-FFF2-40B4-BE49-F238E27FC236}">
                <a16:creationId xmlns:a16="http://schemas.microsoft.com/office/drawing/2014/main" id="{E397DDD9-F8A0-4FB6-A0A4-0B7DC24AEEB5}"/>
              </a:ext>
            </a:extLst>
          </p:cNvPr>
          <p:cNvCxnSpPr/>
          <p:nvPr/>
        </p:nvCxnSpPr>
        <p:spPr>
          <a:xfrm xmlns:a="http://schemas.openxmlformats.org/drawingml/2006/main">
            <a:off x="1352550" y="2914650"/>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7" name="1  Call approved ETH step">
            <a:extLst xmlns:a="http://schemas.openxmlformats.org/drawingml/2006/main">
              <a:ext uri="{FF2B5EF4-FFF2-40B4-BE49-F238E27FC236}">
                <a16:creationId xmlns:a16="http://schemas.microsoft.com/office/drawing/2014/main" id="{B9E850ED-E2D0-4C82-9381-3657FAD105D9}"/>
              </a:ext>
            </a:extLst>
          </p:cNvPr>
          <p:cNvSpPr>
            <a:spLocks xmlns:a="http://schemas.openxmlformats.org/drawingml/2006/main" noGrp="1"/>
          </p:cNvSpPr>
          <p:nvPr/>
        </p:nvSpPr>
        <p:spPr>
          <a:xfrm xmlns:a="http://schemas.openxmlformats.org/drawingml/2006/main">
            <a:off x="966788" y="26384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1  Call approved ETH step</a:t>
            </a:r>
          </a:p>
        </p:txBody>
      </p:sp>
      <p:cxnSp>
        <p:nvCxnSpPr>
          <p:cNvPr id="18" name="">
            <a:extLst xmlns:a="http://schemas.openxmlformats.org/drawingml/2006/main">
              <a:ext uri="{FF2B5EF4-FFF2-40B4-BE49-F238E27FC236}">
                <a16:creationId xmlns:a16="http://schemas.microsoft.com/office/drawing/2014/main" id="{27D0CBB3-0BF1-4238-B434-7688275F8CD0}"/>
              </a:ext>
            </a:extLst>
          </p:cNvPr>
          <p:cNvCxnSpPr/>
          <p:nvPr/>
        </p:nvCxnSpPr>
        <p:spPr>
          <a:xfrm xmlns:a="http://schemas.openxmlformats.org/drawingml/2006/main">
            <a:off x="3724275" y="3286125"/>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2  Obtain and check 402 quote">
            <a:extLst xmlns:a="http://schemas.openxmlformats.org/drawingml/2006/main">
              <a:ext uri="{FF2B5EF4-FFF2-40B4-BE49-F238E27FC236}">
                <a16:creationId xmlns:a16="http://schemas.microsoft.com/office/drawing/2014/main" id="{102F6391-BCE8-4A2C-96BD-2A5FDA364120}"/>
              </a:ext>
            </a:extLst>
          </p:cNvPr>
          <p:cNvSpPr>
            <a:spLocks xmlns:a="http://schemas.openxmlformats.org/drawingml/2006/main" noGrp="1"/>
          </p:cNvSpPr>
          <p:nvPr/>
        </p:nvSpPr>
        <p:spPr>
          <a:xfrm xmlns:a="http://schemas.openxmlformats.org/drawingml/2006/main">
            <a:off x="3338513" y="3009900"/>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2  Obtain and check 402 quote</a:t>
            </a:r>
          </a:p>
        </p:txBody>
      </p:sp>
      <p:cxnSp>
        <p:nvCxnSpPr>
          <p:cNvPr id="20" name="">
            <a:extLst xmlns:a="http://schemas.openxmlformats.org/drawingml/2006/main">
              <a:ext uri="{FF2B5EF4-FFF2-40B4-BE49-F238E27FC236}">
                <a16:creationId xmlns:a16="http://schemas.microsoft.com/office/drawing/2014/main" id="{05AE74E7-EDD0-4EB4-9B48-FF356C35B567}"/>
              </a:ext>
            </a:extLst>
          </p:cNvPr>
          <p:cNvCxnSpPr/>
          <p:nvPr/>
        </p:nvCxnSpPr>
        <p:spPr>
          <a:xfrm xmlns:a="http://schemas.openxmlformats.org/drawingml/2006/main">
            <a:off x="3724275" y="3657600"/>
            <a:ext cx="71151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1" name="3  Register and reserve budget">
            <a:extLst xmlns:a="http://schemas.openxmlformats.org/drawingml/2006/main">
              <a:ext uri="{FF2B5EF4-FFF2-40B4-BE49-F238E27FC236}">
                <a16:creationId xmlns:a16="http://schemas.microsoft.com/office/drawing/2014/main" id="{8BC67E04-45DC-4102-AAEB-B42E7A152DE8}"/>
              </a:ext>
            </a:extLst>
          </p:cNvPr>
          <p:cNvSpPr>
            <a:spLocks xmlns:a="http://schemas.openxmlformats.org/drawingml/2006/main" noGrp="1"/>
          </p:cNvSpPr>
          <p:nvPr/>
        </p:nvSpPr>
        <p:spPr>
          <a:xfrm xmlns:a="http://schemas.openxmlformats.org/drawingml/2006/main">
            <a:off x="4424363" y="3381375"/>
            <a:ext cx="571500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3  Register and reserve budget</a:t>
            </a:r>
          </a:p>
        </p:txBody>
      </p:sp>
      <p:cxnSp>
        <p:nvCxnSpPr>
          <p:cNvPr id="22" name="">
            <a:extLst xmlns:a="http://schemas.openxmlformats.org/drawingml/2006/main">
              <a:ext uri="{FF2B5EF4-FFF2-40B4-BE49-F238E27FC236}">
                <a16:creationId xmlns:a16="http://schemas.microsoft.com/office/drawing/2014/main" id="{89719FCB-526F-42C8-99E4-BC3F40859055}"/>
              </a:ext>
            </a:extLst>
          </p:cNvPr>
          <p:cNvCxnSpPr/>
          <p:nvPr/>
        </p:nvCxnSpPr>
        <p:spPr>
          <a:xfrm xmlns:a="http://schemas.openxmlformats.org/drawingml/2006/main">
            <a:off x="3724275" y="4029075"/>
            <a:ext cx="711517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23" name="4  Confirm registration">
            <a:extLst xmlns:a="http://schemas.openxmlformats.org/drawingml/2006/main">
              <a:ext uri="{FF2B5EF4-FFF2-40B4-BE49-F238E27FC236}">
                <a16:creationId xmlns:a16="http://schemas.microsoft.com/office/drawing/2014/main" id="{11B139B6-AFBC-4651-82E1-0275EB8FC79E}"/>
              </a:ext>
            </a:extLst>
          </p:cNvPr>
          <p:cNvSpPr>
            <a:spLocks xmlns:a="http://schemas.openxmlformats.org/drawingml/2006/main" noGrp="1"/>
          </p:cNvSpPr>
          <p:nvPr/>
        </p:nvSpPr>
        <p:spPr>
          <a:xfrm xmlns:a="http://schemas.openxmlformats.org/drawingml/2006/main">
            <a:off x="4424363" y="3752850"/>
            <a:ext cx="571500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4  Confirm registration</a:t>
            </a:r>
          </a:p>
        </p:txBody>
      </p:sp>
      <p:cxnSp>
        <p:nvCxnSpPr>
          <p:cNvPr id="24" name="">
            <a:extLst xmlns:a="http://schemas.openxmlformats.org/drawingml/2006/main">
              <a:ext uri="{FF2B5EF4-FFF2-40B4-BE49-F238E27FC236}">
                <a16:creationId xmlns:a16="http://schemas.microsoft.com/office/drawing/2014/main" id="{F8AA9531-71A2-4AC0-8A24-4DC8622BDA4E}"/>
              </a:ext>
            </a:extLst>
          </p:cNvPr>
          <p:cNvCxnSpPr/>
          <p:nvPr/>
        </p:nvCxnSpPr>
        <p:spPr>
          <a:xfrm xmlns:a="http://schemas.openxmlformats.org/drawingml/2006/main">
            <a:off x="3724275" y="4400550"/>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5" name="5  Send exact payment payload">
            <a:extLst xmlns:a="http://schemas.openxmlformats.org/drawingml/2006/main">
              <a:ext uri="{FF2B5EF4-FFF2-40B4-BE49-F238E27FC236}">
                <a16:creationId xmlns:a16="http://schemas.microsoft.com/office/drawing/2014/main" id="{B30FB14F-7675-4DA2-91DC-46AA9034F543}"/>
              </a:ext>
            </a:extLst>
          </p:cNvPr>
          <p:cNvSpPr>
            <a:spLocks xmlns:a="http://schemas.openxmlformats.org/drawingml/2006/main" noGrp="1"/>
          </p:cNvSpPr>
          <p:nvPr/>
        </p:nvSpPr>
        <p:spPr>
          <a:xfrm xmlns:a="http://schemas.openxmlformats.org/drawingml/2006/main">
            <a:off x="3338513" y="41243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5  Send exact payment payload</a:t>
            </a:r>
          </a:p>
        </p:txBody>
      </p:sp>
      <p:cxnSp>
        <p:nvCxnSpPr>
          <p:cNvPr id="26" name="">
            <a:extLst xmlns:a="http://schemas.openxmlformats.org/drawingml/2006/main">
              <a:ext uri="{FF2B5EF4-FFF2-40B4-BE49-F238E27FC236}">
                <a16:creationId xmlns:a16="http://schemas.microsoft.com/office/drawing/2014/main" id="{DFEC9F02-195F-4C7E-B7FA-E69B90407493}"/>
              </a:ext>
            </a:extLst>
          </p:cNvPr>
          <p:cNvCxnSpPr/>
          <p:nvPr/>
        </p:nvCxnSpPr>
        <p:spPr>
          <a:xfrm xmlns:a="http://schemas.openxmlformats.org/drawingml/2006/main">
            <a:off x="6096000" y="4772025"/>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7" name="6  Request settlement">
            <a:extLst xmlns:a="http://schemas.openxmlformats.org/drawingml/2006/main">
              <a:ext uri="{FF2B5EF4-FFF2-40B4-BE49-F238E27FC236}">
                <a16:creationId xmlns:a16="http://schemas.microsoft.com/office/drawing/2014/main" id="{F7916559-C6F1-4119-854F-392591191E49}"/>
              </a:ext>
            </a:extLst>
          </p:cNvPr>
          <p:cNvSpPr>
            <a:spLocks xmlns:a="http://schemas.openxmlformats.org/drawingml/2006/main" noGrp="1"/>
          </p:cNvSpPr>
          <p:nvPr/>
        </p:nvSpPr>
        <p:spPr>
          <a:xfrm xmlns:a="http://schemas.openxmlformats.org/drawingml/2006/main">
            <a:off x="5710238" y="4495800"/>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6  Request settlement</a:t>
            </a:r>
          </a:p>
        </p:txBody>
      </p:sp>
      <p:cxnSp>
        <p:nvCxnSpPr>
          <p:cNvPr id="28" name="">
            <a:extLst xmlns:a="http://schemas.openxmlformats.org/drawingml/2006/main">
              <a:ext uri="{FF2B5EF4-FFF2-40B4-BE49-F238E27FC236}">
                <a16:creationId xmlns:a16="http://schemas.microsoft.com/office/drawing/2014/main" id="{B410571C-179D-49CA-8324-A36539769961}"/>
              </a:ext>
            </a:extLst>
          </p:cNvPr>
          <p:cNvCxnSpPr/>
          <p:nvPr/>
        </p:nvCxnSpPr>
        <p:spPr>
          <a:xfrm xmlns:a="http://schemas.openxmlformats.org/drawingml/2006/main">
            <a:off x="8467725" y="5143500"/>
            <a:ext cx="23717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7  Settle USDC; check live authority">
            <a:extLst xmlns:a="http://schemas.openxmlformats.org/drawingml/2006/main">
              <a:ext uri="{FF2B5EF4-FFF2-40B4-BE49-F238E27FC236}">
                <a16:creationId xmlns:a16="http://schemas.microsoft.com/office/drawing/2014/main" id="{43F221F1-84C1-47B4-973E-618EDA178E46}"/>
              </a:ext>
            </a:extLst>
          </p:cNvPr>
          <p:cNvSpPr>
            <a:spLocks xmlns:a="http://schemas.openxmlformats.org/drawingml/2006/main" noGrp="1"/>
          </p:cNvSpPr>
          <p:nvPr/>
        </p:nvSpPr>
        <p:spPr>
          <a:xfrm xmlns:a="http://schemas.openxmlformats.org/drawingml/2006/main">
            <a:off x="8081963" y="486727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7  Settle USDC; check live authority</a:t>
            </a:r>
          </a:p>
        </p:txBody>
      </p:sp>
      <p:cxnSp>
        <p:nvCxnSpPr>
          <p:cNvPr id="30" name="">
            <a:extLst xmlns:a="http://schemas.openxmlformats.org/drawingml/2006/main">
              <a:ext uri="{FF2B5EF4-FFF2-40B4-BE49-F238E27FC236}">
                <a16:creationId xmlns:a16="http://schemas.microsoft.com/office/drawing/2014/main" id="{C22E8D6D-2329-49E7-A73C-F0FE7C3ADFC3}"/>
              </a:ext>
            </a:extLst>
          </p:cNvPr>
          <p:cNvCxnSpPr/>
          <p:nvPr/>
        </p:nvCxnSpPr>
        <p:spPr>
          <a:xfrm xmlns:a="http://schemas.openxmlformats.org/drawingml/2006/main">
            <a:off x="3724275" y="5514975"/>
            <a:ext cx="23717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1" name="8  Return data and signed receipt">
            <a:extLst xmlns:a="http://schemas.openxmlformats.org/drawingml/2006/main">
              <a:ext uri="{FF2B5EF4-FFF2-40B4-BE49-F238E27FC236}">
                <a16:creationId xmlns:a16="http://schemas.microsoft.com/office/drawing/2014/main" id="{59A270D1-07B1-4D99-BB11-AB6B5CEDDF4F}"/>
              </a:ext>
            </a:extLst>
          </p:cNvPr>
          <p:cNvSpPr>
            <a:spLocks xmlns:a="http://schemas.openxmlformats.org/drawingml/2006/main" noGrp="1"/>
          </p:cNvSpPr>
          <p:nvPr/>
        </p:nvSpPr>
        <p:spPr>
          <a:xfrm xmlns:a="http://schemas.openxmlformats.org/drawingml/2006/main">
            <a:off x="3338513" y="5238750"/>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8  Return data and signed receipt</a:t>
            </a:r>
          </a:p>
        </p:txBody>
      </p:sp>
      <p:cxnSp>
        <p:nvCxnSpPr>
          <p:cNvPr id="32" name="">
            <a:extLst xmlns:a="http://schemas.openxmlformats.org/drawingml/2006/main">
              <a:ext uri="{FF2B5EF4-FFF2-40B4-BE49-F238E27FC236}">
                <a16:creationId xmlns:a16="http://schemas.microsoft.com/office/drawing/2014/main" id="{0E060A1A-BE1C-420B-894E-571C75751AE2}"/>
              </a:ext>
            </a:extLst>
          </p:cNvPr>
          <p:cNvCxnSpPr/>
          <p:nvPr/>
        </p:nvCxnSpPr>
        <p:spPr>
          <a:xfrm xmlns:a="http://schemas.openxmlformats.org/drawingml/2006/main">
            <a:off x="1352550" y="5886450"/>
            <a:ext cx="23717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3" name="9  Report payment, service and result">
            <a:extLst xmlns:a="http://schemas.openxmlformats.org/drawingml/2006/main">
              <a:ext uri="{FF2B5EF4-FFF2-40B4-BE49-F238E27FC236}">
                <a16:creationId xmlns:a16="http://schemas.microsoft.com/office/drawing/2014/main" id="{AC32AA31-1295-4649-B254-22887995BDF1}"/>
              </a:ext>
            </a:extLst>
          </p:cNvPr>
          <p:cNvSpPr>
            <a:spLocks xmlns:a="http://schemas.openxmlformats.org/drawingml/2006/main" noGrp="1"/>
          </p:cNvSpPr>
          <p:nvPr/>
        </p:nvSpPr>
        <p:spPr>
          <a:xfrm xmlns:a="http://schemas.openxmlformats.org/drawingml/2006/main">
            <a:off x="966788" y="5610225"/>
            <a:ext cx="3143250" cy="257175"/>
          </a:xfrm>
          <a:prstGeom xmlns:a="http://schemas.openxmlformats.org/drawingml/2006/main" prst="rect">
            <a:avLst/>
          </a:prstGeom>
          <a:solidFill xmlns:a="http://schemas.openxmlformats.org/drawingml/2006/main">
            <a:srgbClr val="08090B"/>
          </a:solidFill>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stStyle>
          <a:p xmlns:a="http://schemas.openxmlformats.org/drawingml/2006/main">
            <a:pPr algn="ctr">
              <a:defRPr sz="1500" b="0">
                <a:solidFill>
                  <a:srgbClr val="F5F6F8"/>
                </a:solidFill>
                <a:latin typeface="Arial"/>
                <a:ea typeface="Arial"/>
                <a:cs typeface="Arial"/>
              </a:defRPr>
            </a:pPr>
            <a:r>
              <a:rPr sz="1500" b="0">
                <a:solidFill>
                  <a:srgbClr val="F5F6F8"/>
                </a:solidFill>
                <a:latin typeface="Arial"/>
                <a:ea typeface="Arial"/>
                <a:cs typeface="Arial"/>
              </a:rPr>
              <a:t>9  Return separate outcome states</a:t>
            </a:r>
          </a:p>
        </p:txBody>
      </p:sp>
    </p:spTree>
    <p:extLst>
      <p:ext uri="{BB962C8B-B14F-4D97-AF65-F5344CB8AC3E}">
        <p14:creationId xmlns:p14="http://schemas.microsoft.com/office/powerpoint/2010/main" val="328679669"/>
      </p:ext>
    </p:extLst>
  </p:cSld>
</p:sld>
</file>

<file path=ppt/slides/slide7.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4AC9E44B-82E0-493A-8033-E0BFFCB8135F}"/>
              </a:ext>
            </a:extLst>
          </p:cNvPr>
          <p:cNvPicPr>
            <a:picLocks xmlns:a="http://schemas.openxmlformats.org/drawingml/2006/main" noChangeAspect="1"/>
          </p:cNvPicPr>
          <p:nvPr/>
        </p:nvPicPr>
        <p:blipFill>
          <a:blip xmlns:r="http://schemas.openxmlformats.org/officeDocument/2006/relationships" xmlns:a="http://schemas.openxmlformats.org/drawingml/2006/main" r:embed="Rf5660b827e1a42d9">
            <a:extLst>
              <a:ext uri="{96DAC541-7B7A-43D3-8B79-37D633B846F1}">
                <asvg:svgBlip xmlns:asvg="http://schemas.microsoft.com/office/drawing/2016/SVG/main" r:embed="Rb922e06795d7404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Contract-enforced financial scope">
            <a:extLst xmlns:a="http://schemas.openxmlformats.org/drawingml/2006/main">
              <a:ext uri="{FF2B5EF4-FFF2-40B4-BE49-F238E27FC236}">
                <a16:creationId xmlns:a16="http://schemas.microsoft.com/office/drawing/2014/main" id="{341A6808-F752-410E-BF5A-473861618091}"/>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Contract-enforced financial scope</a:t>
            </a:r>
          </a:p>
        </p:txBody>
      </p:sp>
      <p:sp>
        <p:nvSpPr>
          <p:cNvPr id="4" name="Mandate Labs">
            <a:extLst xmlns:a="http://schemas.openxmlformats.org/drawingml/2006/main">
              <a:ext uri="{FF2B5EF4-FFF2-40B4-BE49-F238E27FC236}">
                <a16:creationId xmlns:a16="http://schemas.microsoft.com/office/drawing/2014/main" id="{48C252E3-F0F2-4FDE-9F75-03B6A0C63A01}"/>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7">
            <a:extLst xmlns:a="http://schemas.openxmlformats.org/drawingml/2006/main">
              <a:ext uri="{FF2B5EF4-FFF2-40B4-BE49-F238E27FC236}">
                <a16:creationId xmlns:a16="http://schemas.microsoft.com/office/drawing/2014/main" id="{69AEBFC0-C761-4ED4-9728-F79D6B5A400F}"/>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07</a:t>
            </a:r>
          </a:p>
        </p:txBody>
      </p:sp>
      <p:graphicFrame>
        <p:nvGraphicFramePr>
          <p:cNvPr id="6" name="">
            <a:extLst xmlns:a="http://schemas.openxmlformats.org/drawingml/2006/main">
              <a:ext uri="{FF2B5EF4-FFF2-40B4-BE49-F238E27FC236}">
                <a16:creationId xmlns:a16="http://schemas.microsoft.com/office/drawing/2014/main" id="{CD68F4CE-ABAD-4708-99BA-AF96D143F24F}"/>
              </a:ext>
            </a:extLst>
          </p:cNvPr>
          <p:cNvGraphicFramePr/>
          <p:nvPr/>
        </p:nvGraphicFramePr>
        <p:xfrm>
          <a:off xmlns:a="http://schemas.openxmlformats.org/drawingml/2006/main" x="609600" y="1981200"/>
          <a:ext xmlns:a="http://schemas.openxmlformats.org/drawingml/2006/main" cx="10972800" cy="3952875"/>
        </p:xfrm>
        <a:graphic xmlns:a="http://schemas.openxmlformats.org/drawingml/2006/main">
          <a:graphicData uri="http://schemas.openxmlformats.org/drawingml/2006/table">
            <a:tbl>
              <a:tblPr firstRow="1" bandRow="0"/>
              <a:tblGrid>
                <a:gridCol w="3143250"/>
                <a:gridCol w="7829550"/>
              </a:tblGrid>
              <a:tr h="658813">
                <a:tc>
                  <a:txBody>
                    <a:bodyPr wrap="square" lIns="133350" tIns="133350" rIns="133350" bIns="133350">
                      <a:noAutofit/>
                    </a:bodyPr>
                    <a:lstStyle/>
                    <a:p>
                      <a:r>
                        <a:rPr sz="1800" b="1">
                          <a:solidFill>
                            <a:srgbClr val="62ACFF"/>
                          </a:solidFill>
                          <a:latin typeface="Arial"/>
                          <a:ea typeface="Arial"/>
                          <a:cs typeface="Arial"/>
                        </a:rPr>
                        <a:t>Check</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Enforcement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658813">
                <a:tc>
                  <a:txBody>
                    <a:bodyPr wrap="square" lIns="133350" tIns="133350" rIns="133350" bIns="133350">
                      <a:noAutofit/>
                    </a:bodyPr>
                    <a:lstStyle/>
                    <a:p>
                      <a:r>
                        <a:rPr sz="1800" b="0">
                          <a:solidFill>
                            <a:srgbClr val="F5F6F8"/>
                          </a:solidFill>
                          <a:latin typeface="Arial"/>
                          <a:ea typeface="Arial"/>
                          <a:cs typeface="Arial"/>
                        </a:rPr>
                        <a:t>Scope</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Fixed asset, approved merchant and request</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658813">
                <a:tc>
                  <a:txBody>
                    <a:bodyPr wrap="square" lIns="133350" tIns="133350" rIns="133350" bIns="133350">
                      <a:noAutofit/>
                    </a:bodyPr>
                    <a:lstStyle/>
                    <a:p>
                      <a:r>
                        <a:rPr sz="1800" b="0">
                          <a:solidFill>
                            <a:srgbClr val="F5F6F8"/>
                          </a:solidFill>
                          <a:latin typeface="Arial"/>
                          <a:ea typeface="Arial"/>
                          <a:cs typeface="Arial"/>
                        </a:rPr>
                        <a:t>Shared budget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Atomic task and session reservations</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658813">
                <a:tc>
                  <a:txBody>
                    <a:bodyPr wrap="square" lIns="133350" tIns="133350" rIns="133350" bIns="133350">
                      <a:noAutofit/>
                    </a:bodyPr>
                    <a:lstStyle/>
                    <a:p>
                      <a:r>
                        <a:rPr sz="1800" b="0">
                          <a:solidFill>
                            <a:srgbClr val="F5F6F8"/>
                          </a:solidFill>
                          <a:latin typeface="Arial"/>
                          <a:ea typeface="Arial"/>
                          <a:cs typeface="Arial"/>
                        </a:rPr>
                        <a:t>Business retry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One used-step flag and deterministic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658813">
                <a:tc>
                  <a:txBody>
                    <a:bodyPr wrap="square" lIns="133350" tIns="133350" rIns="133350" bIns="133350">
                      <a:noAutofit/>
                    </a:bodyPr>
                    <a:lstStyle/>
                    <a:p>
                      <a:r>
                        <a:rPr sz="1800" b="0">
                          <a:solidFill>
                            <a:srgbClr val="F5F6F8"/>
                          </a:solidFill>
                          <a:latin typeface="Arial"/>
                          <a:ea typeface="Arial"/>
                          <a:cs typeface="Arial"/>
                        </a:rPr>
                        <a:t>Settlement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Registered digest with current version and epoch</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658813">
                <a:tc>
                  <a:txBody>
                    <a:bodyPr wrap="square" lIns="133350" tIns="133350" rIns="133350" bIns="133350">
                      <a:noAutofit/>
                    </a:bodyPr>
                    <a:lstStyle/>
                    <a:p>
                      <a:r>
                        <a:rPr sz="1800" b="0">
                          <a:solidFill>
                            <a:srgbClr val="F5F6F8"/>
                          </a:solidFill>
                          <a:latin typeface="Arial"/>
                          <a:ea typeface="Arial"/>
                          <a:cs typeface="Arial"/>
                        </a:rPr>
                        <a:t>Safe release</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Expired payment with unused token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Tree>
    <p:extLst>
      <p:ext uri="{BB962C8B-B14F-4D97-AF65-F5344CB8AC3E}">
        <p14:creationId xmlns:p14="http://schemas.microsoft.com/office/powerpoint/2010/main" val="1743430125"/>
      </p:ext>
    </p:extLst>
  </p:cSld>
</p:sld>
</file>

<file path=ppt/slides/slide8.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B55D788-F464-484D-B220-E41BDCAEED5D}"/>
              </a:ext>
            </a:extLst>
          </p:cNvPr>
          <p:cNvPicPr>
            <a:picLocks xmlns:a="http://schemas.openxmlformats.org/drawingml/2006/main" noChangeAspect="1"/>
          </p:cNvPicPr>
          <p:nvPr/>
        </p:nvPicPr>
        <p:blipFill>
          <a:blip xmlns:r="http://schemas.openxmlformats.org/officeDocument/2006/relationships" xmlns:a="http://schemas.openxmlformats.org/drawingml/2006/main" r:embed="R23ffea0f22e64577">
            <a:extLst>
              <a:ext uri="{96DAC541-7B7A-43D3-8B79-37D633B846F1}">
                <asvg:svgBlip xmlns:asvg="http://schemas.microsoft.com/office/drawing/2016/SVG/main" r:embed="R17fee36803f848c0"/>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One payment through a delivery failure">
            <a:extLst xmlns:a="http://schemas.openxmlformats.org/drawingml/2006/main">
              <a:ext uri="{FF2B5EF4-FFF2-40B4-BE49-F238E27FC236}">
                <a16:creationId xmlns:a16="http://schemas.microsoft.com/office/drawing/2014/main" id="{E217927B-3C19-4BF9-B53E-4462E9A6DD49}"/>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One payment through a delivery failure</a:t>
            </a:r>
          </a:p>
        </p:txBody>
      </p:sp>
      <p:sp>
        <p:nvSpPr>
          <p:cNvPr id="4" name="Mandate Labs">
            <a:extLst xmlns:a="http://schemas.openxmlformats.org/drawingml/2006/main">
              <a:ext uri="{FF2B5EF4-FFF2-40B4-BE49-F238E27FC236}">
                <a16:creationId xmlns:a16="http://schemas.microsoft.com/office/drawing/2014/main" id="{FC2E6B40-6ADB-438D-998C-52CDD178669A}"/>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8">
            <a:extLst xmlns:a="http://schemas.openxmlformats.org/drawingml/2006/main">
              <a:ext uri="{FF2B5EF4-FFF2-40B4-BE49-F238E27FC236}">
                <a16:creationId xmlns:a16="http://schemas.microsoft.com/office/drawing/2014/main" id="{7EE1F369-15AA-4435-9BD1-7A78C8039A64}"/>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1471B092-373A-4C0E-876F-2D3BE29D9E62}"/>
              </a:ext>
            </a:extLst>
          </p:cNvPr>
          <p:cNvGraphicFramePr/>
          <p:nvPr/>
        </p:nvGraphicFramePr>
        <p:xfrm>
          <a:off xmlns:a="http://schemas.openxmlformats.org/drawingml/2006/main" x="609600" y="2143125"/>
          <a:ext xmlns:a="http://schemas.openxmlformats.org/drawingml/2006/main" cx="10972800" cy="2333625"/>
        </p:xfrm>
        <a:graphic xmlns:a="http://schemas.openxmlformats.org/drawingml/2006/main">
          <a:graphicData uri="http://schemas.openxmlformats.org/drawingml/2006/table">
            <a:tbl>
              <a:tblPr firstRow="1" bandRow="0"/>
              <a:tblGrid>
                <a:gridCol w="4057650"/>
                <a:gridCol w="2305050"/>
                <a:gridCol w="2305050"/>
                <a:gridCol w="2305050"/>
              </a:tblGrid>
              <a:tr h="777875">
                <a:tc>
                  <a:txBody>
                    <a:bodyPr wrap="square" lIns="133350" tIns="133350" rIns="133350" bIns="133350">
                      <a:noAutofit/>
                    </a:bodyPr>
                    <a:lstStyle/>
                    <a:p>
                      <a:r>
                        <a:rPr sz="1800" b="1">
                          <a:solidFill>
                            <a:srgbClr val="62ACFF"/>
                          </a:solidFill>
                          <a:latin typeface="Arial"/>
                          <a:ea typeface="Arial"/>
                          <a:cs typeface="Arial"/>
                        </a:rPr>
                        <a:t>Observation</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Payment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Service</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Result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777875">
                <a:tc>
                  <a:txBody>
                    <a:bodyPr wrap="square" lIns="133350" tIns="133350" rIns="133350" bIns="133350">
                      <a:noAutofit/>
                    </a:bodyPr>
                    <a:lstStyle/>
                    <a:p>
                      <a:r>
                        <a:rPr sz="1800" b="0">
                          <a:solidFill>
                            <a:srgbClr val="F5F6F8"/>
                          </a:solidFill>
                          <a:latin typeface="Arial"/>
                          <a:ea typeface="Arial"/>
                          <a:cs typeface="Arial"/>
                        </a:rPr>
                        <a:t>First paid response</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failed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unchecked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777875">
                <a:tc>
                  <a:txBody>
                    <a:bodyPr wrap="square" lIns="133350" tIns="133350" rIns="133350" bIns="133350">
                      <a:noAutofit/>
                    </a:bodyPr>
                    <a:lstStyle/>
                    <a:p>
                      <a:r>
                        <a:rPr sz="1800" b="0">
                          <a:solidFill>
                            <a:srgbClr val="F5F6F8"/>
                          </a:solidFill>
                          <a:latin typeface="Arial"/>
                          <a:ea typeface="Arial"/>
                          <a:cs typeface="Arial"/>
                        </a:rPr>
                        <a:t>Same-order recovery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returned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valid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7" name="0.01 test USDC">
            <a:extLst xmlns:a="http://schemas.openxmlformats.org/drawingml/2006/main">
              <a:ext uri="{FF2B5EF4-FFF2-40B4-BE49-F238E27FC236}">
                <a16:creationId xmlns:a16="http://schemas.microsoft.com/office/drawing/2014/main" id="{73B90C6D-2E81-49F8-904A-8606A5043584}"/>
              </a:ext>
            </a:extLst>
          </p:cNvPr>
          <p:cNvSpPr>
            <a:spLocks xmlns:a="http://schemas.openxmlformats.org/drawingml/2006/main" noGrp="1"/>
          </p:cNvSpPr>
          <p:nvPr/>
        </p:nvSpPr>
        <p:spPr>
          <a:xfrm xmlns:a="http://schemas.openxmlformats.org/drawingml/2006/main">
            <a:off x="609600" y="4972050"/>
            <a:ext cx="6096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62ACFF"/>
                </a:solidFill>
                <a:latin typeface="Arial"/>
                <a:ea typeface="Arial"/>
                <a:cs typeface="Arial"/>
              </a:defRPr>
            </a:defPPr>
          </a:lstStyle>
          <a:p xmlns:a="http://schemas.openxmlformats.org/drawingml/2006/main">
            <a:pPr algn="l">
              <a:defRPr sz="3975" b="1">
                <a:solidFill>
                  <a:srgbClr val="62ACFF"/>
                </a:solidFill>
                <a:latin typeface="Arial"/>
                <a:ea typeface="Arial"/>
                <a:cs typeface="Arial"/>
              </a:defRPr>
            </a:pPr>
            <a:r>
              <a:rPr sz="3975" b="1">
                <a:solidFill>
                  <a:srgbClr val="62ACFF"/>
                </a:solidFill>
                <a:latin typeface="Arial"/>
                <a:ea typeface="Arial"/>
                <a:cs typeface="Arial"/>
              </a:rPr>
              <a:t>0.01 test USDC</a:t>
            </a:r>
          </a:p>
        </p:txBody>
      </p:sp>
      <p:sp>
        <p:nvSpPr>
          <p:cNvPr id="8" name="One settlement hash. One payment nonce.">
            <a:extLst xmlns:a="http://schemas.openxmlformats.org/drawingml/2006/main">
              <a:ext uri="{FF2B5EF4-FFF2-40B4-BE49-F238E27FC236}">
                <a16:creationId xmlns:a16="http://schemas.microsoft.com/office/drawing/2014/main" id="{11DAEB3B-FF56-4E39-ADE3-0C4E513533CE}"/>
              </a:ext>
            </a:extLst>
          </p:cNvPr>
          <p:cNvSpPr>
            <a:spLocks xmlns:a="http://schemas.openxmlformats.org/drawingml/2006/main" noGrp="1"/>
          </p:cNvSpPr>
          <p:nvPr/>
        </p:nvSpPr>
        <p:spPr>
          <a:xfrm xmlns:a="http://schemas.openxmlformats.org/drawingml/2006/main">
            <a:off x="609600" y="5781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stStyle>
          <a:p xmlns:a="http://schemas.openxmlformats.org/drawingml/2006/main">
            <a:pPr algn="l">
              <a:defRPr sz="2100" b="0">
                <a:solidFill>
                  <a:srgbClr val="A0A5AF"/>
                </a:solidFill>
                <a:latin typeface="Arial"/>
                <a:ea typeface="Arial"/>
                <a:cs typeface="Arial"/>
              </a:defRPr>
            </a:pPr>
            <a:r>
              <a:rPr sz="2100" b="0">
                <a:solidFill>
                  <a:srgbClr val="A0A5AF"/>
                </a:solidFill>
                <a:latin typeface="Arial"/>
                <a:ea typeface="Arial"/>
                <a:cs typeface="Arial"/>
              </a:rPr>
              <a:t>One settlement hash. One payment nonce.</a:t>
            </a:r>
          </a:p>
        </p:txBody>
      </p:sp>
    </p:spTree>
    <p:extLst>
      <p:ext uri="{BB962C8B-B14F-4D97-AF65-F5344CB8AC3E}">
        <p14:creationId xmlns:p14="http://schemas.microsoft.com/office/powerpoint/2010/main" val="1024538258"/>
      </p:ext>
    </p:extLst>
  </p:cSld>
</p:sld>
</file>

<file path=ppt/slides/slide9.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63E124A3-ED0F-4A7E-B14D-18D8285A1206}"/>
              </a:ext>
            </a:extLst>
          </p:cNvPr>
          <p:cNvPicPr>
            <a:picLocks xmlns:a="http://schemas.openxmlformats.org/drawingml/2006/main" noChangeAspect="1"/>
          </p:cNvPicPr>
          <p:nvPr/>
        </p:nvPicPr>
        <p:blipFill>
          <a:blip xmlns:r="http://schemas.openxmlformats.org/officeDocument/2006/relationships" xmlns:a="http://schemas.openxmlformats.org/drawingml/2006/main" r:embed="Rb191d289a0e448ac">
            <a:extLst>
              <a:ext uri="{96DAC541-7B7A-43D3-8B79-37D633B846F1}">
                <asvg:svgBlip xmlns:asvg="http://schemas.microsoft.com/office/drawing/2016/SVG/main" r:embed="R5a63f00a560847ca"/>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Revocation stops the next purchase">
            <a:extLst xmlns:a="http://schemas.openxmlformats.org/drawingml/2006/main">
              <a:ext uri="{FF2B5EF4-FFF2-40B4-BE49-F238E27FC236}">
                <a16:creationId xmlns:a16="http://schemas.microsoft.com/office/drawing/2014/main" id="{61C84B9A-9DCD-4DED-831F-58B512570AF4}"/>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Revocation stops the next purchase</a:t>
            </a:r>
          </a:p>
        </p:txBody>
      </p:sp>
      <p:sp>
        <p:nvSpPr>
          <p:cNvPr id="4" name="Mandate Labs">
            <a:extLst xmlns:a="http://schemas.openxmlformats.org/drawingml/2006/main">
              <a:ext uri="{FF2B5EF4-FFF2-40B4-BE49-F238E27FC236}">
                <a16:creationId xmlns:a16="http://schemas.microsoft.com/office/drawing/2014/main" id="{1EC4B954-759C-476C-B745-DF7293DE20B9}"/>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9">
            <a:extLst xmlns:a="http://schemas.openxmlformats.org/drawingml/2006/main">
              <a:ext uri="{FF2B5EF4-FFF2-40B4-BE49-F238E27FC236}">
                <a16:creationId xmlns:a16="http://schemas.microsoft.com/office/drawing/2014/main" id="{6B350B60-3810-42D7-BB78-39F3A2B59D4F}"/>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09</a:t>
            </a:r>
          </a:p>
        </p:txBody>
      </p:sp>
      <p:sp>
        <p:nvSpPr>
          <p:cNvPr id="6" name="Session revoked">
            <a:extLst xmlns:a="http://schemas.openxmlformats.org/drawingml/2006/main">
              <a:ext uri="{FF2B5EF4-FFF2-40B4-BE49-F238E27FC236}">
                <a16:creationId xmlns:a16="http://schemas.microsoft.com/office/drawing/2014/main" id="{E4CC481F-B95E-4AB5-9851-FB6FFA895416}"/>
              </a:ext>
            </a:extLst>
          </p:cNvPr>
          <p:cNvSpPr>
            <a:spLocks xmlns:a="http://schemas.openxmlformats.org/drawingml/2006/main" noGrp="1"/>
          </p:cNvSpPr>
          <p:nvPr/>
        </p:nvSpPr>
        <p:spPr>
          <a:xfrm xmlns:a="http://schemas.openxmlformats.org/drawingml/2006/main">
            <a:off x="609600" y="2209800"/>
            <a:ext cx="4762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stStyle>
          <a:p xmlns:a="http://schemas.openxmlformats.org/drawingml/2006/main">
            <a:pPr algn="l">
              <a:defRPr sz="3000" b="1">
                <a:solidFill>
                  <a:srgbClr val="62ACFF"/>
                </a:solidFill>
                <a:latin typeface="Arial"/>
                <a:ea typeface="Arial"/>
                <a:cs typeface="Arial"/>
              </a:defRPr>
            </a:pPr>
            <a:r>
              <a:rPr sz="3000" b="1">
                <a:solidFill>
                  <a:srgbClr val="62ACFF"/>
                </a:solidFill>
                <a:latin typeface="Arial"/>
                <a:ea typeface="Arial"/>
                <a:cs typeface="Arial"/>
              </a:rPr>
              <a:t>Session revoked</a:t>
            </a:r>
          </a:p>
        </p:txBody>
      </p:sp>
      <p:sp>
        <p:nvSpPr>
          <p:cNvPr id="7" name="Unused BTC step rejected&#10;before registration">
            <a:extLst xmlns:a="http://schemas.openxmlformats.org/drawingml/2006/main">
              <a:ext uri="{FF2B5EF4-FFF2-40B4-BE49-F238E27FC236}">
                <a16:creationId xmlns:a16="http://schemas.microsoft.com/office/drawing/2014/main" id="{C5502040-171C-4B08-81CE-8B4CC9FDFFEC}"/>
              </a:ext>
            </a:extLst>
          </p:cNvPr>
          <p:cNvSpPr>
            <a:spLocks xmlns:a="http://schemas.openxmlformats.org/drawingml/2006/main" noGrp="1"/>
          </p:cNvSpPr>
          <p:nvPr/>
        </p:nvSpPr>
        <p:spPr>
          <a:xfrm xmlns:a="http://schemas.openxmlformats.org/drawingml/2006/main">
            <a:off x="609600" y="3124200"/>
            <a:ext cx="4572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F5F6F8"/>
                </a:solidFill>
                <a:latin typeface="Arial"/>
                <a:ea typeface="Arial"/>
                <a:cs typeface="Arial"/>
              </a:defRPr>
            </a:defPPr>
          </a:lstStyle>
          <a:p xmlns:a="http://schemas.openxmlformats.org/drawingml/2006/main">
            <a:pPr algn="l">
              <a:defRPr sz="2400" b="0">
                <a:solidFill>
                  <a:srgbClr val="F5F6F8"/>
                </a:solidFill>
                <a:latin typeface="Arial"/>
                <a:ea typeface="Arial"/>
                <a:cs typeface="Arial"/>
              </a:defRPr>
            </a:pPr>
            <a:r>
              <a:rPr sz="2400" b="0">
                <a:solidFill>
                  <a:srgbClr val="F5F6F8"/>
                </a:solidFill>
                <a:latin typeface="Arial"/>
                <a:ea typeface="Arial"/>
                <a:cs typeface="Arial"/>
              </a:rPr>
              <a:t>Unused BTC step rejected</a:t>
            </a:r>
          </a:p>
          <a:p xmlns:a="http://schemas.openxmlformats.org/drawingml/2006/main">
            <a:pPr algn="l">
              <a:defRPr sz="2400" b="0">
                <a:solidFill>
                  <a:srgbClr val="F5F6F8"/>
                </a:solidFill>
                <a:latin typeface="Arial"/>
                <a:ea typeface="Arial"/>
                <a:cs typeface="Arial"/>
              </a:defRPr>
            </a:pPr>
            <a:r>
              <a:rPr sz="2400" b="0">
                <a:solidFill>
                  <a:srgbClr val="F5F6F8"/>
                </a:solidFill>
                <a:latin typeface="Arial"/>
                <a:ea typeface="Arial"/>
                <a:cs typeface="Arial"/>
              </a:rPr>
              <a:t>before registration</a:t>
            </a:r>
          </a:p>
        </p:txBody>
      </p:sp>
      <p:sp>
        <p:nvSpPr>
          <p:cNvPr id="8" name="0 new transactions">
            <a:extLst xmlns:a="http://schemas.openxmlformats.org/drawingml/2006/main">
              <a:ext uri="{FF2B5EF4-FFF2-40B4-BE49-F238E27FC236}">
                <a16:creationId xmlns:a16="http://schemas.microsoft.com/office/drawing/2014/main" id="{884FBB40-017F-4011-8AC6-7335610BF582}"/>
              </a:ext>
            </a:extLst>
          </p:cNvPr>
          <p:cNvSpPr>
            <a:spLocks xmlns:a="http://schemas.openxmlformats.org/drawingml/2006/main" noGrp="1"/>
          </p:cNvSpPr>
          <p:nvPr/>
        </p:nvSpPr>
        <p:spPr>
          <a:xfrm xmlns:a="http://schemas.openxmlformats.org/drawingml/2006/main">
            <a:off x="609600" y="4419600"/>
            <a:ext cx="45243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5F6F8"/>
                </a:solidFill>
                <a:latin typeface="Arial"/>
                <a:ea typeface="Arial"/>
                <a:cs typeface="Arial"/>
              </a:defRPr>
            </a:defPPr>
          </a:lstStyle>
          <a:p xmlns:a="http://schemas.openxmlformats.org/drawingml/2006/main">
            <a:pPr algn="l">
              <a:defRPr sz="3000" b="1">
                <a:solidFill>
                  <a:srgbClr val="F5F6F8"/>
                </a:solidFill>
                <a:latin typeface="Arial"/>
                <a:ea typeface="Arial"/>
                <a:cs typeface="Arial"/>
              </a:defRPr>
            </a:pPr>
            <a:r>
              <a:rPr sz="3000" b="1">
                <a:solidFill>
                  <a:srgbClr val="F5F6F8"/>
                </a:solidFill>
                <a:latin typeface="Arial"/>
                <a:ea typeface="Arial"/>
                <a:cs typeface="Arial"/>
              </a:rPr>
              <a:t>0 new transactions</a:t>
            </a:r>
          </a:p>
        </p:txBody>
      </p:sp>
      <p:sp>
        <p:nvSpPr>
          <p:cNvPr id="9" name="0.14 test USDC remains">
            <a:extLst xmlns:a="http://schemas.openxmlformats.org/drawingml/2006/main">
              <a:ext uri="{FF2B5EF4-FFF2-40B4-BE49-F238E27FC236}">
                <a16:creationId xmlns:a16="http://schemas.microsoft.com/office/drawing/2014/main" id="{01614219-1FB7-4FC4-8FDE-7AE8ECC5B72A}"/>
              </a:ext>
            </a:extLst>
          </p:cNvPr>
          <p:cNvSpPr>
            <a:spLocks xmlns:a="http://schemas.openxmlformats.org/drawingml/2006/main" noGrp="1"/>
          </p:cNvSpPr>
          <p:nvPr/>
        </p:nvSpPr>
        <p:spPr>
          <a:xfrm xmlns:a="http://schemas.openxmlformats.org/drawingml/2006/main">
            <a:off x="609600" y="5314950"/>
            <a:ext cx="4572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0A5AF"/>
                </a:solidFill>
                <a:latin typeface="Arial"/>
                <a:ea typeface="Arial"/>
                <a:cs typeface="Arial"/>
              </a:defRPr>
            </a:defPPr>
          </a:lstStyle>
          <a:p xmlns:a="http://schemas.openxmlformats.org/drawingml/2006/main">
            <a:pPr algn="l">
              <a:defRPr sz="2175" b="0">
                <a:solidFill>
                  <a:srgbClr val="A0A5AF"/>
                </a:solidFill>
                <a:latin typeface="Arial"/>
                <a:ea typeface="Arial"/>
                <a:cs typeface="Arial"/>
              </a:defRPr>
            </a:pPr>
            <a:r>
              <a:rPr sz="2175" b="0">
                <a:solidFill>
                  <a:srgbClr val="A0A5AF"/>
                </a:solidFill>
                <a:latin typeface="Arial"/>
                <a:ea typeface="Arial"/>
                <a:cs typeface="Arial"/>
              </a:rPr>
              <a:t>0.14 test USDC remains</a:t>
            </a:r>
          </a:p>
        </p:txBody>
      </p:sp>
      <p:pic>
        <p:nvPicPr>
          <p:cNvPr id="10" name="">
            <a:extLst xmlns:a="http://schemas.openxmlformats.org/drawingml/2006/main">
              <a:ext uri="{FF2B5EF4-FFF2-40B4-BE49-F238E27FC236}">
                <a16:creationId xmlns:a16="http://schemas.microsoft.com/office/drawing/2014/main" id="{BD271A5A-928D-4E7B-AAEB-4EEE0E603C9C}"/>
              </a:ext>
            </a:extLst>
          </p:cNvPr>
          <p:cNvPicPr>
            <a:picLocks xmlns:a="http://schemas.openxmlformats.org/drawingml/2006/main" noChangeAspect="1"/>
          </p:cNvPicPr>
          <p:nvPr/>
        </p:nvPicPr>
        <p:blipFill>
          <a:blip xmlns:r="http://schemas.openxmlformats.org/officeDocument/2006/relationships" xmlns:a="http://schemas.openxmlformats.org/drawingml/2006/main" r:embed="R42865f711a6c4219"/>
          <a:srcRect xmlns:a="http://schemas.openxmlformats.org/drawingml/2006/main" l="18000" t="13000" r="7000" b="12000"/>
          <a:stretch xmlns:a="http://schemas.openxmlformats.org/drawingml/2006/main"/>
        </p:blipFill>
        <p:spPr>
          <a:xfrm xmlns:a="http://schemas.openxmlformats.org/drawingml/2006/main">
            <a:off x="5257800" y="2076450"/>
            <a:ext cx="6334125" cy="3829050"/>
          </a:xfrm>
          <a:prstGeom xmlns:a="http://schemas.openxmlformats.org/drawingml/2006/main" prst="rect">
            <a:avLst/>
          </a:prstGeom>
        </p:spPr>
      </p:pic>
    </p:spTree>
    <p:extLst>
      <p:ext uri="{BB962C8B-B14F-4D97-AF65-F5344CB8AC3E}">
        <p14:creationId xmlns:p14="http://schemas.microsoft.com/office/powerpoint/2010/main" val="412980868"/>
      </p:ext>
    </p:extLst>
  </p:cSld>
</p:sld>
</file>

<file path=ppt/slides/slide10.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EBCDE561-E60A-4B27-A240-B01B75DF908C}"/>
              </a:ext>
            </a:extLst>
          </p:cNvPr>
          <p:cNvPicPr>
            <a:picLocks xmlns:a="http://schemas.openxmlformats.org/drawingml/2006/main" noChangeAspect="1"/>
          </p:cNvPicPr>
          <p:nvPr/>
        </p:nvPicPr>
        <p:blipFill>
          <a:blip xmlns:r="http://schemas.openxmlformats.org/officeDocument/2006/relationships" xmlns:a="http://schemas.openxmlformats.org/drawingml/2006/main" r:embed="Ra1f7754f61a94e6c">
            <a:extLst>
              <a:ext uri="{96DAC541-7B7A-43D3-8B79-37D633B846F1}">
                <asvg:svgBlip xmlns:asvg="http://schemas.microsoft.com/office/drawing/2016/SVG/main" r:embed="Rb1d4b1f462c244c6"/>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Evidence guarantees and their limits">
            <a:extLst xmlns:a="http://schemas.openxmlformats.org/drawingml/2006/main">
              <a:ext uri="{FF2B5EF4-FFF2-40B4-BE49-F238E27FC236}">
                <a16:creationId xmlns:a16="http://schemas.microsoft.com/office/drawing/2014/main" id="{ECDACD53-D29D-4496-948F-0BB1D2B39CC3}"/>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Evidence guarantees and their limits</a:t>
            </a:r>
          </a:p>
        </p:txBody>
      </p:sp>
      <p:sp>
        <p:nvSpPr>
          <p:cNvPr id="4" name="Mandate Labs">
            <a:extLst xmlns:a="http://schemas.openxmlformats.org/drawingml/2006/main">
              <a:ext uri="{FF2B5EF4-FFF2-40B4-BE49-F238E27FC236}">
                <a16:creationId xmlns:a16="http://schemas.microsoft.com/office/drawing/2014/main" id="{874B93B8-0EFC-4F21-8B36-12EC29F75410}"/>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0">
            <a:extLst xmlns:a="http://schemas.openxmlformats.org/drawingml/2006/main">
              <a:ext uri="{FF2B5EF4-FFF2-40B4-BE49-F238E27FC236}">
                <a16:creationId xmlns:a16="http://schemas.microsoft.com/office/drawing/2014/main" id="{52258D64-97DF-4144-953B-9868E95CA369}"/>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10</a:t>
            </a:r>
          </a:p>
        </p:txBody>
      </p:sp>
      <p:graphicFrame>
        <p:nvGraphicFramePr>
          <p:cNvPr id="6" name="">
            <a:extLst xmlns:a="http://schemas.openxmlformats.org/drawingml/2006/main">
              <a:ext uri="{FF2B5EF4-FFF2-40B4-BE49-F238E27FC236}">
                <a16:creationId xmlns:a16="http://schemas.microsoft.com/office/drawing/2014/main" id="{98BDBE0B-D43B-403B-AD56-8B970712D31D}"/>
              </a:ext>
            </a:extLst>
          </p:cNvPr>
          <p:cNvGraphicFramePr/>
          <p:nvPr/>
        </p:nvGraphicFramePr>
        <p:xfrm>
          <a:off xmlns:a="http://schemas.openxmlformats.org/drawingml/2006/main" x="609600" y="2085975"/>
          <a:ext xmlns:a="http://schemas.openxmlformats.org/drawingml/2006/main" cx="10972800" cy="3143250"/>
        </p:xfrm>
        <a:graphic xmlns:a="http://schemas.openxmlformats.org/drawingml/2006/main">
          <a:graphicData uri="http://schemas.openxmlformats.org/drawingml/2006/table">
            <a:tbl>
              <a:tblPr firstRow="1" bandRow="0"/>
              <a:tblGrid>
                <a:gridCol w="5715000"/>
                <a:gridCol w="5257800"/>
              </a:tblGrid>
              <a:tr h="785813">
                <a:tc>
                  <a:txBody>
                    <a:bodyPr wrap="square" lIns="133350" tIns="133350" rIns="133350" bIns="133350">
                      <a:noAutofit/>
                    </a:bodyPr>
                    <a:lstStyle/>
                    <a:p>
                      <a:r>
                        <a:rPr sz="1800" b="1">
                          <a:solidFill>
                            <a:srgbClr val="62ACFF"/>
                          </a:solidFill>
                          <a:latin typeface="Arial"/>
                          <a:ea typeface="Arial"/>
                          <a:cs typeface="Arial"/>
                        </a:rPr>
                        <a:t>Confirmed in this run</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Still unproven</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785813">
                <a:tc>
                  <a:txBody>
                    <a:bodyPr wrap="square" lIns="133350" tIns="133350" rIns="133350" bIns="133350">
                      <a:noAutofit/>
                    </a:bodyPr>
                    <a:lstStyle/>
                    <a:p>
                      <a:r>
                        <a:rPr sz="1800" b="0">
                          <a:solidFill>
                            <a:srgbClr val="F5F6F8"/>
                          </a:solidFill>
                          <a:latin typeface="Arial"/>
                          <a:ea typeface="Arial"/>
                          <a:cs typeface="Arial"/>
                        </a:rPr>
                        <a:t>Registration authority and budget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Independent HTTPS provenance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785813">
                <a:tc>
                  <a:txBody>
                    <a:bodyPr wrap="square" lIns="133350" tIns="133350" rIns="133350" bIns="133350">
                      <a:noAutofit/>
                    </a:bodyPr>
                    <a:lstStyle/>
                    <a:p>
                      <a:r>
                        <a:rPr sz="1800" b="0">
                          <a:solidFill>
                            <a:srgbClr val="F5F6F8"/>
                          </a:solidFill>
                          <a:latin typeface="Arial"/>
                          <a:ea typeface="Arial"/>
                          <a:cs typeface="Arial"/>
                        </a:rPr>
                        <a:t>One matching USDC payment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Complete unobserved history</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785813">
                <a:tc>
                  <a:txBody>
                    <a:bodyPr wrap="square" lIns="133350" tIns="133350" rIns="133350" bIns="133350">
                      <a:noAutofit/>
                    </a:bodyPr>
                    <a:lstStyle/>
                    <a:p>
                      <a:r>
                        <a:rPr sz="1800" b="0">
                          <a:solidFill>
                            <a:srgbClr val="F5F6F8"/>
                          </a:solidFill>
                          <a:latin typeface="Arial"/>
                          <a:ea typeface="Arial"/>
                          <a:cs typeface="Arial"/>
                        </a:rPr>
                        <a:t>Signed offer, receipt and fixed result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Isolation from an administrator on the same host</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7" name="Required financial checks passed. Overall report: incomplete.">
            <a:extLst xmlns:a="http://schemas.openxmlformats.org/drawingml/2006/main">
              <a:ext uri="{FF2B5EF4-FFF2-40B4-BE49-F238E27FC236}">
                <a16:creationId xmlns:a16="http://schemas.microsoft.com/office/drawing/2014/main" id="{B1C1D0A5-9EE7-4A2E-889F-11F723317CE2}"/>
              </a:ext>
            </a:extLst>
          </p:cNvPr>
          <p:cNvSpPr>
            <a:spLocks xmlns:a="http://schemas.openxmlformats.org/drawingml/2006/main" noGrp="1"/>
          </p:cNvSpPr>
          <p:nvPr/>
        </p:nvSpPr>
        <p:spPr>
          <a:xfrm xmlns:a="http://schemas.openxmlformats.org/drawingml/2006/main">
            <a:off x="609600" y="56007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62ACFF"/>
                </a:solidFill>
                <a:latin typeface="Arial"/>
                <a:ea typeface="Arial"/>
                <a:cs typeface="Arial"/>
              </a:defRPr>
            </a:defPPr>
          </a:lstStyle>
          <a:p xmlns:a="http://schemas.openxmlformats.org/drawingml/2006/main">
            <a:pPr algn="l">
              <a:defRPr sz="2250" b="1">
                <a:solidFill>
                  <a:srgbClr val="62ACFF"/>
                </a:solidFill>
                <a:latin typeface="Arial"/>
                <a:ea typeface="Arial"/>
                <a:cs typeface="Arial"/>
              </a:defRPr>
            </a:pPr>
            <a:r>
              <a:rPr sz="2250" b="1">
                <a:solidFill>
                  <a:srgbClr val="62ACFF"/>
                </a:solidFill>
                <a:latin typeface="Arial"/>
                <a:ea typeface="Arial"/>
                <a:cs typeface="Arial"/>
              </a:rPr>
              <a:t>Required financial checks passed. Overall report: incomplete.</a:t>
            </a:r>
          </a:p>
        </p:txBody>
      </p:sp>
    </p:spTree>
    <p:extLst>
      <p:ext uri="{BB962C8B-B14F-4D97-AF65-F5344CB8AC3E}">
        <p14:creationId xmlns:p14="http://schemas.microsoft.com/office/powerpoint/2010/main" val="2040214711"/>
      </p:ext>
    </p:extLst>
  </p:cSld>
</p:sld>
</file>

<file path=ppt/slides/slide1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9B4BBB1A-621B-4432-9F4D-0F16E75E2C3E}"/>
              </a:ext>
            </a:extLst>
          </p:cNvPr>
          <p:cNvPicPr>
            <a:picLocks xmlns:a="http://schemas.openxmlformats.org/drawingml/2006/main" noChangeAspect="1"/>
          </p:cNvPicPr>
          <p:nvPr/>
        </p:nvPicPr>
        <p:blipFill>
          <a:blip xmlns:r="http://schemas.openxmlformats.org/officeDocument/2006/relationships" xmlns:a="http://schemas.openxmlformats.org/drawingml/2006/main" r:embed="Recf001b566e44097">
            <a:extLst>
              <a:ext uri="{96DAC541-7B7A-43D3-8B79-37D633B846F1}">
                <asvg:svgBlip xmlns:asvg="http://schemas.microsoft.com/office/drawing/2016/SVG/main" r:embed="R9e1ffc6659204534"/>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Evaluation and measured overhead">
            <a:extLst xmlns:a="http://schemas.openxmlformats.org/drawingml/2006/main">
              <a:ext uri="{FF2B5EF4-FFF2-40B4-BE49-F238E27FC236}">
                <a16:creationId xmlns:a16="http://schemas.microsoft.com/office/drawing/2014/main" id="{246FD577-33D0-4816-89C9-CB54ECA2F945}"/>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Evaluation and measured overhead</a:t>
            </a:r>
          </a:p>
        </p:txBody>
      </p:sp>
      <p:sp>
        <p:nvSpPr>
          <p:cNvPr id="4" name="Mandate Labs">
            <a:extLst xmlns:a="http://schemas.openxmlformats.org/drawingml/2006/main">
              <a:ext uri="{FF2B5EF4-FFF2-40B4-BE49-F238E27FC236}">
                <a16:creationId xmlns:a16="http://schemas.microsoft.com/office/drawing/2014/main" id="{82E910D2-D346-4440-B387-5CD36440B6EF}"/>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1">
            <a:extLst xmlns:a="http://schemas.openxmlformats.org/drawingml/2006/main">
              <a:ext uri="{FF2B5EF4-FFF2-40B4-BE49-F238E27FC236}">
                <a16:creationId xmlns:a16="http://schemas.microsoft.com/office/drawing/2014/main" id="{880026DD-280C-4D5C-A691-EBDD39FEC748}"/>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11</a:t>
            </a:r>
          </a:p>
        </p:txBody>
      </p:sp>
      <p:sp>
        <p:nvSpPr>
          <p:cNvPr id="6" name="120 tasks">
            <a:extLst xmlns:a="http://schemas.openxmlformats.org/drawingml/2006/main">
              <a:ext uri="{FF2B5EF4-FFF2-40B4-BE49-F238E27FC236}">
                <a16:creationId xmlns:a16="http://schemas.microsoft.com/office/drawing/2014/main" id="{E6BE2C8C-8DAF-486D-9E31-8726C8522150}"/>
              </a:ext>
            </a:extLst>
          </p:cNvPr>
          <p:cNvSpPr>
            <a:spLocks xmlns:a="http://schemas.openxmlformats.org/drawingml/2006/main" noGrp="1"/>
          </p:cNvSpPr>
          <p:nvPr/>
        </p:nvSpPr>
        <p:spPr>
          <a:xfrm xmlns:a="http://schemas.openxmlformats.org/drawingml/2006/main">
            <a:off x="609600" y="1971675"/>
            <a:ext cx="409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62ACFF"/>
                </a:solidFill>
                <a:latin typeface="Arial"/>
                <a:ea typeface="Arial"/>
                <a:cs typeface="Arial"/>
              </a:defRPr>
            </a:defPPr>
          </a:lstStyle>
          <a:p xmlns:a="http://schemas.openxmlformats.org/drawingml/2006/main">
            <a:pPr algn="l">
              <a:defRPr sz="3600" b="1">
                <a:solidFill>
                  <a:srgbClr val="62ACFF"/>
                </a:solidFill>
                <a:latin typeface="Arial"/>
                <a:ea typeface="Arial"/>
                <a:cs typeface="Arial"/>
              </a:defRPr>
            </a:pPr>
            <a:r>
              <a:rPr sz="3600" b="1">
                <a:solidFill>
                  <a:srgbClr val="62ACFF"/>
                </a:solidFill>
                <a:latin typeface="Arial"/>
                <a:ea typeface="Arial"/>
                <a:cs typeface="Arial"/>
              </a:rPr>
              <a:t>120 tasks</a:t>
            </a:r>
          </a:p>
        </p:txBody>
      </p:sp>
      <p:sp>
        <p:nvSpPr>
          <p:cNvPr id="7" name="132 settlements; no duplicate payments">
            <a:extLst xmlns:a="http://schemas.openxmlformats.org/drawingml/2006/main">
              <a:ext uri="{FF2B5EF4-FFF2-40B4-BE49-F238E27FC236}">
                <a16:creationId xmlns:a16="http://schemas.microsoft.com/office/drawing/2014/main" id="{D698FC22-BE23-405B-83F8-2A3BEB9A3338}"/>
              </a:ext>
            </a:extLst>
          </p:cNvPr>
          <p:cNvSpPr>
            <a:spLocks xmlns:a="http://schemas.openxmlformats.org/drawingml/2006/main" noGrp="1"/>
          </p:cNvSpPr>
          <p:nvPr/>
        </p:nvSpPr>
        <p:spPr>
          <a:xfrm xmlns:a="http://schemas.openxmlformats.org/drawingml/2006/main">
            <a:off x="628650" y="2638425"/>
            <a:ext cx="40576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6F8"/>
                </a:solidFill>
                <a:latin typeface="Arial"/>
                <a:ea typeface="Arial"/>
                <a:cs typeface="Arial"/>
              </a:defRPr>
            </a:defPPr>
          </a:lstStyle>
          <a:p xmlns:a="http://schemas.openxmlformats.org/drawingml/2006/main">
            <a:pPr algn="l">
              <a:defRPr sz="2025" b="0">
                <a:solidFill>
                  <a:srgbClr val="F5F6F8"/>
                </a:solidFill>
                <a:latin typeface="Arial"/>
                <a:ea typeface="Arial"/>
                <a:cs typeface="Arial"/>
              </a:defRPr>
            </a:pPr>
            <a:r>
              <a:rPr sz="2025" b="0">
                <a:solidFill>
                  <a:srgbClr val="F5F6F8"/>
                </a:solidFill>
                <a:latin typeface="Arial"/>
                <a:ea typeface="Arial"/>
                <a:cs typeface="Arial"/>
              </a:rPr>
              <a:t>132 settlements; no duplicate payments</a:t>
            </a:r>
          </a:p>
        </p:txBody>
      </p:sp>
      <p:sp>
        <p:nvSpPr>
          <p:cNvPr id="8" name="10,000 invalid calls">
            <a:extLst xmlns:a="http://schemas.openxmlformats.org/drawingml/2006/main">
              <a:ext uri="{FF2B5EF4-FFF2-40B4-BE49-F238E27FC236}">
                <a16:creationId xmlns:a16="http://schemas.microsoft.com/office/drawing/2014/main" id="{3A36EFC0-ADAC-4CAB-B4F3-8CDDAFDE703B}"/>
              </a:ext>
            </a:extLst>
          </p:cNvPr>
          <p:cNvSpPr>
            <a:spLocks xmlns:a="http://schemas.openxmlformats.org/drawingml/2006/main" noGrp="1"/>
          </p:cNvSpPr>
          <p:nvPr/>
        </p:nvSpPr>
        <p:spPr>
          <a:xfrm xmlns:a="http://schemas.openxmlformats.org/drawingml/2006/main">
            <a:off x="609600" y="3857625"/>
            <a:ext cx="42576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F5F6F8"/>
                </a:solidFill>
                <a:latin typeface="Arial"/>
                <a:ea typeface="Arial"/>
                <a:cs typeface="Arial"/>
              </a:defRPr>
            </a:defPPr>
          </a:lstStyle>
          <a:p xmlns:a="http://schemas.openxmlformats.org/drawingml/2006/main">
            <a:pPr algn="l">
              <a:defRPr sz="3150" b="1">
                <a:solidFill>
                  <a:srgbClr val="F5F6F8"/>
                </a:solidFill>
                <a:latin typeface="Arial"/>
                <a:ea typeface="Arial"/>
                <a:cs typeface="Arial"/>
              </a:defRPr>
            </a:pPr>
            <a:r>
              <a:rPr sz="3150" b="1">
                <a:solidFill>
                  <a:srgbClr val="F5F6F8"/>
                </a:solidFill>
                <a:latin typeface="Arial"/>
                <a:ea typeface="Arial"/>
                <a:cs typeface="Arial"/>
              </a:rPr>
              <a:t>10,000 invalid calls</a:t>
            </a:r>
          </a:p>
        </p:txBody>
      </p:sp>
      <p:sp>
        <p:nvSpPr>
          <p:cNvPr id="9" name="20 explicit invalid categories&#10;6 legal controls">
            <a:extLst xmlns:a="http://schemas.openxmlformats.org/drawingml/2006/main">
              <a:ext uri="{FF2B5EF4-FFF2-40B4-BE49-F238E27FC236}">
                <a16:creationId xmlns:a16="http://schemas.microsoft.com/office/drawing/2014/main" id="{2A1AC6F5-1800-46FA-BF5F-70A515DB8EDA}"/>
              </a:ext>
            </a:extLst>
          </p:cNvPr>
          <p:cNvSpPr>
            <a:spLocks xmlns:a="http://schemas.openxmlformats.org/drawingml/2006/main" noGrp="1"/>
          </p:cNvSpPr>
          <p:nvPr/>
        </p:nvSpPr>
        <p:spPr>
          <a:xfrm xmlns:a="http://schemas.openxmlformats.org/drawingml/2006/main">
            <a:off x="628650" y="4533900"/>
            <a:ext cx="41910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0A5AF"/>
                </a:solidFill>
                <a:latin typeface="Arial"/>
                <a:ea typeface="Arial"/>
                <a:cs typeface="Arial"/>
              </a:defRPr>
            </a:defPPr>
          </a:lstStyle>
          <a:p xmlns:a="http://schemas.openxmlformats.org/drawingml/2006/main">
            <a:pPr algn="l">
              <a:defRPr sz="1950" b="0">
                <a:solidFill>
                  <a:srgbClr val="A0A5AF"/>
                </a:solidFill>
                <a:latin typeface="Arial"/>
                <a:ea typeface="Arial"/>
                <a:cs typeface="Arial"/>
              </a:defRPr>
            </a:pPr>
            <a:r>
              <a:rPr sz="1950" b="0">
                <a:solidFill>
                  <a:srgbClr val="A0A5AF"/>
                </a:solidFill>
                <a:latin typeface="Arial"/>
                <a:ea typeface="Arial"/>
                <a:cs typeface="Arial"/>
              </a:rPr>
              <a:t>20 explicit invalid categories</a:t>
            </a:r>
          </a:p>
          <a:p xmlns:a="http://schemas.openxmlformats.org/drawingml/2006/main">
            <a:pPr algn="l">
              <a:defRPr sz="1950" b="0">
                <a:solidFill>
                  <a:srgbClr val="A0A5AF"/>
                </a:solidFill>
                <a:latin typeface="Arial"/>
                <a:ea typeface="Arial"/>
                <a:cs typeface="Arial"/>
              </a:defRPr>
            </a:pPr>
            <a:r>
              <a:rPr sz="1950" b="0">
                <a:solidFill>
                  <a:srgbClr val="A0A5AF"/>
                </a:solidFill>
                <a:latin typeface="Arial"/>
                <a:ea typeface="Arial"/>
                <a:cs typeface="Arial"/>
              </a:rPr>
              <a:t>6 legal controls</a:t>
            </a:r>
          </a:p>
        </p:txBody>
      </p:sp>
      <p:sp>
        <p:nvSpPr>
          <p:cNvPr id="10" name="Local full-task median (ms)">
            <a:extLst xmlns:a="http://schemas.openxmlformats.org/drawingml/2006/main">
              <a:ext uri="{FF2B5EF4-FFF2-40B4-BE49-F238E27FC236}">
                <a16:creationId xmlns:a16="http://schemas.microsoft.com/office/drawing/2014/main" id="{C58A29EC-066E-4492-8D80-30F95C2CF20F}"/>
              </a:ext>
            </a:extLst>
          </p:cNvPr>
          <p:cNvSpPr>
            <a:spLocks xmlns:a="http://schemas.openxmlformats.org/drawingml/2006/main" noGrp="1"/>
          </p:cNvSpPr>
          <p:nvPr/>
        </p:nvSpPr>
        <p:spPr>
          <a:xfrm xmlns:a="http://schemas.openxmlformats.org/drawingml/2006/main">
            <a:off x="5353050" y="1933575"/>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2ACFF"/>
                </a:solidFill>
                <a:latin typeface="Arial"/>
                <a:ea typeface="Arial"/>
                <a:cs typeface="Arial"/>
              </a:defRPr>
            </a:defPPr>
          </a:lstStyle>
          <a:p xmlns:a="http://schemas.openxmlformats.org/drawingml/2006/main">
            <a:pPr algn="l">
              <a:defRPr sz="2025" b="1">
                <a:solidFill>
                  <a:srgbClr val="62ACFF"/>
                </a:solidFill>
                <a:latin typeface="Arial"/>
                <a:ea typeface="Arial"/>
                <a:cs typeface="Arial"/>
              </a:defRPr>
            </a:pPr>
            <a:r>
              <a:rPr sz="2025" b="1">
                <a:solidFill>
                  <a:srgbClr val="62ACFF"/>
                </a:solidFill>
                <a:latin typeface="Arial"/>
                <a:ea typeface="Arial"/>
                <a:cs typeface="Arial"/>
              </a:rPr>
              <a:t>Local full-task median (ms)</a:t>
            </a:r>
          </a:p>
        </p:txBody>
      </p:sp>
      <p:graphicFrame>
        <p:nvGraphicFramePr>
          <p:cNvPr id="11" name="Chart">
            <a:extLst xmlns:a="http://schemas.openxmlformats.org/drawingml/2006/main">
              <a:ext uri="{FF2B5EF4-FFF2-40B4-BE49-F238E27FC236}">
                <a16:creationId xmlns:a16="http://schemas.microsoft.com/office/drawing/2014/main" id="{66ED1A2B-7660-4781-82B4-A7D267D9F7E4}"/>
              </a:ext>
            </a:extLst>
          </p:cNvPr>
          <p:cNvGraphicFramePr/>
          <p:nvPr/>
        </p:nvGraphicFramePr>
        <p:xfrm>
          <a:off xmlns:a="http://schemas.openxmlformats.org/drawingml/2006/main" x="5238750" y="2581275"/>
          <a:ext xmlns:a="http://schemas.openxmlformats.org/drawingml/2006/main" cx="6343650" cy="3048000"/>
        </p:xfrm>
        <a:graphic xmlns:a="http://schemas.openxmlformats.org/drawingml/2006/main">
          <a:graphicData uri="http://schemas.openxmlformats.org/drawingml/2006/chart">
            <c:chart xmlns:r="http://schemas.openxmlformats.org/officeDocument/2006/relationships" xmlns:c="http://schemas.openxmlformats.org/drawingml/2006/chart" r:id="R961bc2ebb691419e"/>
          </a:graphicData>
        </a:graphic>
      </p:graphicFrame>
      <p:sp>
        <p:nvSpPr>
          <p:cNvPr id="12" name="n=30 per group on a local chain. Setup excluded; export/verificat">
            <a:extLst xmlns:a="http://schemas.openxmlformats.org/drawingml/2006/main">
              <a:ext uri="{FF2B5EF4-FFF2-40B4-BE49-F238E27FC236}">
                <a16:creationId xmlns:a16="http://schemas.microsoft.com/office/drawing/2014/main" id="{8A7ED302-089A-4B3F-8DEC-F9CA9DB9058E}"/>
              </a:ext>
            </a:extLst>
          </p:cNvPr>
          <p:cNvSpPr>
            <a:spLocks xmlns:a="http://schemas.openxmlformats.org/drawingml/2006/main" noGrp="1"/>
          </p:cNvSpPr>
          <p:nvPr/>
        </p:nvSpPr>
        <p:spPr>
          <a:xfrm xmlns:a="http://schemas.openxmlformats.org/drawingml/2006/main">
            <a:off x="609600" y="59055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0A5AF"/>
                </a:solidFill>
                <a:latin typeface="Arial"/>
                <a:ea typeface="Arial"/>
                <a:cs typeface="Arial"/>
              </a:defRPr>
            </a:defPPr>
          </a:lstStyle>
          <a:p xmlns:a="http://schemas.openxmlformats.org/drawingml/2006/main">
            <a:pPr algn="l">
              <a:defRPr sz="1425" b="0">
                <a:solidFill>
                  <a:srgbClr val="A0A5AF"/>
                </a:solidFill>
                <a:latin typeface="Arial"/>
                <a:ea typeface="Arial"/>
                <a:cs typeface="Arial"/>
              </a:defRPr>
            </a:pPr>
            <a:r>
              <a:rPr sz="1425" b="0">
                <a:solidFill>
                  <a:srgbClr val="A0A5AF"/>
                </a:solidFill>
                <a:latin typeface="Arial"/>
                <a:ea typeface="Arial"/>
                <a:cs typeface="Arial"/>
              </a:rPr>
              <a:t>n=30 per group on a local chain. Setup excluded; export/verification included where applicable.</a:t>
            </a:r>
          </a:p>
        </p:txBody>
      </p:sp>
    </p:spTree>
    <p:extLst>
      <p:ext uri="{BB962C8B-B14F-4D97-AF65-F5344CB8AC3E}">
        <p14:creationId xmlns:p14="http://schemas.microsoft.com/office/powerpoint/2010/main" val="830846624"/>
      </p:ext>
    </p:extLst>
  </p:cSld>
</p:sld>
</file>

<file path=ppt/slides/slide1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9820DEB-0784-4C8D-9BC5-BD2901CEC4DE}"/>
              </a:ext>
            </a:extLst>
          </p:cNvPr>
          <p:cNvPicPr>
            <a:picLocks xmlns:a="http://schemas.openxmlformats.org/drawingml/2006/main" noChangeAspect="1"/>
          </p:cNvPicPr>
          <p:nvPr/>
        </p:nvPicPr>
        <p:blipFill>
          <a:blip xmlns:r="http://schemas.openxmlformats.org/officeDocument/2006/relationships" xmlns:a="http://schemas.openxmlformats.org/drawingml/2006/main" r:embed="Rbc57855229324138">
            <a:extLst>
              <a:ext uri="{96DAC541-7B7A-43D3-8B79-37D633B846F1}">
                <asvg:svgBlip xmlns:asvg="http://schemas.microsoft.com/office/drawing/2016/SVG/main" r:embed="Rb0527dd98f3445ba"/>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Echo, Mandate and the research proposal">
            <a:extLst xmlns:a="http://schemas.openxmlformats.org/drawingml/2006/main">
              <a:ext uri="{FF2B5EF4-FFF2-40B4-BE49-F238E27FC236}">
                <a16:creationId xmlns:a16="http://schemas.microsoft.com/office/drawing/2014/main" id="{4DB98D73-65BC-4795-A1C9-AA4721EADC2E}"/>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Echo, Mandate and the research proposal</a:t>
            </a:r>
          </a:p>
        </p:txBody>
      </p:sp>
      <p:sp>
        <p:nvSpPr>
          <p:cNvPr id="4" name="Mandate Labs">
            <a:extLst xmlns:a="http://schemas.openxmlformats.org/drawingml/2006/main">
              <a:ext uri="{FF2B5EF4-FFF2-40B4-BE49-F238E27FC236}">
                <a16:creationId xmlns:a16="http://schemas.microsoft.com/office/drawing/2014/main" id="{2B6D2A03-1DA5-4431-85E7-B9047E1FB513}"/>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2">
            <a:extLst xmlns:a="http://schemas.openxmlformats.org/drawingml/2006/main">
              <a:ext uri="{FF2B5EF4-FFF2-40B4-BE49-F238E27FC236}">
                <a16:creationId xmlns:a16="http://schemas.microsoft.com/office/drawing/2014/main" id="{6B2559F7-300B-42AD-A609-F7DA9C24E4E6}"/>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12</a:t>
            </a:r>
          </a:p>
        </p:txBody>
      </p:sp>
      <p:graphicFrame>
        <p:nvGraphicFramePr>
          <p:cNvPr id="6" name="">
            <a:extLst xmlns:a="http://schemas.openxmlformats.org/drawingml/2006/main">
              <a:ext uri="{FF2B5EF4-FFF2-40B4-BE49-F238E27FC236}">
                <a16:creationId xmlns:a16="http://schemas.microsoft.com/office/drawing/2014/main" id="{FBBB0C6F-3659-4C47-AEA5-F1B42B82FC2D}"/>
              </a:ext>
            </a:extLst>
          </p:cNvPr>
          <p:cNvGraphicFramePr/>
          <p:nvPr/>
        </p:nvGraphicFramePr>
        <p:xfrm>
          <a:off xmlns:a="http://schemas.openxmlformats.org/drawingml/2006/main" x="609600" y="2076450"/>
          <a:ext xmlns:a="http://schemas.openxmlformats.org/drawingml/2006/main" cx="10972800" cy="3381375"/>
        </p:xfrm>
        <a:graphic xmlns:a="http://schemas.openxmlformats.org/drawingml/2006/main">
          <a:graphicData uri="http://schemas.openxmlformats.org/drawingml/2006/table">
            <a:tbl>
              <a:tblPr firstRow="1" bandRow="0"/>
              <a:tblGrid>
                <a:gridCol w="3143250"/>
                <a:gridCol w="7829550"/>
              </a:tblGrid>
              <a:tr h="845344">
                <a:tc>
                  <a:txBody>
                    <a:bodyPr wrap="square" lIns="133350" tIns="133350" rIns="133350" bIns="133350">
                      <a:noAutofit/>
                    </a:bodyPr>
                    <a:lstStyle/>
                    <a:p>
                      <a:r>
                        <a:rPr sz="1800" b="1">
                          <a:solidFill>
                            <a:srgbClr val="62ACFF"/>
                          </a:solidFill>
                          <a:latin typeface="Arial"/>
                          <a:ea typeface="Arial"/>
                          <a:cs typeface="Arial"/>
                        </a:rPr>
                        <a:t>Foundation</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33350" tIns="133350" rIns="133350" bIns="133350">
                      <a:noAutofit/>
                    </a:bodyPr>
                    <a:lstStyle/>
                    <a:p>
                      <a:r>
                        <a:rPr sz="1800" b="1">
                          <a:solidFill>
                            <a:srgbClr val="62ACFF"/>
                          </a:solidFill>
                          <a:latin typeface="Arial"/>
                          <a:ea typeface="Arial"/>
                          <a:cs typeface="Arial"/>
                        </a:rPr>
                        <a:t>Contribution to this project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845344">
                <a:tc>
                  <a:txBody>
                    <a:bodyPr wrap="square" lIns="133350" tIns="133350" rIns="133350" bIns="133350">
                      <a:noAutofit/>
                    </a:bodyPr>
                    <a:lstStyle/>
                    <a:p>
                      <a:r>
                        <a:rPr sz="1800" b="0">
                          <a:solidFill>
                            <a:srgbClr val="F5F6F8"/>
                          </a:solidFill>
                          <a:latin typeface="Arial"/>
                          <a:ea typeface="Arial"/>
                          <a:cs typeface="Arial"/>
                        </a:rPr>
                        <a:t>Echo v2</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Operation-bound signatures and controlled swap reference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845344">
                <a:tc>
                  <a:txBody>
                    <a:bodyPr wrap="square" lIns="133350" tIns="133350" rIns="133350" bIns="133350">
                      <a:noAutofit/>
                    </a:bodyPr>
                    <a:lstStyle/>
                    <a:p>
                      <a:r>
                        <a:rPr sz="1800" b="0">
                          <a:solidFill>
                            <a:srgbClr val="F5F6F8"/>
                          </a:solidFill>
                          <a:latin typeface="Arial"/>
                          <a:ea typeface="Arial"/>
                          <a:cs typeface="Arial"/>
                        </a:rPr>
                        <a:t>Mandate protocol</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Registered USDC payments, shared budgets and recovery</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845344">
                <a:tc>
                  <a:txBody>
                    <a:bodyPr wrap="square" lIns="133350" tIns="133350" rIns="133350" bIns="133350">
                      <a:noAutofit/>
                    </a:bodyPr>
                    <a:lstStyle/>
                    <a:p>
                      <a:r>
                        <a:rPr sz="1800" b="0">
                          <a:solidFill>
                            <a:srgbClr val="F5F6F8"/>
                          </a:solidFill>
                          <a:latin typeface="Arial"/>
                          <a:ea typeface="Arial"/>
                          <a:cs typeface="Arial"/>
                        </a:rPr>
                        <a:t>Research proposal</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33350" tIns="133350" rIns="133350" bIns="133350">
                      <a:noAutofit/>
                    </a:bodyPr>
                    <a:lstStyle/>
                    <a:p>
                      <a:r>
                        <a:rPr sz="1800" b="0">
                          <a:solidFill>
                            <a:srgbClr val="F5F6F8"/>
                          </a:solidFill>
                          <a:latin typeface="Arial"/>
                          <a:ea typeface="Arial"/>
                          <a:cs typeface="Arial"/>
                        </a:rPr>
                        <a:t>Linked evidence, selective disclosure and host-interference limits</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7" name="The proposal motivates the research; its complete intended guaran">
            <a:extLst xmlns:a="http://schemas.openxmlformats.org/drawingml/2006/main">
              <a:ext uri="{FF2B5EF4-FFF2-40B4-BE49-F238E27FC236}">
                <a16:creationId xmlns:a16="http://schemas.microsoft.com/office/drawing/2014/main" id="{F50D1F14-DF75-4F43-B52B-D97BDD8F30FC}"/>
              </a:ext>
            </a:extLst>
          </p:cNvPr>
          <p:cNvSpPr>
            <a:spLocks xmlns:a="http://schemas.openxmlformats.org/drawingml/2006/main" noGrp="1"/>
          </p:cNvSpPr>
          <p:nvPr/>
        </p:nvSpPr>
        <p:spPr>
          <a:xfrm xmlns:a="http://schemas.openxmlformats.org/drawingml/2006/main">
            <a:off x="609600" y="57816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0A5AF"/>
                </a:solidFill>
                <a:latin typeface="Arial"/>
                <a:ea typeface="Arial"/>
                <a:cs typeface="Arial"/>
              </a:defRPr>
            </a:defPPr>
          </a:lstStyle>
          <a:p xmlns:a="http://schemas.openxmlformats.org/drawingml/2006/main">
            <a:pPr algn="l">
              <a:defRPr sz="1725" b="0">
                <a:solidFill>
                  <a:srgbClr val="A0A5AF"/>
                </a:solidFill>
                <a:latin typeface="Arial"/>
                <a:ea typeface="Arial"/>
                <a:cs typeface="Arial"/>
              </a:defRPr>
            </a:pPr>
            <a:r>
              <a:rPr sz="1725" b="0">
                <a:solidFill>
                  <a:srgbClr val="A0A5AF"/>
                </a:solidFill>
                <a:latin typeface="Arial"/>
                <a:ea typeface="Arial"/>
                <a:cs typeface="Arial"/>
              </a:rPr>
              <a:t>The proposal motivates the research; its complete intended guarantees remain outside this delivery.</a:t>
            </a:r>
          </a:p>
        </p:txBody>
      </p:sp>
    </p:spTree>
    <p:extLst>
      <p:ext uri="{BB962C8B-B14F-4D97-AF65-F5344CB8AC3E}">
        <p14:creationId xmlns:p14="http://schemas.microsoft.com/office/powerpoint/2010/main" val="1528878117"/>
      </p:ext>
    </p:extLst>
  </p:cSld>
</p:sld>
</file>

<file path=ppt/slides/slide1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1C8E2F75-A792-41CC-A5B9-155A61B4B737}"/>
              </a:ext>
            </a:extLst>
          </p:cNvPr>
          <p:cNvPicPr>
            <a:picLocks xmlns:a="http://schemas.openxmlformats.org/drawingml/2006/main" noChangeAspect="1"/>
          </p:cNvPicPr>
          <p:nvPr/>
        </p:nvPicPr>
        <p:blipFill>
          <a:blip xmlns:r="http://schemas.openxmlformats.org/officeDocument/2006/relationships" xmlns:a="http://schemas.openxmlformats.org/drawingml/2006/main" r:embed="R06eea0e143fe4c0b">
            <a:extLst>
              <a:ext uri="{96DAC541-7B7A-43D3-8B79-37D633B846F1}">
                <asvg:svgBlip xmlns:asvg="http://schemas.microsoft.com/office/drawing/2016/SVG/main" r:embed="R44530c1f510b4db7"/>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Current product and next priorities">
            <a:extLst xmlns:a="http://schemas.openxmlformats.org/drawingml/2006/main">
              <a:ext uri="{FF2B5EF4-FFF2-40B4-BE49-F238E27FC236}">
                <a16:creationId xmlns:a16="http://schemas.microsoft.com/office/drawing/2014/main" id="{66940716-A389-4938-9F56-C6A54CDB1BD8}"/>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stStyle>
          <a:p xmlns:a="http://schemas.openxmlformats.org/drawingml/2006/main">
            <a:pPr algn="l">
              <a:defRPr sz="3225" b="1">
                <a:solidFill>
                  <a:srgbClr val="F5F6F8"/>
                </a:solidFill>
                <a:latin typeface="Arial"/>
                <a:ea typeface="Arial"/>
                <a:cs typeface="Arial"/>
              </a:defRPr>
            </a:pPr>
            <a:r>
              <a:rPr sz="3225" b="1">
                <a:solidFill>
                  <a:srgbClr val="F5F6F8"/>
                </a:solidFill>
                <a:latin typeface="Arial"/>
                <a:ea typeface="Arial"/>
                <a:cs typeface="Arial"/>
              </a:rPr>
              <a:t>Current product and next priorities</a:t>
            </a:r>
          </a:p>
        </p:txBody>
      </p:sp>
      <p:sp>
        <p:nvSpPr>
          <p:cNvPr id="4" name="Mandate Labs">
            <a:extLst xmlns:a="http://schemas.openxmlformats.org/drawingml/2006/main">
              <a:ext uri="{FF2B5EF4-FFF2-40B4-BE49-F238E27FC236}">
                <a16:creationId xmlns:a16="http://schemas.microsoft.com/office/drawing/2014/main" id="{B43441B6-33EE-4496-B9B7-5FB72A77C881}"/>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3">
            <a:extLst xmlns:a="http://schemas.openxmlformats.org/drawingml/2006/main">
              <a:ext uri="{FF2B5EF4-FFF2-40B4-BE49-F238E27FC236}">
                <a16:creationId xmlns:a16="http://schemas.microsoft.com/office/drawing/2014/main" id="{B116B74C-6F35-4652-BDA5-EFC693C82DE3}"/>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13</a:t>
            </a:r>
          </a:p>
        </p:txBody>
      </p:sp>
      <p:sp>
        <p:nvSpPr>
          <p:cNvPr id="6" name="Working today">
            <a:extLst xmlns:a="http://schemas.openxmlformats.org/drawingml/2006/main">
              <a:ext uri="{FF2B5EF4-FFF2-40B4-BE49-F238E27FC236}">
                <a16:creationId xmlns:a16="http://schemas.microsoft.com/office/drawing/2014/main" id="{DBB4EF7A-5E89-42F5-AFA5-D14953ADBC60}"/>
              </a:ext>
            </a:extLst>
          </p:cNvPr>
          <p:cNvSpPr>
            <a:spLocks xmlns:a="http://schemas.openxmlformats.org/drawingml/2006/main" noGrp="1"/>
          </p:cNvSpPr>
          <p:nvPr/>
        </p:nvSpPr>
        <p:spPr>
          <a:xfrm xmlns:a="http://schemas.openxmlformats.org/drawingml/2006/main">
            <a:off x="609600" y="2238375"/>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62ACFF"/>
                </a:solidFill>
                <a:latin typeface="Arial"/>
                <a:ea typeface="Arial"/>
                <a:cs typeface="Arial"/>
              </a:defRPr>
            </a:defPPr>
          </a:lstStyle>
          <a:p xmlns:a="http://schemas.openxmlformats.org/drawingml/2006/main">
            <a:pPr algn="l">
              <a:defRPr sz="2850" b="1">
                <a:solidFill>
                  <a:srgbClr val="62ACFF"/>
                </a:solidFill>
                <a:latin typeface="Arial"/>
                <a:ea typeface="Arial"/>
                <a:cs typeface="Arial"/>
              </a:defRPr>
            </a:pPr>
            <a:r>
              <a:rPr sz="2850" b="1">
                <a:solidFill>
                  <a:srgbClr val="62ACFF"/>
                </a:solidFill>
                <a:latin typeface="Arial"/>
                <a:ea typeface="Arial"/>
                <a:cs typeface="Arial"/>
              </a:rPr>
              <a:t>Working today</a:t>
            </a:r>
          </a:p>
        </p:txBody>
      </p:sp>
      <p:sp>
        <p:nvSpPr>
          <p:cNvPr id="7" name="Base Sepolia purchase through Claude Desktop, with owner control ">
            <a:extLst xmlns:a="http://schemas.openxmlformats.org/drawingml/2006/main">
              <a:ext uri="{FF2B5EF4-FFF2-40B4-BE49-F238E27FC236}">
                <a16:creationId xmlns:a16="http://schemas.microsoft.com/office/drawing/2014/main" id="{184AB0F3-19C9-4D0D-9D7F-9ABD81D6755F}"/>
              </a:ext>
            </a:extLst>
          </p:cNvPr>
          <p:cNvSpPr>
            <a:spLocks xmlns:a="http://schemas.openxmlformats.org/drawingml/2006/main" noGrp="1"/>
          </p:cNvSpPr>
          <p:nvPr/>
        </p:nvSpPr>
        <p:spPr>
          <a:xfrm xmlns:a="http://schemas.openxmlformats.org/drawingml/2006/main">
            <a:off x="609600" y="33337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6F8"/>
                </a:solidFill>
                <a:latin typeface="Arial"/>
                <a:ea typeface="Arial"/>
                <a:cs typeface="Arial"/>
              </a:defRPr>
            </a:defPPr>
          </a:lstStyle>
          <a:p xmlns:a="http://schemas.openxmlformats.org/drawingml/2006/main">
            <a:pPr algn="l">
              <a:defRPr sz="2250" b="0">
                <a:solidFill>
                  <a:srgbClr val="F5F6F8"/>
                </a:solidFill>
                <a:latin typeface="Arial"/>
                <a:ea typeface="Arial"/>
                <a:cs typeface="Arial"/>
              </a:defRPr>
            </a:pPr>
            <a:r>
              <a:rPr sz="2250" b="0">
                <a:solidFill>
                  <a:srgbClr val="F5F6F8"/>
                </a:solidFill>
                <a:latin typeface="Arial"/>
                <a:ea typeface="Arial"/>
                <a:cs typeface="Arial"/>
              </a:rPr>
              <a:t>Base Sepolia purchase through Claude Desktop, with owner control and recoverable records.</a:t>
            </a:r>
          </a:p>
        </p:txBody>
      </p:sp>
      <p:sp>
        <p:nvSpPr>
          <p:cNvPr id="8" name="Next release priorities">
            <a:extLst xmlns:a="http://schemas.openxmlformats.org/drawingml/2006/main">
              <a:ext uri="{FF2B5EF4-FFF2-40B4-BE49-F238E27FC236}">
                <a16:creationId xmlns:a16="http://schemas.microsoft.com/office/drawing/2014/main" id="{39445F6E-DBCF-44AF-B38D-9ADF1D0E8BD5}"/>
              </a:ext>
            </a:extLst>
          </p:cNvPr>
          <p:cNvSpPr>
            <a:spLocks xmlns:a="http://schemas.openxmlformats.org/drawingml/2006/main" noGrp="1"/>
          </p:cNvSpPr>
          <p:nvPr/>
        </p:nvSpPr>
        <p:spPr>
          <a:xfrm xmlns:a="http://schemas.openxmlformats.org/drawingml/2006/main">
            <a:off x="6372225" y="2238375"/>
            <a:ext cx="509587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62ACFF"/>
                </a:solidFill>
                <a:latin typeface="Arial"/>
                <a:ea typeface="Arial"/>
                <a:cs typeface="Arial"/>
              </a:defRPr>
            </a:defPPr>
          </a:lstStyle>
          <a:p xmlns:a="http://schemas.openxmlformats.org/drawingml/2006/main">
            <a:pPr algn="l">
              <a:defRPr sz="2850" b="1">
                <a:solidFill>
                  <a:srgbClr val="62ACFF"/>
                </a:solidFill>
                <a:latin typeface="Arial"/>
                <a:ea typeface="Arial"/>
                <a:cs typeface="Arial"/>
              </a:defRPr>
            </a:pPr>
            <a:r>
              <a:rPr sz="2850" b="1">
                <a:solidFill>
                  <a:srgbClr val="62ACFF"/>
                </a:solidFill>
                <a:latin typeface="Arial"/>
                <a:ea typeface="Arial"/>
                <a:cs typeface="Arial"/>
              </a:rPr>
              <a:t>Next release priorities</a:t>
            </a:r>
          </a:p>
        </p:txBody>
      </p:sp>
      <p:sp>
        <p:nvSpPr>
          <p:cNvPr id="9" name="Signed installation and updates, persistent local practice, broad">
            <a:extLst xmlns:a="http://schemas.openxmlformats.org/drawingml/2006/main">
              <a:ext uri="{FF2B5EF4-FFF2-40B4-BE49-F238E27FC236}">
                <a16:creationId xmlns:a16="http://schemas.microsoft.com/office/drawing/2014/main" id="{A078EFB4-340D-4CFB-BE12-07B67CEA3F7D}"/>
              </a:ext>
            </a:extLst>
          </p:cNvPr>
          <p:cNvSpPr>
            <a:spLocks xmlns:a="http://schemas.openxmlformats.org/drawingml/2006/main" noGrp="1"/>
          </p:cNvSpPr>
          <p:nvPr/>
        </p:nvSpPr>
        <p:spPr>
          <a:xfrm xmlns:a="http://schemas.openxmlformats.org/drawingml/2006/main">
            <a:off x="6372225" y="3333750"/>
            <a:ext cx="5095875"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F5F6F8"/>
                </a:solidFill>
                <a:latin typeface="Arial"/>
                <a:ea typeface="Arial"/>
                <a:cs typeface="Arial"/>
              </a:defRPr>
            </a:defPPr>
          </a:lstStyle>
          <a:p xmlns:a="http://schemas.openxmlformats.org/drawingml/2006/main">
            <a:pPr algn="l">
              <a:defRPr sz="2250" b="0">
                <a:solidFill>
                  <a:srgbClr val="F5F6F8"/>
                </a:solidFill>
                <a:latin typeface="Arial"/>
                <a:ea typeface="Arial"/>
                <a:cs typeface="Arial"/>
              </a:defRPr>
            </a:pPr>
            <a:r>
              <a:rPr sz="2250" b="0">
                <a:solidFill>
                  <a:srgbClr val="F5F6F8"/>
                </a:solidFill>
                <a:latin typeface="Arial"/>
                <a:ea typeface="Arial"/>
                <a:cs typeface="Arial"/>
              </a:rPr>
              <a:t>Signed installation and updates, persistent local practice, broader service compatibility.</a:t>
            </a:r>
          </a:p>
        </p:txBody>
      </p:sp>
      <p:sp>
        <p:nvSpPr>
          <p:cNvPr id="10" name="Testnet engineering release. Mainnet and an external human securi">
            <a:extLst xmlns:a="http://schemas.openxmlformats.org/drawingml/2006/main">
              <a:ext uri="{FF2B5EF4-FFF2-40B4-BE49-F238E27FC236}">
                <a16:creationId xmlns:a16="http://schemas.microsoft.com/office/drawing/2014/main" id="{092FA5F7-A932-4ABE-9EF4-BE2737D727FA}"/>
              </a:ext>
            </a:extLst>
          </p:cNvPr>
          <p:cNvSpPr>
            <a:spLocks xmlns:a="http://schemas.openxmlformats.org/drawingml/2006/main" noGrp="1"/>
          </p:cNvSpPr>
          <p:nvPr/>
        </p:nvSpPr>
        <p:spPr>
          <a:xfrm xmlns:a="http://schemas.openxmlformats.org/drawingml/2006/main">
            <a:off x="609600" y="57912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A0A5AF"/>
                </a:solidFill>
                <a:latin typeface="Arial"/>
                <a:ea typeface="Arial"/>
                <a:cs typeface="Arial"/>
              </a:defRPr>
            </a:defPPr>
          </a:lstStyle>
          <a:p xmlns:a="http://schemas.openxmlformats.org/drawingml/2006/main">
            <a:pPr algn="l">
              <a:defRPr sz="1725" b="0">
                <a:solidFill>
                  <a:srgbClr val="A0A5AF"/>
                </a:solidFill>
                <a:latin typeface="Arial"/>
                <a:ea typeface="Arial"/>
                <a:cs typeface="Arial"/>
              </a:defRPr>
            </a:pPr>
            <a:r>
              <a:rPr sz="1725" b="0">
                <a:solidFill>
                  <a:srgbClr val="A0A5AF"/>
                </a:solidFill>
                <a:latin typeface="Arial"/>
                <a:ea typeface="Arial"/>
                <a:cs typeface="Arial"/>
              </a:rPr>
              <a:t>Testnet engineering release. Mainnet and an external human security audit remain pending.</a:t>
            </a:r>
          </a:p>
        </p:txBody>
      </p:sp>
    </p:spTree>
    <p:extLst>
      <p:ext uri="{BB962C8B-B14F-4D97-AF65-F5344CB8AC3E}">
        <p14:creationId xmlns:p14="http://schemas.microsoft.com/office/powerpoint/2010/main" val="876055484"/>
      </p:ext>
    </p:extLst>
  </p:cSld>
</p:sld>
</file>

<file path=ppt/slides/slide1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 name="">
            <a:extLst xmlns:a="http://schemas.openxmlformats.org/drawingml/2006/main">
              <a:ext uri="{FF2B5EF4-FFF2-40B4-BE49-F238E27FC236}">
                <a16:creationId xmlns:a16="http://schemas.microsoft.com/office/drawing/2014/main" id="{3223C5E5-E22A-43D8-A850-2997531680FD}"/>
              </a:ext>
            </a:extLst>
          </p:cNvPr>
          <p:cNvPicPr>
            <a:picLocks xmlns:a="http://schemas.openxmlformats.org/drawingml/2006/main" noChangeAspect="1"/>
          </p:cNvPicPr>
          <p:nvPr/>
        </p:nvPicPr>
        <p:blipFill>
          <a:blip xmlns:r="http://schemas.openxmlformats.org/officeDocument/2006/relationships" xmlns:a="http://schemas.openxmlformats.org/drawingml/2006/main" r:embed="R5359883365e74409">
            <a:extLst>
              <a:ext uri="{96DAC541-7B7A-43D3-8B79-37D633B846F1}">
                <asvg:svgBlip xmlns:asvg="http://schemas.microsoft.com/office/drawing/2016/SVG/main" r:embed="Raf4bdd1c95c04761"/>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Mandate Labs">
            <a:extLst xmlns:a="http://schemas.openxmlformats.org/drawingml/2006/main">
              <a:ext uri="{FF2B5EF4-FFF2-40B4-BE49-F238E27FC236}">
                <a16:creationId xmlns:a16="http://schemas.microsoft.com/office/drawing/2014/main" id="{EA9E0EC7-77CB-49AF-AA13-4DCECA45240B}"/>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stStyle>
          <a:p xmlns:a="http://schemas.openxmlformats.org/drawingml/2006/main">
            <a:pPr algn="l">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4" name="14">
            <a:extLst xmlns:a="http://schemas.openxmlformats.org/drawingml/2006/main">
              <a:ext uri="{FF2B5EF4-FFF2-40B4-BE49-F238E27FC236}">
                <a16:creationId xmlns:a16="http://schemas.microsoft.com/office/drawing/2014/main" id="{A30E3C52-E397-460B-9335-09957B14A318}"/>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stStyle>
          <a:p xmlns:a="http://schemas.openxmlformats.org/drawingml/2006/main">
            <a:pPr algn="r">
              <a:defRPr sz="1275" b="0">
                <a:solidFill>
                  <a:srgbClr val="A0A5AF"/>
                </a:solidFill>
                <a:latin typeface="Arial"/>
                <a:ea typeface="Arial"/>
                <a:cs typeface="Arial"/>
              </a:defRPr>
            </a:pPr>
            <a:r>
              <a:rPr sz="1275" b="0">
                <a:solidFill>
                  <a:srgbClr val="A0A5AF"/>
                </a:solidFill>
                <a:latin typeface="Arial"/>
                <a:ea typeface="Arial"/>
                <a:cs typeface="Arial"/>
              </a:rPr>
              <a:t>14</a:t>
            </a:r>
          </a:p>
        </p:txBody>
      </p:sp>
      <p:pic>
        <p:nvPicPr>
          <p:cNvPr id="5" name="">
            <a:extLst xmlns:a="http://schemas.openxmlformats.org/drawingml/2006/main">
              <a:ext uri="{FF2B5EF4-FFF2-40B4-BE49-F238E27FC236}">
                <a16:creationId xmlns:a16="http://schemas.microsoft.com/office/drawing/2014/main" id="{9462B532-2C48-43DE-9514-E8D4EFD79344}"/>
              </a:ext>
            </a:extLst>
          </p:cNvPr>
          <p:cNvPicPr>
            <a:picLocks xmlns:a="http://schemas.openxmlformats.org/drawingml/2006/main" noChangeAspect="1"/>
          </p:cNvPicPr>
          <p:nvPr/>
        </p:nvPicPr>
        <p:blipFill>
          <a:blip xmlns:r="http://schemas.openxmlformats.org/officeDocument/2006/relationships" xmlns:a="http://schemas.openxmlformats.org/drawingml/2006/main" r:embed="R626e3132712c4d66">
            <a:extLst>
              <a:ext uri="{96DAC541-7B7A-43D3-8B79-37D633B846F1}">
                <asvg:svgBlip xmlns:asvg="http://schemas.microsoft.com/office/drawing/2016/SVG/main" r:embed="R7254deabc9764795"/>
              </a:ext>
            </a:extLst>
          </a:blip>
          <a:stretch xmlns:a="http://schemas.openxmlformats.org/drawingml/2006/main"/>
        </p:blipFill>
        <p:spPr>
          <a:xfrm xmlns:a="http://schemas.openxmlformats.org/drawingml/2006/main">
            <a:off x="609600" y="1952625"/>
            <a:ext cx="6572250" cy="1143000"/>
          </a:xfrm>
          <a:prstGeom xmlns:a="http://schemas.openxmlformats.org/drawingml/2006/main" prst="rect">
            <a:avLst/>
          </a:prstGeom>
        </p:spPr>
      </p:pic>
      <p:sp>
        <p:nvSpPr>
          <p:cNvPr id="6" name="Agent commerce&#10;on your terms">
            <a:extLst xmlns:a="http://schemas.openxmlformats.org/drawingml/2006/main">
              <a:ext uri="{FF2B5EF4-FFF2-40B4-BE49-F238E27FC236}">
                <a16:creationId xmlns:a16="http://schemas.microsoft.com/office/drawing/2014/main" id="{502D677E-98BC-44F5-AF41-EED61CD29599}"/>
              </a:ext>
            </a:extLst>
          </p:cNvPr>
          <p:cNvSpPr>
            <a:spLocks xmlns:a="http://schemas.openxmlformats.org/drawingml/2006/main" noGrp="1"/>
          </p:cNvSpPr>
          <p:nvPr/>
        </p:nvSpPr>
        <p:spPr>
          <a:xfrm xmlns:a="http://schemas.openxmlformats.org/drawingml/2006/main">
            <a:off x="666750" y="3495675"/>
            <a:ext cx="9525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5F6F8"/>
                </a:solidFill>
                <a:latin typeface="Arial"/>
                <a:ea typeface="Arial"/>
                <a:cs typeface="Arial"/>
              </a:defRPr>
            </a:defPPr>
          </a:lstStyle>
          <a:p xmlns:a="http://schemas.openxmlformats.org/drawingml/2006/main">
            <a:pPr algn="l">
              <a:defRPr sz="4350" b="1">
                <a:solidFill>
                  <a:srgbClr val="F5F6F8"/>
                </a:solidFill>
                <a:latin typeface="Arial"/>
                <a:ea typeface="Arial"/>
                <a:cs typeface="Arial"/>
              </a:defRPr>
            </a:pPr>
            <a:r>
              <a:rPr sz="4350" b="1">
                <a:solidFill>
                  <a:srgbClr val="F5F6F8"/>
                </a:solidFill>
                <a:latin typeface="Arial"/>
                <a:ea typeface="Arial"/>
                <a:cs typeface="Arial"/>
              </a:rPr>
              <a:t>Agent commerce</a:t>
            </a:r>
          </a:p>
          <a:p xmlns:a="http://schemas.openxmlformats.org/drawingml/2006/main">
            <a:pPr algn="l">
              <a:defRPr sz="4350" b="1">
                <a:solidFill>
                  <a:srgbClr val="F5F6F8"/>
                </a:solidFill>
                <a:latin typeface="Arial"/>
                <a:ea typeface="Arial"/>
                <a:cs typeface="Arial"/>
              </a:defRPr>
            </a:pPr>
            <a:r>
              <a:rPr sz="4350" b="1">
                <a:solidFill>
                  <a:srgbClr val="F5F6F8"/>
                </a:solidFill>
                <a:latin typeface="Arial"/>
                <a:ea typeface="Arial"/>
                <a:cs typeface="Arial"/>
              </a:rPr>
              <a:t>on your terms</a:t>
            </a:r>
          </a:p>
        </p:txBody>
      </p:sp>
      <p:sp>
        <p:nvSpPr>
          <p:cNvPr id="7" name="Owner-approved scope with reviewable payment outcomes">
            <a:extLst xmlns:a="http://schemas.openxmlformats.org/drawingml/2006/main">
              <a:ext uri="{FF2B5EF4-FFF2-40B4-BE49-F238E27FC236}">
                <a16:creationId xmlns:a16="http://schemas.microsoft.com/office/drawing/2014/main" id="{16FEF682-7311-402A-8A92-3231FC93AE40}"/>
              </a:ext>
            </a:extLst>
          </p:cNvPr>
          <p:cNvSpPr>
            <a:spLocks xmlns:a="http://schemas.openxmlformats.org/drawingml/2006/main" noGrp="1"/>
          </p:cNvSpPr>
          <p:nvPr/>
        </p:nvSpPr>
        <p:spPr>
          <a:xfrm xmlns:a="http://schemas.openxmlformats.org/drawingml/2006/main">
            <a:off x="685800" y="5324475"/>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0">
                <a:solidFill>
                  <a:srgbClr val="62ACFF"/>
                </a:solidFill>
                <a:latin typeface="Arial"/>
                <a:ea typeface="Arial"/>
                <a:cs typeface="Arial"/>
              </a:defRPr>
            </a:defPPr>
          </a:lstStyle>
          <a:p xmlns:a="http://schemas.openxmlformats.org/drawingml/2006/main">
            <a:pPr algn="l">
              <a:defRPr sz="2250" b="0">
                <a:solidFill>
                  <a:srgbClr val="62ACFF"/>
                </a:solidFill>
                <a:latin typeface="Arial"/>
                <a:ea typeface="Arial"/>
                <a:cs typeface="Arial"/>
              </a:defRPr>
            </a:pPr>
            <a:r>
              <a:rPr sz="2250" b="0">
                <a:solidFill>
                  <a:srgbClr val="62ACFF"/>
                </a:solidFill>
                <a:latin typeface="Arial"/>
                <a:ea typeface="Arial"/>
                <a:cs typeface="Arial"/>
              </a:rPr>
              <a:t>Owner-approved scope with reviewable payment outcomes</a:t>
            </a:r>
          </a:p>
        </p:txBody>
      </p:sp>
    </p:spTree>
    <p:extLst>
      <p:ext uri="{BB962C8B-B14F-4D97-AF65-F5344CB8AC3E}">
        <p14:creationId xmlns:p14="http://schemas.microsoft.com/office/powerpoint/2010/main" val="1192161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2026-10-20T04:53:00.6450000Z</dcterms:created>
  <dcterms:modified xsi:type="dcterms:W3CDTF">2026-10-20T04:53:00.6450000Z</dcterms:modified>
</coreProperties>
</file>
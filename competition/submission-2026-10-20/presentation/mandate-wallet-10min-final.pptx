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073683071c4e3d" /><Relationship Type="http://schemas.openxmlformats.org/officeDocument/2006/relationships/extended-properties" Target="/docProps/app.xml" Id="Rf41114139ec147fd" /><Relationship Type="http://schemas.openxmlformats.org/officeDocument/2006/relationships/officeDocument" Target="/ppt/presentation.xml" Id="Rd4e8f63930854ceb" /></Relationships>
</file>

<file path=ppt/presentation.xml><?xml version="1.0" encoding="utf-8"?>
<p:presentation xmlns:p="http://schemas.openxmlformats.org/presentationml/2006/main">
  <p:sldMasterIdLst>
    <p:sldMasterId xmlns:r="http://schemas.openxmlformats.org/officeDocument/2006/relationships" id="2147483648" r:id="R04021d9c16ae4a58"/>
  </p:sldMasterIdLst>
  <p:notesMasterIdLst>
    <p:notesMasterId xmlns:r="http://schemas.openxmlformats.org/officeDocument/2006/relationships" r:id="R642e332382b3481e"/>
  </p:notesMasterIdLst>
  <p:sldIdLst>
    <p:sldId xmlns:r="http://schemas.openxmlformats.org/officeDocument/2006/relationships" id="256" r:id="Rb49bddbe188e4d26"/>
    <p:sldId xmlns:r="http://schemas.openxmlformats.org/officeDocument/2006/relationships" id="257" r:id="R8abc8913ada447a0"/>
    <p:sldId xmlns:r="http://schemas.openxmlformats.org/officeDocument/2006/relationships" id="258" r:id="Rd138c4804dc34004"/>
    <p:sldId xmlns:r="http://schemas.openxmlformats.org/officeDocument/2006/relationships" id="259" r:id="R6ebc71ff1f6140f1"/>
    <p:sldId xmlns:r="http://schemas.openxmlformats.org/officeDocument/2006/relationships" id="260" r:id="R888fb066864d439f"/>
    <p:sldId xmlns:r="http://schemas.openxmlformats.org/officeDocument/2006/relationships" id="261" r:id="R1212876c132c4617"/>
    <p:sldId xmlns:r="http://schemas.openxmlformats.org/officeDocument/2006/relationships" id="262" r:id="R5846bc6ea8c24ab0"/>
    <p:sldId xmlns:r="http://schemas.openxmlformats.org/officeDocument/2006/relationships" id="263" r:id="R0146973b7d724c7f"/>
    <p:sldId xmlns:r="http://schemas.openxmlformats.org/officeDocument/2006/relationships" id="264" r:id="R67c5bf6326eb4dcc"/>
    <p:sldId xmlns:r="http://schemas.openxmlformats.org/officeDocument/2006/relationships" id="265" r:id="R73f67a866bd44275"/>
    <p:sldId xmlns:r="http://schemas.openxmlformats.org/officeDocument/2006/relationships" id="266" r:id="R77b8a7fee98c450c"/>
    <p:sldId xmlns:r="http://schemas.openxmlformats.org/officeDocument/2006/relationships" id="267" r:id="R2b2c076093e24127"/>
    <p:sldId xmlns:r="http://schemas.openxmlformats.org/officeDocument/2006/relationships" id="268" r:id="R54ab5bb6dfd44401"/>
    <p:sldId xmlns:r="http://schemas.openxmlformats.org/officeDocument/2006/relationships" id="269" r:id="R2f5ac2a6c44c4b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782136d60e44ca" /><Relationship Type="http://schemas.openxmlformats.org/officeDocument/2006/relationships/slideMaster" Target="/ppt/slideMasters/slideMaster1.xml" Id="R04021d9c16ae4a58" /><Relationship Type="http://schemas.openxmlformats.org/officeDocument/2006/relationships/notesMaster" Target="/ppt/notesMasters/notesMaster1.xml" Id="R642e332382b3481e" /><Relationship Type="http://schemas.openxmlformats.org/officeDocument/2006/relationships/presProps" Target="/ppt/presProps.xml" Id="R3d33b08f918749d2" /><Relationship Type="http://schemas.openxmlformats.org/officeDocument/2006/relationships/tableStyles" Target="/ppt/tableStyles.xml" Id="R1a9642a2723946d3" /><Relationship Type="http://schemas.openxmlformats.org/officeDocument/2006/relationships/slide" Target="/ppt/slides/slide1.xml" Id="Rb49bddbe188e4d26" /><Relationship Type="http://schemas.openxmlformats.org/officeDocument/2006/relationships/slide" Target="/ppt/slides/slide2.xml" Id="R8abc8913ada447a0" /><Relationship Type="http://schemas.openxmlformats.org/officeDocument/2006/relationships/slide" Target="/ppt/slides/slide3.xml" Id="Rd138c4804dc34004" /><Relationship Type="http://schemas.openxmlformats.org/officeDocument/2006/relationships/slide" Target="/ppt/slides/slide4.xml" Id="R6ebc71ff1f6140f1" /><Relationship Type="http://schemas.openxmlformats.org/officeDocument/2006/relationships/slide" Target="/ppt/slides/slide5.xml" Id="R888fb066864d439f" /><Relationship Type="http://schemas.openxmlformats.org/officeDocument/2006/relationships/slide" Target="/ppt/slides/slide6.xml" Id="R1212876c132c4617" /><Relationship Type="http://schemas.openxmlformats.org/officeDocument/2006/relationships/slide" Target="/ppt/slides/slide7.xml" Id="R5846bc6ea8c24ab0" /><Relationship Type="http://schemas.openxmlformats.org/officeDocument/2006/relationships/slide" Target="/ppt/slides/slide8.xml" Id="R0146973b7d724c7f" /><Relationship Type="http://schemas.openxmlformats.org/officeDocument/2006/relationships/slide" Target="/ppt/slides/slide9.xml" Id="R67c5bf6326eb4dcc" /><Relationship Type="http://schemas.openxmlformats.org/officeDocument/2006/relationships/slide" Target="/ppt/slides/slide10.xml" Id="R73f67a866bd44275" /><Relationship Type="http://schemas.openxmlformats.org/officeDocument/2006/relationships/slide" Target="/ppt/slides/slide11.xml" Id="R77b8a7fee98c450c" /><Relationship Type="http://schemas.openxmlformats.org/officeDocument/2006/relationships/slide" Target="/ppt/slides/slide12.xml" Id="R2b2c076093e24127" /><Relationship Type="http://schemas.openxmlformats.org/officeDocument/2006/relationships/slide" Target="/ppt/slides/slide13.xml" Id="R54ab5bb6dfd44401" /><Relationship Type="http://schemas.openxmlformats.org/officeDocument/2006/relationships/slide" Target="/ppt/slides/slide14.xml" Id="R2f5ac2a6c44c4b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1c405ec3bd48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470de97a5449ae" /><Relationship Type="http://schemas.openxmlformats.org/officeDocument/2006/relationships/notesMaster" Target="/ppt/notesMasters/notesMaster1.xml" Id="R074195332cba4a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331763a10243d3" /><Relationship Type="http://schemas.openxmlformats.org/officeDocument/2006/relationships/notesMaster" Target="/ppt/notesMasters/notesMaster1.xml" Id="R58af9e5ab69c4b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d8ad869ae745d6" /><Relationship Type="http://schemas.openxmlformats.org/officeDocument/2006/relationships/notesMaster" Target="/ppt/notesMasters/notesMaster1.xml" Id="Rfcadf0f58b5c42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420cf7c20d48ce" /><Relationship Type="http://schemas.openxmlformats.org/officeDocument/2006/relationships/notesMaster" Target="/ppt/notesMasters/notesMaster1.xml" Id="R58bd2e838f0f47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848f63e8ca465e" /><Relationship Type="http://schemas.openxmlformats.org/officeDocument/2006/relationships/notesMaster" Target="/ppt/notesMasters/notesMaster1.xml" Id="R25642a303ca24f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8819fe3a1a410f" /><Relationship Type="http://schemas.openxmlformats.org/officeDocument/2006/relationships/notesMaster" Target="/ppt/notesMasters/notesMaster1.xml" Id="R449ea9dade2240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1a1fc16d184e81" /><Relationship Type="http://schemas.openxmlformats.org/officeDocument/2006/relationships/notesMaster" Target="/ppt/notesMasters/notesMaster1.xml" Id="R0f637a98b13743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090ecb3daa4f42" /><Relationship Type="http://schemas.openxmlformats.org/officeDocument/2006/relationships/notesMaster" Target="/ppt/notesMasters/notesMaster1.xml" Id="R42fcd062275a43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db925e791e4269" /><Relationship Type="http://schemas.openxmlformats.org/officeDocument/2006/relationships/notesMaster" Target="/ppt/notesMasters/notesMaster1.xml" Id="R3d023022b4fe46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f7978030744775" /><Relationship Type="http://schemas.openxmlformats.org/officeDocument/2006/relationships/notesMaster" Target="/ppt/notesMasters/notesMaster1.xml" Id="R34cea905bc0940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d17acd20ee4493" /><Relationship Type="http://schemas.openxmlformats.org/officeDocument/2006/relationships/notesMaster" Target="/ppt/notesMasters/notesMaster1.xml" Id="R207c748b0af44a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1f8bf017c54465" /><Relationship Type="http://schemas.openxmlformats.org/officeDocument/2006/relationships/notesMaster" Target="/ppt/notesMasters/notesMaster1.xml" Id="R03d856a74df64f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e238f0fd9b4e8d" /><Relationship Type="http://schemas.openxmlformats.org/officeDocument/2006/relationships/notesMaster" Target="/ppt/notesMasters/notesMaster1.xml" Id="Rcdc322b603af48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5579932fa141f2" /><Relationship Type="http://schemas.openxmlformats.org/officeDocument/2006/relationships/notesMaster" Target="/ppt/notesMasters/notesMaster1.xml" Id="Ra0da288b2cfb4b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Mandate Wallet gives AI agents a limited ability to purchase services. The owner controls the approved scope and budget through an external wallet. We demonstrate this with Claude Desktop, Rabby and a USDC payment on Base Sepolia.</a:t>
            </a:r>
          </a:p>
          <a:p xmlns:a="http://schemas.openxmlformats.org/drawingml/2006/main">
            <a:r>
              <a:t/>
            </a:r>
          </a:p>
          <a:p xmlns:a="http://schemas.openxmlformats.org/drawingml/2006/main">
            <a:r>
              <a:t>Presenter window: 0 to 20 seconds (20 seconds).</a:t>
            </a:r>
          </a:p>
          <a:p xmlns:a="http://schemas.openxmlformats.org/drawingml/2006/main">
            <a:r>
              <a:t>Chinese presenter direction (not spoken): 本项目为 Agent 提供有限的采购权限。开场说明所有者保留授权控制权，并介绍演示涉及的软件和网络。</a:t>
            </a:r>
          </a:p>
          <a:p xmlns:a="http://schemas.openxmlformats.org/drawingml/2006/main">
            <a:r>
              <a:t/>
            </a:r>
          </a:p>
          <a:p xmlns:a="http://schemas.openxmlformats.org/drawingml/2006/main">
            <a:r>
              <a:t>Sources:</a:t>
            </a:r>
          </a:p>
          <a:p xmlns:a="http://schemas.openxmlformats.org/drawingml/2006/main">
            <a:r>
              <a:t>competition/submission-2026-10-20/documents/latex/sections/introduction.tex</a:t>
            </a:r>
          </a:p>
          <a:p xmlns:a="http://schemas.openxmlformats.org/drawingml/2006/main">
            <a:r>
              <a:t>competition/submission-2026-10-20/documents/latex/sections/public-case.tex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tool connection tells an agent what it can call. Financial authority also needs an approved purpose, recipient, amount and lifetime. Mandate places those limits in a smart account. The owner approves a finite task, and the agent executes permitted purchases through a session signer. The financial checks continue to apply when a host bypasses the normal client.</a:t>
            </a:r>
          </a:p>
          <a:p xmlns:a="http://schemas.openxmlformats.org/drawingml/2006/main">
            <a:r>
              <a:t/>
            </a:r>
          </a:p>
          <a:p xmlns:a="http://schemas.openxmlformats.org/drawingml/2006/main">
            <a:r>
              <a:t>Presenter window: 20 to 50 seconds (30 seconds).</a:t>
            </a:r>
          </a:p>
          <a:p xmlns:a="http://schemas.openxmlformats.org/drawingml/2006/main">
            <a:r>
              <a:t>Chinese presenter direction (not spoken): 本页区分工具接入与资金授权。说明链上约束针对具体任务，即使宿主绕过客户端，仍需满足合约的财务检查。</a:t>
            </a:r>
          </a:p>
          <a:p xmlns:a="http://schemas.openxmlformats.org/drawingml/2006/main">
            <a:r>
              <a:t/>
            </a:r>
          </a:p>
          <a:p xmlns:a="http://schemas.openxmlformats.org/drawingml/2006/main">
            <a:r>
              <a:t>Sources:</a:t>
            </a:r>
          </a:p>
          <a:p xmlns:a="http://schemas.openxmlformats.org/drawingml/2006/main">
            <a:r>
              <a:t>competition/submission-2026-10-20/documents/latex/sections/introduction.tex</a:t>
            </a:r>
          </a:p>
          <a:p xmlns:a="http://schemas.openxmlformats.org/drawingml/2006/main">
            <a:r>
              <a:t>competition/submission-2026-10-20/documents/latex/sections/model.tex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owner administration from agent execution. The workspace prepares unsigned management requests, and Rabby signs them. Claude connects to the local MCP gateway, which runs the purchase client and durable journal. The merchant supplies the service, while the facilitator submits token settlement. On Base Sepolia, the token calls the account to validate the registered payment. A separate verifier checks exported evidence against independently reviewed trust settings. The dashed host region does not protect its keys from the administrator. Token behavior, canonical chain state and the trusted owner remain explicit assumptions.</a:t>
            </a:r>
          </a:p>
          <a:p xmlns:a="http://schemas.openxmlformats.org/drawingml/2006/main">
            <a:r>
              <a:t/>
            </a:r>
          </a:p>
          <a:p xmlns:a="http://schemas.openxmlformats.org/drawingml/2006/main">
            <a:r>
              <a:t>Presenter window: 50 to 100 seconds (50 seconds).</a:t>
            </a:r>
          </a:p>
          <a:p xmlns:a="http://schemas.openxmlformats.org/drawingml/2006/main">
            <a:r>
              <a:t>Chinese presenter direction (not spoken): 沿架构图说明管理权限与执行权限的分工。随后指出本地宿主边界不等于安全隔离，独立验证也需要预先审核的信任配置。</a:t>
            </a:r>
          </a:p>
          <a:p xmlns:a="http://schemas.openxmlformats.org/drawingml/2006/main">
            <a:r>
              <a:t/>
            </a:r>
          </a:p>
          <a:p xmlns:a="http://schemas.openxmlformats.org/drawingml/2006/main">
            <a:r>
              <a:t>Sources:</a:t>
            </a:r>
          </a:p>
          <a:p xmlns:a="http://schemas.openxmlformats.org/drawingml/2006/main">
            <a:r>
              <a:t>competition/submission-2026-10-20/documents/latex/sections/architecture.tex</a:t>
            </a:r>
          </a:p>
          <a:p xmlns:a="http://schemas.openxmlformats.org/drawingml/2006/main">
            <a:r>
              <a:t>competition/submission-2026-10-20/documents/latex/sections/model.tex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to purchase an ETH statistics sample. The owner approves a total of 0.15 test USDC and a maximum of 0.10 per payment. The service costs 0.01. ETH names the fixed dataset. Payment uses USDC, and native ETH pays gas separately.</a:t>
            </a:r>
          </a:p>
          <a:p xmlns:a="http://schemas.openxmlformats.org/drawingml/2006/main">
            <a:r>
              <a:t/>
            </a:r>
          </a:p>
          <a:p xmlns:a="http://schemas.openxmlformats.org/drawingml/2006/main">
            <a:r>
              <a:t>Presenter window: 100 to 125 seconds (25 seconds).</a:t>
            </a:r>
          </a:p>
          <a:p xmlns:a="http://schemas.openxmlformats.org/drawingml/2006/main">
            <a:r>
              <a:t>Chinese presenter direction (not spoken): 用一个具体任务解释三项金额。ETH 表示固定数据样本，USDC 是实际付款资产，gas 则单独以测试 ETH 支付。</a:t>
            </a:r>
          </a:p>
          <a:p xmlns:a="http://schemas.openxmlformats.org/drawingml/2006/main">
            <a:r>
              <a:t/>
            </a:r>
          </a:p>
          <a:p xmlns:a="http://schemas.openxmlformats.org/drawingml/2006/main">
            <a:r>
              <a:t>Sources:</a:t>
            </a:r>
          </a:p>
          <a:p xmlns:a="http://schemas.openxmlformats.org/drawingml/2006/main">
            <a:r>
              <a:t>competition/submission-2026-10-20/documents/latex/sections/introduction.tex</a:t>
            </a:r>
          </a:p>
          <a:p xmlns:a="http://schemas.openxmlformats.org/drawingml/2006/main">
            <a:r>
              <a:t>competition/submission-2026-10-20/documents/latex/sections/public-case.tex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workspace first asks the owner to review account deployment and funding. Rabby signs those transactions for Base Sepolia. The owner then approves the task policy and a session with finite scope, budget and expiry. The successful recorded session lasts two hours. The user imports and enables the Guided extension in Claude Desktop. It selects the prepared local connection. Claude reads the account context through the gateway before procurement. Installing the extension alone creates no on-chain spending authority. The owner key stays in Rabby.</a:t>
            </a:r>
          </a:p>
          <a:p xmlns:a="http://schemas.openxmlformats.org/drawingml/2006/main">
            <a:r>
              <a:t/>
            </a:r>
          </a:p>
          <a:p xmlns:a="http://schemas.openxmlformats.org/drawingml/2006/main">
            <a:r>
              <a:t>Presenter window: 125 to 170 seconds (45 seconds).</a:t>
            </a:r>
          </a:p>
          <a:p xmlns:a="http://schemas.openxmlformats.org/drawingml/2006/main">
            <a:r>
              <a:t>Chinese presenter direction (not spoken): 按时序图说明开户、注资、授权和 Claude 接入。强调用户需导入并启用扩展，扩展安装本身不会创建链上资金权限。</a:t>
            </a:r>
          </a:p>
          <a:p xmlns:a="http://schemas.openxmlformats.org/drawingml/2006/main">
            <a:r>
              <a:t/>
            </a:r>
          </a:p>
          <a:p xmlns:a="http://schemas.openxmlformats.org/drawingml/2006/main">
            <a:r>
              <a:t>Sources:</a:t>
            </a:r>
          </a:p>
          <a:p xmlns:a="http://schemas.openxmlformats.org/drawingml/2006/main">
            <a:r>
              <a:t>competition/submission-2026-10-20/documents/latex/sections/architecture.tex</a:t>
            </a:r>
          </a:p>
          <a:p xmlns:a="http://schemas.openxmlformats.org/drawingml/2006/main">
            <a:r>
              <a:t>competition/submission-2026-10-20/documents/latex/sections/public-case.tex</a:t>
            </a:r>
          </a:p>
          <a:p xmlns:a="http://schemas.openxmlformats.org/drawingml/2006/main">
            <a:r>
              <a:t>https://modelcontextprotocol.io/specification/2025-11-25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 calls an approved step through the gateway. The merchant returns an HTTP 402 quote. The client checks the request, asset, recipient and price, then persists the payment intent. Registration atomically reserves both task and session budgets. The client waits for confirmation before releasing the token payment signature. The facilitator then submits an EIP-3009 authorization to USDC. At settlement, the token invokes the wallet’s ERC-1271 validator and checks current authority. A successful precheck cannot override a later revocation. Canonical transfer events establish payment. Service delivery and result quality receive separate status checks.</a:t>
            </a:r>
          </a:p>
          <a:p xmlns:a="http://schemas.openxmlformats.org/drawingml/2006/main">
            <a:r>
              <a:t/>
            </a:r>
          </a:p>
          <a:p xmlns:a="http://schemas.openxmlformats.org/drawingml/2006/main">
            <a:r>
              <a:t>Presenter window: 170 to 225 seconds (55 seconds).</a:t>
            </a:r>
          </a:p>
          <a:p xmlns:a="http://schemas.openxmlformats.org/drawingml/2006/main">
            <a:r>
              <a:t>Chinese presenter direction (not spoken): 先指出登记确认与付款签名之间的先后关系，再说明 USDC 在实际结算时调用钱包验权。最后将付款、服务返回和结果检查分开叙述。</a:t>
            </a:r>
          </a:p>
          <a:p xmlns:a="http://schemas.openxmlformats.org/drawingml/2006/main">
            <a:r>
              <a:t/>
            </a:r>
          </a:p>
          <a:p xmlns:a="http://schemas.openxmlformats.org/drawingml/2006/main">
            <a:r>
              <a:t>Sources:</a:t>
            </a:r>
          </a:p>
          <a:p xmlns:a="http://schemas.openxmlformats.org/drawingml/2006/main">
            <a:r>
              <a:t>competition/submission-2026-10-20/documents/latex/sections/protocol.tex</a:t>
            </a:r>
          </a:p>
          <a:p xmlns:a="http://schemas.openxmlformats.org/drawingml/2006/main">
            <a:r>
              <a:t>competition/submission-2026-10-20/documents/latex/sections/runtime.tex</a:t>
            </a:r>
          </a:p>
          <a:p xmlns:a="http://schemas.openxmlformats.org/drawingml/2006/main">
            <a:r>
              <a:t>https://eips.ethereum.org/EIPS/eip-712</a:t>
            </a:r>
          </a:p>
          <a:p xmlns:a="http://schemas.openxmlformats.org/drawingml/2006/main">
            <a:r>
              <a:t>https://eips.ethereum.org/EIPS/eip-1271</a:t>
            </a:r>
          </a:p>
          <a:p xmlns:a="http://schemas.openxmlformats.org/drawingml/2006/main">
            <a:r>
              <a:t>https://eips.ethereum.org/EIPS/eip-3009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property is bounded authorization. Registration checks the remaining root and session budgets and updates them atomically. Before an eligible release, two competing 0.10 requests cannot both reserve against a 0.15 root budget. A permanent used-step flag and a deterministic business nonce prevent a new session from turning the same step into another purchase. Paid and uncertain commitments remain occupied. Release requires strict expiry and an unused token nonce. Occupancy measures authorization usage and can differ from wallet cash.</a:t>
            </a:r>
          </a:p>
          <a:p xmlns:a="http://schemas.openxmlformats.org/drawingml/2006/main">
            <a:r>
              <a:t/>
            </a:r>
          </a:p>
          <a:p xmlns:a="http://schemas.openxmlformats.org/drawingml/2006/main">
            <a:r>
              <a:t>Presenter window: 225 to 265 seconds (40 seconds).</a:t>
            </a:r>
          </a:p>
          <a:p xmlns:a="http://schemas.openxmlformats.org/drawingml/2006/main">
            <a:r>
              <a:t>Chinese presenter direction (not spoken): 本页给出预算约束及并发反例。说明确定性 nonce 与永久步骤标记共同限制重复采购，并解释预算占用为何不同于余额和已付款金额。</a:t>
            </a:r>
          </a:p>
          <a:p xmlns:a="http://schemas.openxmlformats.org/drawingml/2006/main">
            <a:r>
              <a:t/>
            </a:r>
          </a:p>
          <a:p xmlns:a="http://schemas.openxmlformats.org/drawingml/2006/main">
            <a:r>
              <a:t>Sources:</a:t>
            </a:r>
          </a:p>
          <a:p xmlns:a="http://schemas.openxmlformats.org/drawingml/2006/main">
            <a:r>
              <a:t>competition/submission-2026-10-20/documents/latex/sections/protocol.tex</a:t>
            </a:r>
          </a:p>
          <a:p xmlns:a="http://schemas.openxmlformats.org/drawingml/2006/main">
            <a:r>
              <a:t>competition/submission-2026-10-20/documents/latex/sections/analysis.tex</a:t>
            </a:r>
          </a:p>
          <a:p xmlns:a="http://schemas.openxmlformats.org/drawingml/2006/main">
            <a:r>
              <a:t>https://eips.ethereum.org/EIPS/eip-712</a:t>
            </a:r>
          </a:p>
          <a:p xmlns:a="http://schemas.openxmlformats.org/drawingml/2006/main">
            <a:r>
              <a:t>https://eips.ethereum.org/EIPS/eip-1271</a:t>
            </a:r>
          </a:p>
          <a:p xmlns:a="http://schemas.openxmlformats.org/drawingml/2006/main">
            <a:r>
              <a:t>https://eips.ethereum.org/EIPS/eip-3009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public case, the first response fails with HTTP 500 after payment. The journal records paid, failed and unchecked as separate outcomes. Claude resumes the same order. The client reconciles its original nonce and transaction hash, then retrieves the paid service without another settlement. The recovered response passes the fixed-data checker. An expired unpaid commitment follows a different path. It cannot receive a refreshed payment window or nonce merely because a service call failed.</a:t>
            </a:r>
          </a:p>
          <a:p xmlns:a="http://schemas.openxmlformats.org/drawingml/2006/main">
            <a:r>
              <a:t/>
            </a:r>
          </a:p>
          <a:p xmlns:a="http://schemas.openxmlformats.org/drawingml/2006/main">
            <a:r>
              <a:t>Presenter window: 265 to 305 seconds (40 seconds).</a:t>
            </a:r>
          </a:p>
          <a:p xmlns:a="http://schemas.openxmlformats.org/drawingml/2006/main">
            <a:r>
              <a:t>Chinese presenter direction (not spoken): 用实际故障展示恢复流程。指出已付款但交付失败与付款到期未结算属于不同情形，不能通过更换 nonce 将后者伪装成重试。</a:t>
            </a:r>
          </a:p>
          <a:p xmlns:a="http://schemas.openxmlformats.org/drawingml/2006/main">
            <a:r>
              <a:t/>
            </a:r>
          </a:p>
          <a:p xmlns:a="http://schemas.openxmlformats.org/drawingml/2006/main">
            <a:r>
              <a:t>Sources:</a:t>
            </a:r>
          </a:p>
          <a:p xmlns:a="http://schemas.openxmlformats.org/drawingml/2006/main">
            <a:r>
              <a:t>competition/submission-2026-10-20/documents/latex/sections/runtime.tex</a:t>
            </a:r>
          </a:p>
          <a:p xmlns:a="http://schemas.openxmlformats.org/drawingml/2006/main">
            <a:r>
              <a:t>competition/submission-2026-10-20/documents/latex/sections/public-case.tex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proposal asks how approved intent binds to an action, what evidence supports delegated-session accountability, and what remains observable when a host interferes. Mandate answers the first question with typed payment registration and shared reservations. Signed checkpoints, selective disclosures and ActionProof address the second. A reference controller and retained-head comparisons test a bounded part of the third. Echo supplies a separate repaired UserOperation and swap reference. The contribution is this implemented combination and its failure analysis. Scoped wallets already exist, and the current release covers only part of the proposal’s broader research agenda.</a:t>
            </a:r>
          </a:p>
          <a:p xmlns:a="http://schemas.openxmlformats.org/drawingml/2006/main">
            <a:r>
              <a:t/>
            </a:r>
          </a:p>
          <a:p xmlns:a="http://schemas.openxmlformats.org/drawingml/2006/main">
            <a:r>
              <a:t>Presenter window: 305 to 360 seconds (55 seconds).</a:t>
            </a:r>
          </a:p>
          <a:p xmlns:a="http://schemas.openxmlformats.org/drawingml/2006/main">
            <a:r>
              <a:t>Chinese presenter direction (not spoken): 三项研究问题分别对应授权约束、会话证据和宿主干预。说明 Echo 的基础作用与 Mandate 的新增实现，不把整个 proposal 的研究目标表述为既有成果。</a:t>
            </a:r>
          </a:p>
          <a:p xmlns:a="http://schemas.openxmlformats.org/drawingml/2006/main">
            <a:r>
              <a:t/>
            </a:r>
          </a:p>
          <a:p xmlns:a="http://schemas.openxmlformats.org/drawingml/2006/main">
            <a:r>
              <a:t>Sources:</a:t>
            </a:r>
          </a:p>
          <a:p xmlns:a="http://schemas.openxmlformats.org/drawingml/2006/main">
            <a:r>
              <a:t>competition/submission-2026-10-20/documents/latex/sections/introduction.tex</a:t>
            </a:r>
          </a:p>
          <a:p xmlns:a="http://schemas.openxmlformats.org/drawingml/2006/main">
            <a:r>
              <a:t>competition/submission-2026-10-20/documents/latex/sections/analysis.tex</a:t>
            </a:r>
          </a:p>
          <a:p xmlns:a="http://schemas.openxmlformats.org/drawingml/2006/main">
            <a:r>
              <a:t>competition/submission-2026-10-20/documents/latex/references.bib (proposal, safe, metamask, acharya, baid)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checkpoint signs its scope, field commitment and previous checkpoint digest. Salted Merkle paths let an auditor inspect selected fields. ActionProof associates the pre-payment checkpoint with both the registration digest and token-payment digest. The verifier checks that association, historical authority, occupied budget and canonical token events using separate trust settings. Hidden fields leave their corresponding checks incomplete. In the public run, required financial checks passed while the overall result remained incomplete. The account does not enforce the entire checkpoint chain as an on-chain payment condition.</a:t>
            </a:r>
          </a:p>
          <a:p xmlns:a="http://schemas.openxmlformats.org/drawingml/2006/main">
            <a:r>
              <a:t/>
            </a:r>
          </a:p>
          <a:p xmlns:a="http://schemas.openxmlformats.org/drawingml/2006/main">
            <a:r>
              <a:t>Presenter window: 360 to 410 seconds (50 seconds).</a:t>
            </a:r>
          </a:p>
          <a:p xmlns:a="http://schemas.openxmlformats.org/drawingml/2006/main">
            <a:r>
              <a:t>Chinese presenter direction (not spoken): 说明检查点、字段承诺与 ActionProof 的关系。强调独立验证需要单独的信任配置，选择性披露会限制可验证的结论，完整会话链也并非当前合约的强制付款条件。</a:t>
            </a:r>
          </a:p>
          <a:p xmlns:a="http://schemas.openxmlformats.org/drawingml/2006/main">
            <a:r>
              <a:t/>
            </a:r>
          </a:p>
          <a:p xmlns:a="http://schemas.openxmlformats.org/drawingml/2006/main">
            <a:r>
              <a:t>Sources:</a:t>
            </a:r>
          </a:p>
          <a:p xmlns:a="http://schemas.openxmlformats.org/drawingml/2006/main">
            <a:r>
              <a:t>competition/submission-2026-10-20/documents/latex/sections/evidence.tex</a:t>
            </a:r>
          </a:p>
          <a:p xmlns:a="http://schemas.openxmlformats.org/drawingml/2006/main">
            <a:r>
              <a:t>competition/submission-2026-10-20/documents/latex/sections/public-case.tex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two histories. One ends at checkpoint two. The other continues to checkpoint three, but the host withholds that tail. An auditor receiving only the same valid prefix cannot distinguish them without independent latest-head information. A separately retained head can reveal a missing known tail. It cannot establish every unobserved action. Likewise, the reference controller rejects a fourth query through an interface capped at three, but direct host calls can bypass that interface. These experiments identify the enforcement boundary.</a:t>
            </a:r>
          </a:p>
          <a:p xmlns:a="http://schemas.openxmlformats.org/drawingml/2006/main">
            <a:r>
              <a:t/>
            </a:r>
          </a:p>
          <a:p xmlns:a="http://schemas.openxmlformats.org/drawingml/2006/main">
            <a:r>
              <a:t>Presenter window: 410 to 455 seconds (45 seconds).</a:t>
            </a:r>
          </a:p>
          <a:p xmlns:a="http://schemas.openxmlformats.org/drawingml/2006/main">
            <a:r>
              <a:t>Chinese presenter direction (not spoken): 用两段历史解释未锚定前缀的不可区分性。随后说明已保留的最新摘要可以帮助发现已知尾部缺失，但同机控制器无法限制宿主的所有调用。</a:t>
            </a:r>
          </a:p>
          <a:p xmlns:a="http://schemas.openxmlformats.org/drawingml/2006/main">
            <a:r>
              <a:t/>
            </a:r>
          </a:p>
          <a:p xmlns:a="http://schemas.openxmlformats.org/drawingml/2006/main">
            <a:r>
              <a:t>Sources:</a:t>
            </a:r>
          </a:p>
          <a:p xmlns:a="http://schemas.openxmlformats.org/drawingml/2006/main">
            <a:r>
              <a:t>competition/submission-2026-10-20/documents/latex/sections/analysis.tex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HTTP configurations each run thirty tasks. B1 uses an EOA with honest local controls. B2 adds Mandate reservations. B3 adds evidence and separate verification. B4 adds the reference controller. Across 120 tasks, the experiment records 132 settlements with no duplicate payment, including explicit recovery. All ten thousand distinct invalid contract calls reject, while six legal controls accept. The chart shows local median full-task time. Reservation adds gas, and evidence and controller work add latency. These timings include applicable export and verification, exclude setup, and do not describe public-network performance.</a:t>
            </a:r>
          </a:p>
          <a:p xmlns:a="http://schemas.openxmlformats.org/drawingml/2006/main">
            <a:r>
              <a:t/>
            </a:r>
          </a:p>
          <a:p xmlns:a="http://schemas.openxmlformats.org/drawingml/2006/main">
            <a:r>
              <a:t>Presenter window: 455 to 510 seconds (55 seconds).</a:t>
            </a:r>
          </a:p>
          <a:p xmlns:a="http://schemas.openxmlformats.org/drawingml/2006/main">
            <a:r>
              <a:t>Chinese presenter direction (not spoken): 介绍四个基线的差异，再解释样本数与统计口径。图中时间来自本地链实验，不代表 Base Sepolia 延迟；额外登记、证据和控制器均有成本。</a:t>
            </a:r>
          </a:p>
          <a:p xmlns:a="http://schemas.openxmlformats.org/drawingml/2006/main">
            <a:r>
              <a:t/>
            </a:r>
          </a:p>
          <a:p xmlns:a="http://schemas.openxmlformats.org/drawingml/2006/main">
            <a:r>
              <a:t>Sources:</a:t>
            </a:r>
          </a:p>
          <a:p xmlns:a="http://schemas.openxmlformats.org/drawingml/2006/main">
            <a:r>
              <a:t>competition/submission-2026-10-20/documents/latex/sections/evaluation.tex</a:t>
            </a:r>
          </a:p>
          <a:p xmlns:a="http://schemas.openxmlformats.org/drawingml/2006/main">
            <a:r>
              <a:t>artifacts/m7/benchmarks/audit.json</a:t>
            </a:r>
          </a:p>
          <a:p xmlns:a="http://schemas.openxmlformats.org/drawingml/2006/main">
            <a:r>
              <a:t>artifacts/m7/research/dataset-audit.json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execution package links eight key Base Sepolia transactions, including account preparation, registration, settlement and owner revocation. The successful task pays 0.01 USDC once and retains a final balance of 0.14. After revocation, an unused step receives an inactive-grant response before another transaction. The explorer links and exported receipts let reviewers inspect these facts. The merchant and facilitator remain controlled fixtures. Independent HTTPS provenance and complete history are still missing, so the overall verification report stays incomplete.</a:t>
            </a:r>
          </a:p>
          <a:p xmlns:a="http://schemas.openxmlformats.org/drawingml/2006/main">
            <a:r>
              <a:t/>
            </a:r>
          </a:p>
          <a:p xmlns:a="http://schemas.openxmlformats.org/drawingml/2006/main">
            <a:r>
              <a:t>Presenter window: 510 to 555 seconds (45 seconds).</a:t>
            </a:r>
          </a:p>
          <a:p xmlns:a="http://schemas.openxmlformats.org/drawingml/2006/main">
            <a:r>
              <a:t>Chinese presenter direction (not spoken): 通过链上交易、最终余额和撤销后拒绝记录回顾实测结果。说明广播前拒绝不是链上失败交易，并保留受控服务及来源证据方面的限制。</a:t>
            </a:r>
          </a:p>
          <a:p xmlns:a="http://schemas.openxmlformats.org/drawingml/2006/main">
            <a:r>
              <a:t/>
            </a:r>
          </a:p>
          <a:p xmlns:a="http://schemas.openxmlformats.org/drawingml/2006/main">
            <a:r>
              <a:t>Sources:</a:t>
            </a:r>
          </a:p>
          <a:p xmlns:a="http://schemas.openxmlformats.org/drawingml/2006/main">
            <a:r>
              <a:t>competition/submission-2026-10-20/documents/latex/sections/public-case.tex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product combines financial constraints, a graphical workspace, native agent connection and recoverable procurement records. A new user can prepare an account, authorize a finite session and purchase an approved service through Claude. The next priorities are supported installation and updates, broader merchant compatibility, independent source witnessing and separately managed retention. Beacon commitments and stronger execution proofs need further design and evaluation. The present evidence supports a specific testnet implementation. It leaves clear questions for the next engineering and research stages.</a:t>
            </a:r>
          </a:p>
          <a:p xmlns:a="http://schemas.openxmlformats.org/drawingml/2006/main">
            <a:r>
              <a:t/>
            </a:r>
          </a:p>
          <a:p xmlns:a="http://schemas.openxmlformats.org/drawingml/2006/main">
            <a:r>
              <a:t>Presenter window: 555 to 600 seconds (45 seconds).</a:t>
            </a:r>
          </a:p>
          <a:p xmlns:a="http://schemas.openxmlformats.org/drawingml/2006/main">
            <a:r>
              <a:t>Chinese presenter direction (not spoken): 总结当前用户可以完成的流程，并将产品发行、服务兼容、独立来源见证和外部证据保留列为后续工作。随机信标承诺和更强执行证明仍属于研究方向。</a:t>
            </a:r>
          </a:p>
          <a:p xmlns:a="http://schemas.openxmlformats.org/drawingml/2006/main">
            <a:r>
              <a:t/>
            </a:r>
          </a:p>
          <a:p xmlns:a="http://schemas.openxmlformats.org/drawingml/2006/main">
            <a:r>
              <a:t>Sources:</a:t>
            </a:r>
          </a:p>
          <a:p xmlns:a="http://schemas.openxmlformats.org/drawingml/2006/main">
            <a:r>
              <a:t>competition/submission-2026-10-20/documents/latex/sections/conclusion.tex</a:t>
            </a:r>
          </a:p>
          <a:p xmlns:a="http://schemas.openxmlformats.org/drawingml/2006/main">
            <a:r>
              <a:t>competition/submission-2026-10-20/documents/latex/sections/analysis.tex</a:t>
            </a:r>
          </a:p>
          <a:p xmlns:a="http://schemas.openxmlformats.org/drawingml/2006/main">
            <a:r>
              <a:t>https://docs.drand.love/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7324470ade49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4f1781a27248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8a46908d4f46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e19af65e0845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c271aa72664e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7f2bb6c67143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67C4CF-B3A9-4898-BE07-0E9644D368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6C7850-885C-45DC-8311-3231B9F5C9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357708-C319-420C-8D85-A0DD954AB4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73B8BB-9712-4C2A-A48E-06839A2617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20A802-BF02-4496-9E46-CDF03A20F8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767669-155C-4DFD-9C62-964A70AE71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B4DD71-BC04-49C3-89A1-B4159CE54B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C0988E-075B-47E6-B2DA-68D397EE1E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81444B-48D0-4583-8271-449E1A9E7E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CD06DF-D467-4611-907A-B5029ECEB2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86779e523547c2" /><Relationship Type="http://schemas.openxmlformats.org/officeDocument/2006/relationships/slideLayout" Target="/ppt/slideLayouts/slideLayout1.xml" Id="R8296728267224884" /><Relationship Type="http://schemas.openxmlformats.org/officeDocument/2006/relationships/slideLayout" Target="/ppt/slideLayouts/slideLayout2.xml" Id="R49f01d3fc83546b1" /><Relationship Type="http://schemas.openxmlformats.org/officeDocument/2006/relationships/slideLayout" Target="/ppt/slideLayouts/slideLayout3.xml" Id="Rd7fc51b7e76e4301" /><Relationship Type="http://schemas.openxmlformats.org/officeDocument/2006/relationships/slideLayout" Target="/ppt/slideLayouts/slideLayout4.xml" Id="R861830d4557b4cf8" /><Relationship Type="http://schemas.openxmlformats.org/officeDocument/2006/relationships/slideLayout" Target="/ppt/slideLayouts/slideLayout5.xml" Id="Re1ba6181b35b40d1" /><Relationship Type="http://schemas.openxmlformats.org/officeDocument/2006/relationships/slideLayout" Target="/ppt/slideLayouts/slideLayout6.xml" Id="R118f2b7c7b784a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6728267224884"/>
    <p:sldLayoutId xmlns:r="http://schemas.openxmlformats.org/officeDocument/2006/relationships" id="2147483650" r:id="R49f01d3fc83546b1"/>
    <p:sldLayoutId xmlns:r="http://schemas.openxmlformats.org/officeDocument/2006/relationships" id="2147483651" r:id="Rd7fc51b7e76e4301"/>
    <p:sldLayoutId xmlns:r="http://schemas.openxmlformats.org/officeDocument/2006/relationships" id="2147483652" r:id="R861830d4557b4cf8"/>
    <p:sldLayoutId xmlns:r="http://schemas.openxmlformats.org/officeDocument/2006/relationships" id="2147483653" r:id="Re1ba6181b35b40d1"/>
    <p:sldLayoutId xmlns:r="http://schemas.openxmlformats.org/officeDocument/2006/relationships" id="2147483654" r:id="R118f2b7c7b784a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4887eb6dc443b1" /><Relationship Type="http://schemas.openxmlformats.org/officeDocument/2006/relationships/image" Target="/ppt/media/image.jpeg" Id="Re00cdaebb5f54685" /><Relationship Type="http://schemas.openxmlformats.org/officeDocument/2006/relationships/image" Target="/ppt/media/image.svg" Id="R4c6d9b446f6549e5" /><Relationship Type="http://schemas.openxmlformats.org/officeDocument/2006/relationships/image" Target="/ppt/media/image2.jpeg" Id="Rb4ae5d79f9a1473e" /><Relationship Type="http://schemas.openxmlformats.org/officeDocument/2006/relationships/image" Target="/ppt/media/image2.svg" Id="R198d723a63ea4a35" /><Relationship Type="http://schemas.openxmlformats.org/officeDocument/2006/relationships/image" Target="/ppt/media/image3.jpeg" Id="R42b11c48af9d4680" /><Relationship Type="http://schemas.openxmlformats.org/officeDocument/2006/relationships/image" Target="/ppt/media/image3.svg" Id="R557ce9c27dd847ca" /><Relationship Type="http://schemas.openxmlformats.org/officeDocument/2006/relationships/notesSlide" Target="/ppt/notesSlides/notesSlide1.xml" Id="Rfe397c95b37b44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492e27606d476a" /><Relationship Type="http://schemas.openxmlformats.org/officeDocument/2006/relationships/image" Target="/ppt/media/image.png" Id="R90d5651acbbf4dcb" /><Relationship Type="http://schemas.openxmlformats.org/officeDocument/2006/relationships/image" Target="/ppt/media/image4.svg" Id="R71074a76344b4c40" /><Relationship Type="http://schemas.openxmlformats.org/officeDocument/2006/relationships/notesSlide" Target="/ppt/notesSlides/notesSlide2.xml" Id="Rc8570c1b34124f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26d8744bc84dd7" /><Relationship Type="http://schemas.openxmlformats.org/officeDocument/2006/relationships/image" Target="/ppt/media/image2.png" Id="R7a2b33cdb4e84d5d" /><Relationship Type="http://schemas.openxmlformats.org/officeDocument/2006/relationships/image" Target="/ppt/media/image5.svg" Id="R5ec1cf19d2bf4d51" /><Relationship Type="http://schemas.openxmlformats.org/officeDocument/2006/relationships/notesSlide" Target="/ppt/notesSlides/notesSlide3.xml" Id="Rcf76458d52314b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7d299538d4442a8" /><Relationship Type="http://schemas.openxmlformats.org/officeDocument/2006/relationships/image" Target="/ppt/media/image3.png" Id="R8a4bc13214fe404f" /><Relationship Type="http://schemas.openxmlformats.org/officeDocument/2006/relationships/image" Target="/ppt/media/image6.svg" Id="R1803f655cae44bf9" /><Relationship Type="http://schemas.openxmlformats.org/officeDocument/2006/relationships/notesSlide" Target="/ppt/notesSlides/notesSlide4.xml" Id="Rac04ccf022214a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5d5151daf3b4bcc" /><Relationship Type="http://schemas.openxmlformats.org/officeDocument/2006/relationships/image" Target="/ppt/media/image4.png" Id="R96d62438a5c64325" /><Relationship Type="http://schemas.openxmlformats.org/officeDocument/2006/relationships/image" Target="/ppt/media/image7.svg" Id="Ra02b918e22b14f4d" /><Relationship Type="http://schemas.openxmlformats.org/officeDocument/2006/relationships/notesSlide" Target="/ppt/notesSlides/notesSlide5.xml" Id="Rfacca394354649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b000c8aec04018" /><Relationship Type="http://schemas.openxmlformats.org/officeDocument/2006/relationships/image" Target="/ppt/media/image5.png" Id="R56d19e12c8fc4d13" /><Relationship Type="http://schemas.openxmlformats.org/officeDocument/2006/relationships/image" Target="/ppt/media/image8.svg" Id="R6062e211ec624944" /><Relationship Type="http://schemas.openxmlformats.org/officeDocument/2006/relationships/notesSlide" Target="/ppt/notesSlides/notesSlide6.xml" Id="R8b023f0a4ca74b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7dd9f0b8dd4248" /><Relationship Type="http://schemas.openxmlformats.org/officeDocument/2006/relationships/image" Target="/ppt/media/image6.png" Id="R9c1f29f5baba42ab" /><Relationship Type="http://schemas.openxmlformats.org/officeDocument/2006/relationships/image" Target="/ppt/media/image9.svg" Id="R8932f213c6bc496b" /><Relationship Type="http://schemas.openxmlformats.org/officeDocument/2006/relationships/notesSlide" Target="/ppt/notesSlides/notesSlide7.xml" Id="Rf4707257140e48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d1925cc0e44545" /><Relationship Type="http://schemas.openxmlformats.org/officeDocument/2006/relationships/image" Target="/ppt/media/image7.png" Id="R69e06650a01c45b5" /><Relationship Type="http://schemas.openxmlformats.org/officeDocument/2006/relationships/image" Target="/ppt/media/image10.svg" Id="R50d90028d6d14ebf" /><Relationship Type="http://schemas.openxmlformats.org/officeDocument/2006/relationships/notesSlide" Target="/ppt/notesSlides/notesSlide8.xml" Id="Re5a6a006e8774b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bb6887d7d54782" /><Relationship Type="http://schemas.openxmlformats.org/officeDocument/2006/relationships/image" Target="/ppt/media/image8.png" Id="Rf6c220bf4120417d" /><Relationship Type="http://schemas.openxmlformats.org/officeDocument/2006/relationships/image" Target="/ppt/media/image11.svg" Id="Rca4be4598f874cc1" /><Relationship Type="http://schemas.openxmlformats.org/officeDocument/2006/relationships/notesSlide" Target="/ppt/notesSlides/notesSlide9.xml" Id="Rbbdadd71f65747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7af0c090904b9a" /><Relationship Type="http://schemas.openxmlformats.org/officeDocument/2006/relationships/image" Target="/ppt/media/image9.png" Id="R341bca48259d4c48" /><Relationship Type="http://schemas.openxmlformats.org/officeDocument/2006/relationships/image" Target="/ppt/media/image12.svg" Id="Rea507d930cdc46d5" /><Relationship Type="http://schemas.openxmlformats.org/officeDocument/2006/relationships/notesSlide" Target="/ppt/notesSlides/notesSlide10.xml" Id="Ra932af6754514f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032ff52f4648b9" /><Relationship Type="http://schemas.openxmlformats.org/officeDocument/2006/relationships/image" Target="/ppt/media/image10.png" Id="R059a6a37b032452d" /><Relationship Type="http://schemas.openxmlformats.org/officeDocument/2006/relationships/image" Target="/ppt/media/image13.svg" Id="R9e918ebf8e594aca" /><Relationship Type="http://schemas.openxmlformats.org/officeDocument/2006/relationships/notesSlide" Target="/ppt/notesSlides/notesSlide11.xml" Id="Rb178d4ad989b49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5de7da7c7394002" /><Relationship Type="http://schemas.openxmlformats.org/officeDocument/2006/relationships/image" Target="/ppt/media/image11.png" Id="R23d0d2f1810d4398" /><Relationship Type="http://schemas.openxmlformats.org/officeDocument/2006/relationships/image" Target="/ppt/media/image14.svg" Id="Rd127332cda3e49c2" /><Relationship Type="http://schemas.openxmlformats.org/officeDocument/2006/relationships/chart" Target="/ppt/slides/charts/chart1.xml" Id="R94a21af1c5e24801" /><Relationship Type="http://schemas.openxmlformats.org/officeDocument/2006/relationships/notesSlide" Target="/ppt/notesSlides/notesSlide12.xml" Id="R50c43693fdb74b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4272170a29949c2" /><Relationship Type="http://schemas.openxmlformats.org/officeDocument/2006/relationships/image" Target="/ppt/media/image12.png" Id="Ra7daa3e8074844f3" /><Relationship Type="http://schemas.openxmlformats.org/officeDocument/2006/relationships/image" Target="/ppt/media/image15.svg" Id="Rf55f42bc23ec45de" /><Relationship Type="http://schemas.openxmlformats.org/officeDocument/2006/relationships/hyperlink" Target="https://sepolia.basescan.org/tx/0xc23d943b69c94a5a8468ab32ee9b454ab6b57f7681ba4b93f16e4d58ae840c5d" TargetMode="External" Id="Rb53afccc0f174c37" /><Relationship Type="http://schemas.openxmlformats.org/officeDocument/2006/relationships/hyperlink" Target="https://sepolia.basescan.org/tx/0x5ba3feb1febde1fc2637c524ac031aa17e0a9f583bf39fc843bb865162d69a6e" TargetMode="External" Id="R048938ee32144676" /><Relationship Type="http://schemas.openxmlformats.org/officeDocument/2006/relationships/notesSlide" Target="/ppt/notesSlides/notesSlide13.xml" Id="R03c64dd28c4f41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b5d245ead744acc" /><Relationship Type="http://schemas.openxmlformats.org/officeDocument/2006/relationships/image" Target="/ppt/media/image13.png" Id="R0a4f66179f02427c" /><Relationship Type="http://schemas.openxmlformats.org/officeDocument/2006/relationships/image" Target="/ppt/media/image16.svg" Id="R649820c3373d4ca1" /><Relationship Type="http://schemas.openxmlformats.org/officeDocument/2006/relationships/image" Target="/ppt/media/image14.png" Id="R4e3689511499416a" /><Relationship Type="http://schemas.openxmlformats.org/officeDocument/2006/relationships/image" Target="/ppt/media/image17.svg" Id="R2151a610fa3a4842" /><Relationship Type="http://schemas.openxmlformats.org/officeDocument/2006/relationships/notesSlide" Target="/ppt/notesSlides/notesSlide14.xml" Id="R5686cefd080b4d0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Milliseconds</c:v>
          </c:tx>
          <c:spPr>
            <a:solidFill xmlns:a="http://schemas.openxmlformats.org/drawingml/2006/main">
              <a:srgbClr val="62ACFF"/>
            </a:solidFill>
          </c:spPr>
          <c:invertIfNegative val="0"/>
          <c:cat>
            <c:strRef>
              <c:f>'Chart Data'!$A$2:$A$5</c:f>
              <c:strCache>
                <c:ptCount val="4"/>
                <c:pt idx="0">
                  <c:v>EOA reference</c:v>
                </c:pt>
                <c:pt idx="1">
                  <c:v>Mandate</c:v>
                </c:pt>
                <c:pt idx="2">
                  <c:v>+ evidence</c:v>
                </c:pt>
                <c:pt idx="3">
                  <c:v>+ controller</c:v>
                </c:pt>
              </c:strCache>
            </c:strRef>
          </c:cat>
          <c:val>
            <c:numRef>
              <c:f>'Chart Data'!$B$2:$B$5</c:f>
              <c:numCache>
                <c:formatCode>General</c:formatCode>
                <c:ptCount val="4"/>
                <c:pt idx="0">
                  <c:v>27.33</c:v>
                </c:pt>
                <c:pt idx="1">
                  <c:v>55.72</c:v>
                </c:pt>
                <c:pt idx="2">
                  <c:v>317.94</c:v>
                </c:pt>
                <c:pt idx="3">
                  <c:v>399.33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F5F6F8"/>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54052"/>
            </a:solidFill>
          </a:ln>
        </c:spPr>
        <c:txPr>
          <a:bodyPr xmlns:a="http://schemas.openxmlformats.org/drawingml/2006/main" anchorCtr="1"/>
          <a:lstStyle xmlns:a="http://schemas.openxmlformats.org/drawingml/2006/main"/>
          <a:p xmlns:a="http://schemas.openxmlformats.org/drawingml/2006/main">
            <a:pPr>
              <a:defRPr sz="1425">
                <a:solidFill>
                  <a:srgbClr val="F5F6F8"/>
                </a:solidFill>
                <a:latin typeface="Arial"/>
                <a:ea typeface="Arial"/>
                <a:cs typeface="Arial"/>
              </a:defRPr>
            </a:pPr>
          </a:p>
        </c:txPr>
        <c:crossAx val="48672768"/>
      </c:catAx>
      <c:valAx>
        <c:axId val="48672768"/>
        <c:scaling>
          <c:orientation val="minMax"/>
          <c:max val="450"/>
          <c:min val="0"/>
        </c:scaling>
        <c:delete val="0"/>
        <c:axPos val="l"/>
        <c:majorGridlines>
          <c:spPr>
            <a:ln xmlns:a="http://schemas.openxmlformats.org/drawingml/2006/main" w="9525">
              <a:solidFill>
                <a:srgbClr val="35405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A0A5AF"/>
                </a:solidFill>
                <a:latin typeface="Arial"/>
                <a:ea typeface="Arial"/>
                <a:cs typeface="Arial"/>
              </a:defRPr>
            </a:pPr>
          </a:p>
        </c:txPr>
        <c:crossAx val="48650112"/>
        <c:crossBetween val="between"/>
      </c:valAx>
      <c:spPr>
        <a:solidFill xmlns:a="http://schemas.openxmlformats.org/drawingml/2006/main">
          <a:srgbClr val="08090B"/>
        </a:solidFill>
      </c:spPr>
    </c:plotArea>
    <c:plotVisOnly val="1"/>
  </c:chart>
  <c:spPr>
    <a:solidFill xmlns:a="http://schemas.openxmlformats.org/drawingml/2006/main">
      <a:srgbClr val="08090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8D6F4BF-4872-4AC2-A388-A701E610154A}"/>
              </a:ext>
            </a:extLst>
          </p:cNvPr>
          <p:cNvPicPr>
            <a:picLocks xmlns:a="http://schemas.openxmlformats.org/drawingml/2006/main" noChangeAspect="1"/>
          </p:cNvPicPr>
          <p:nvPr/>
        </p:nvPicPr>
        <p:blipFill>
          <a:blip xmlns:r="http://schemas.openxmlformats.org/officeDocument/2006/relationships" xmlns:a="http://schemas.openxmlformats.org/drawingml/2006/main" r:embed="Re00cdaebb5f54685">
            <a:extLst>
              <a:ext uri="{96DAC541-7B7A-43D3-8B79-37D633B846F1}">
                <asvg:svgBlip xmlns:asvg="http://schemas.microsoft.com/office/drawing/2016/SVG/main" r:embed="R4c6d9b446f6549e5"/>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C27AE413-8431-4719-8B8C-A9555964800D}"/>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buNone/>
              <a:defRPr sz="1275" b="0">
                <a:solidFill>
                  <a:srgbClr val="A0A5AF"/>
                </a:solidFill>
                <a:latin typeface="Arial"/>
                <a:ea typeface="Arial"/>
                <a:cs typeface="Arial"/>
              </a:defRPr>
            </a:pPr>
            <a:r>
              <a:rPr sz="1275" b="0">
                <a:solidFill>
                  <a:srgbClr val="A0A5AF"/>
                </a:solidFill>
                <a:latin typeface="Arial"/>
                <a:ea typeface="Arial"/>
                <a:cs typeface="Arial"/>
              </a:rPr>
              <a:t>01</a:t>
            </a:r>
          </a:p>
        </p:txBody>
      </p:sp>
      <p:pic>
        <p:nvPicPr>
          <p:cNvPr id="4" name="">
            <a:extLst xmlns:a="http://schemas.openxmlformats.org/drawingml/2006/main">
              <a:ext uri="{FF2B5EF4-FFF2-40B4-BE49-F238E27FC236}">
                <a16:creationId xmlns:a16="http://schemas.microsoft.com/office/drawing/2014/main" id="{CD801BD5-9C02-4407-A4BE-C671AE20F3C1}"/>
              </a:ext>
            </a:extLst>
          </p:cNvPr>
          <p:cNvPicPr>
            <a:picLocks xmlns:a="http://schemas.openxmlformats.org/drawingml/2006/main" noChangeAspect="1"/>
          </p:cNvPicPr>
          <p:nvPr/>
        </p:nvPicPr>
        <p:blipFill>
          <a:blip xmlns:r="http://schemas.openxmlformats.org/officeDocument/2006/relationships" xmlns:a="http://schemas.openxmlformats.org/drawingml/2006/main" r:embed="Rb4ae5d79f9a1473e">
            <a:extLst>
              <a:ext uri="{96DAC541-7B7A-43D3-8B79-37D633B846F1}">
                <asvg:svgBlip xmlns:asvg="http://schemas.microsoft.com/office/drawing/2016/SVG/main" r:embed="R198d723a63ea4a35"/>
              </a:ext>
            </a:extLst>
          </a:blip>
          <a:stretch xmlns:a="http://schemas.openxmlformats.org/drawingml/2006/main"/>
        </p:blipFill>
        <p:spPr>
          <a:xfrm xmlns:a="http://schemas.openxmlformats.org/drawingml/2006/main">
            <a:off x="609600" y="1762125"/>
            <a:ext cx="6191250" cy="1076325"/>
          </a:xfrm>
          <a:prstGeom xmlns:a="http://schemas.openxmlformats.org/drawingml/2006/main" prst="rect">
            <a:avLst/>
          </a:prstGeom>
        </p:spPr>
      </p:pic>
      <p:sp>
        <p:nvSpPr>
          <p:cNvPr id="5" name="Scoped USDC payments&#10;for AI agents">
            <a:extLst xmlns:a="http://schemas.openxmlformats.org/drawingml/2006/main">
              <a:ext uri="{FF2B5EF4-FFF2-40B4-BE49-F238E27FC236}">
                <a16:creationId xmlns:a16="http://schemas.microsoft.com/office/drawing/2014/main" id="{8A643403-D94F-4493-9969-B140D4EB1114}"/>
              </a:ext>
            </a:extLst>
          </p:cNvPr>
          <p:cNvSpPr>
            <a:spLocks xmlns:a="http://schemas.openxmlformats.org/drawingml/2006/main" noGrp="1"/>
          </p:cNvSpPr>
          <p:nvPr/>
        </p:nvSpPr>
        <p:spPr>
          <a:xfrm xmlns:a="http://schemas.openxmlformats.org/drawingml/2006/main">
            <a:off x="666750" y="3181350"/>
            <a:ext cx="695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5F6F8"/>
                </a:solidFill>
                <a:latin typeface="Arial"/>
                <a:ea typeface="Arial"/>
                <a:cs typeface="Arial"/>
              </a:defRPr>
            </a:defPPr>
            <a:lvl1pPr algn="l">
              <a:defRPr sz="3975" b="1">
                <a:solidFill>
                  <a:srgbClr val="F5F6F8"/>
                </a:solidFill>
                <a:latin typeface="Arial"/>
                <a:ea typeface="Arial"/>
                <a:cs typeface="Arial"/>
              </a:defRPr>
            </a:lvl1pPr>
            <a:lvl2pPr algn="l">
              <a:defRPr sz="3975" b="1">
                <a:solidFill>
                  <a:srgbClr val="F5F6F8"/>
                </a:solidFill>
                <a:latin typeface="Arial"/>
                <a:ea typeface="Arial"/>
                <a:cs typeface="Arial"/>
              </a:defRPr>
            </a:lvl2pPr>
            <a:lvl3pPr algn="l">
              <a:defRPr sz="3975" b="1">
                <a:solidFill>
                  <a:srgbClr val="F5F6F8"/>
                </a:solidFill>
                <a:latin typeface="Arial"/>
                <a:ea typeface="Arial"/>
                <a:cs typeface="Arial"/>
              </a:defRPr>
            </a:lvl3pPr>
            <a:lvl4pPr algn="l">
              <a:defRPr sz="3975" b="1">
                <a:solidFill>
                  <a:srgbClr val="F5F6F8"/>
                </a:solidFill>
                <a:latin typeface="Arial"/>
                <a:ea typeface="Arial"/>
                <a:cs typeface="Arial"/>
              </a:defRPr>
            </a:lvl4pPr>
            <a:lvl5pPr algn="l">
              <a:defRPr sz="3975" b="1">
                <a:solidFill>
                  <a:srgbClr val="F5F6F8"/>
                </a:solidFill>
                <a:latin typeface="Arial"/>
                <a:ea typeface="Arial"/>
                <a:cs typeface="Arial"/>
              </a:defRPr>
            </a:lvl5pPr>
            <a:lvl6pPr algn="l">
              <a:defRPr sz="3975" b="1">
                <a:solidFill>
                  <a:srgbClr val="F5F6F8"/>
                </a:solidFill>
                <a:latin typeface="Arial"/>
                <a:ea typeface="Arial"/>
                <a:cs typeface="Arial"/>
              </a:defRPr>
            </a:lvl6pPr>
            <a:lvl7pPr algn="l">
              <a:defRPr sz="3975" b="1">
                <a:solidFill>
                  <a:srgbClr val="F5F6F8"/>
                </a:solidFill>
                <a:latin typeface="Arial"/>
                <a:ea typeface="Arial"/>
                <a:cs typeface="Arial"/>
              </a:defRPr>
            </a:lvl7pPr>
            <a:lvl8pPr algn="l">
              <a:defRPr sz="3975" b="1">
                <a:solidFill>
                  <a:srgbClr val="F5F6F8"/>
                </a:solidFill>
                <a:latin typeface="Arial"/>
                <a:ea typeface="Arial"/>
                <a:cs typeface="Arial"/>
              </a:defRPr>
            </a:lvl8pPr>
            <a:lvl9pPr algn="l">
              <a:defRPr sz="3975" b="1">
                <a:solidFill>
                  <a:srgbClr val="F5F6F8"/>
                </a:solidFill>
                <a:latin typeface="Arial"/>
                <a:ea typeface="Arial"/>
                <a:cs typeface="Arial"/>
              </a:defRPr>
            </a:lvl9pPr>
          </a:lstStyle>
          <a:p xmlns:a="http://schemas.openxmlformats.org/drawingml/2006/main">
            <a:pPr algn="l">
              <a:buNone/>
              <a:defRPr sz="3975" b="1">
                <a:solidFill>
                  <a:srgbClr val="F5F6F8"/>
                </a:solidFill>
                <a:latin typeface="Arial"/>
                <a:ea typeface="Arial"/>
                <a:cs typeface="Arial"/>
              </a:defRPr>
            </a:pPr>
            <a:r>
              <a:rPr sz="3975" b="1">
                <a:solidFill>
                  <a:srgbClr val="F5F6F8"/>
                </a:solidFill>
                <a:latin typeface="Arial"/>
                <a:ea typeface="Arial"/>
                <a:cs typeface="Arial"/>
              </a:rPr>
              <a:t>Scoped USDC payments</a:t>
            </a:r>
          </a:p>
          <a:p xmlns:a="http://schemas.openxmlformats.org/drawingml/2006/main">
            <a:pPr algn="l">
              <a:buNone/>
              <a:defRPr sz="3975" b="1">
                <a:solidFill>
                  <a:srgbClr val="F5F6F8"/>
                </a:solidFill>
                <a:latin typeface="Arial"/>
                <a:ea typeface="Arial"/>
                <a:cs typeface="Arial"/>
              </a:defRPr>
            </a:pPr>
            <a:r>
              <a:rPr sz="3975" b="1">
                <a:solidFill>
                  <a:srgbClr val="F5F6F8"/>
                </a:solidFill>
                <a:latin typeface="Arial"/>
                <a:ea typeface="Arial"/>
                <a:cs typeface="Arial"/>
              </a:rPr>
              <a:t>for AI agents</a:t>
            </a:r>
          </a:p>
        </p:txBody>
      </p:sp>
      <p:sp>
        <p:nvSpPr>
          <p:cNvPr id="6" name="2026 FinTechathon  /  Topic F">
            <a:extLst xmlns:a="http://schemas.openxmlformats.org/drawingml/2006/main">
              <a:ext uri="{FF2B5EF4-FFF2-40B4-BE49-F238E27FC236}">
                <a16:creationId xmlns:a16="http://schemas.microsoft.com/office/drawing/2014/main" id="{4AFDE9AA-C5BF-47C8-A66A-0082A78B410B}"/>
              </a:ext>
            </a:extLst>
          </p:cNvPr>
          <p:cNvSpPr>
            <a:spLocks xmlns:a="http://schemas.openxmlformats.org/drawingml/2006/main" noGrp="1"/>
          </p:cNvSpPr>
          <p:nvPr/>
        </p:nvSpPr>
        <p:spPr>
          <a:xfrm xmlns:a="http://schemas.openxmlformats.org/drawingml/2006/main">
            <a:off x="685800" y="509587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ACFF"/>
                </a:solidFill>
                <a:latin typeface="Arial"/>
                <a:ea typeface="Arial"/>
                <a:cs typeface="Arial"/>
              </a:defRPr>
            </a:defPPr>
            <a:lvl1pPr algn="l">
              <a:defRPr sz="1875" b="0">
                <a:solidFill>
                  <a:srgbClr val="62ACFF"/>
                </a:solidFill>
                <a:latin typeface="Arial"/>
                <a:ea typeface="Arial"/>
                <a:cs typeface="Arial"/>
              </a:defRPr>
            </a:lvl1pPr>
            <a:lvl2pPr algn="l">
              <a:defRPr sz="1875" b="0">
                <a:solidFill>
                  <a:srgbClr val="62ACFF"/>
                </a:solidFill>
                <a:latin typeface="Arial"/>
                <a:ea typeface="Arial"/>
                <a:cs typeface="Arial"/>
              </a:defRPr>
            </a:lvl2pPr>
            <a:lvl3pPr algn="l">
              <a:defRPr sz="1875" b="0">
                <a:solidFill>
                  <a:srgbClr val="62ACFF"/>
                </a:solidFill>
                <a:latin typeface="Arial"/>
                <a:ea typeface="Arial"/>
                <a:cs typeface="Arial"/>
              </a:defRPr>
            </a:lvl3pPr>
            <a:lvl4pPr algn="l">
              <a:defRPr sz="1875" b="0">
                <a:solidFill>
                  <a:srgbClr val="62ACFF"/>
                </a:solidFill>
                <a:latin typeface="Arial"/>
                <a:ea typeface="Arial"/>
                <a:cs typeface="Arial"/>
              </a:defRPr>
            </a:lvl4pPr>
            <a:lvl5pPr algn="l">
              <a:defRPr sz="1875" b="0">
                <a:solidFill>
                  <a:srgbClr val="62ACFF"/>
                </a:solidFill>
                <a:latin typeface="Arial"/>
                <a:ea typeface="Arial"/>
                <a:cs typeface="Arial"/>
              </a:defRPr>
            </a:lvl5pPr>
            <a:lvl6pPr algn="l">
              <a:defRPr sz="1875" b="0">
                <a:solidFill>
                  <a:srgbClr val="62ACFF"/>
                </a:solidFill>
                <a:latin typeface="Arial"/>
                <a:ea typeface="Arial"/>
                <a:cs typeface="Arial"/>
              </a:defRPr>
            </a:lvl6pPr>
            <a:lvl7pPr algn="l">
              <a:defRPr sz="1875" b="0">
                <a:solidFill>
                  <a:srgbClr val="62ACFF"/>
                </a:solidFill>
                <a:latin typeface="Arial"/>
                <a:ea typeface="Arial"/>
                <a:cs typeface="Arial"/>
              </a:defRPr>
            </a:lvl7pPr>
            <a:lvl8pPr algn="l">
              <a:defRPr sz="1875" b="0">
                <a:solidFill>
                  <a:srgbClr val="62ACFF"/>
                </a:solidFill>
                <a:latin typeface="Arial"/>
                <a:ea typeface="Arial"/>
                <a:cs typeface="Arial"/>
              </a:defRPr>
            </a:lvl8pPr>
            <a:lvl9pPr algn="l">
              <a:defRPr sz="1875" b="0">
                <a:solidFill>
                  <a:srgbClr val="62ACFF"/>
                </a:solidFill>
                <a:latin typeface="Arial"/>
                <a:ea typeface="Arial"/>
                <a:cs typeface="Arial"/>
              </a:defRPr>
            </a:lvl9pPr>
          </a:lstStyle>
          <a:p xmlns:a="http://schemas.openxmlformats.org/drawingml/2006/main">
            <a:pPr algn="l">
              <a:buNone/>
              <a:defRPr sz="1875" b="0">
                <a:solidFill>
                  <a:srgbClr val="62ACFF"/>
                </a:solidFill>
                <a:latin typeface="Arial"/>
                <a:ea typeface="Arial"/>
                <a:cs typeface="Arial"/>
              </a:defRPr>
            </a:pPr>
            <a:r>
              <a:rPr sz="1875" b="0">
                <a:solidFill>
                  <a:srgbClr val="62ACFF"/>
                </a:solidFill>
                <a:latin typeface="Arial"/>
                <a:ea typeface="Arial"/>
                <a:cs typeface="Arial"/>
              </a:rPr>
              <a:t>2026 FinTechathon  /  Topic F</a:t>
            </a:r>
          </a:p>
        </p:txBody>
      </p:sp>
      <p:sp>
        <p:nvSpPr>
          <p:cNvPr id="7" name="Mandate Labs">
            <a:extLst xmlns:a="http://schemas.openxmlformats.org/drawingml/2006/main">
              <a:ext uri="{FF2B5EF4-FFF2-40B4-BE49-F238E27FC236}">
                <a16:creationId xmlns:a16="http://schemas.microsoft.com/office/drawing/2014/main" id="{34F89CEE-599A-48FC-BA28-858315E2166D}"/>
              </a:ext>
            </a:extLst>
          </p:cNvPr>
          <p:cNvSpPr>
            <a:spLocks xmlns:a="http://schemas.openxmlformats.org/drawingml/2006/main" noGrp="1"/>
          </p:cNvSpPr>
          <p:nvPr/>
        </p:nvSpPr>
        <p:spPr>
          <a:xfrm xmlns:a="http://schemas.openxmlformats.org/drawingml/2006/main">
            <a:off x="685800" y="56578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0A5AF"/>
                </a:solidFill>
                <a:latin typeface="Arial"/>
                <a:ea typeface="Arial"/>
                <a:cs typeface="Arial"/>
              </a:defRPr>
            </a:defPPr>
            <a:lvl1pPr algn="l">
              <a:defRPr sz="1725" b="0">
                <a:solidFill>
                  <a:srgbClr val="A0A5AF"/>
                </a:solidFill>
                <a:latin typeface="Arial"/>
                <a:ea typeface="Arial"/>
                <a:cs typeface="Arial"/>
              </a:defRPr>
            </a:lvl1pPr>
            <a:lvl2pPr algn="l">
              <a:defRPr sz="1725" b="0">
                <a:solidFill>
                  <a:srgbClr val="A0A5AF"/>
                </a:solidFill>
                <a:latin typeface="Arial"/>
                <a:ea typeface="Arial"/>
                <a:cs typeface="Arial"/>
              </a:defRPr>
            </a:lvl2pPr>
            <a:lvl3pPr algn="l">
              <a:defRPr sz="1725" b="0">
                <a:solidFill>
                  <a:srgbClr val="A0A5AF"/>
                </a:solidFill>
                <a:latin typeface="Arial"/>
                <a:ea typeface="Arial"/>
                <a:cs typeface="Arial"/>
              </a:defRPr>
            </a:lvl3pPr>
            <a:lvl4pPr algn="l">
              <a:defRPr sz="1725" b="0">
                <a:solidFill>
                  <a:srgbClr val="A0A5AF"/>
                </a:solidFill>
                <a:latin typeface="Arial"/>
                <a:ea typeface="Arial"/>
                <a:cs typeface="Arial"/>
              </a:defRPr>
            </a:lvl4pPr>
            <a:lvl5pPr algn="l">
              <a:defRPr sz="1725" b="0">
                <a:solidFill>
                  <a:srgbClr val="A0A5AF"/>
                </a:solidFill>
                <a:latin typeface="Arial"/>
                <a:ea typeface="Arial"/>
                <a:cs typeface="Arial"/>
              </a:defRPr>
            </a:lvl5pPr>
            <a:lvl6pPr algn="l">
              <a:defRPr sz="1725" b="0">
                <a:solidFill>
                  <a:srgbClr val="A0A5AF"/>
                </a:solidFill>
                <a:latin typeface="Arial"/>
                <a:ea typeface="Arial"/>
                <a:cs typeface="Arial"/>
              </a:defRPr>
            </a:lvl6pPr>
            <a:lvl7pPr algn="l">
              <a:defRPr sz="1725" b="0">
                <a:solidFill>
                  <a:srgbClr val="A0A5AF"/>
                </a:solidFill>
                <a:latin typeface="Arial"/>
                <a:ea typeface="Arial"/>
                <a:cs typeface="Arial"/>
              </a:defRPr>
            </a:lvl7pPr>
            <a:lvl8pPr algn="l">
              <a:defRPr sz="1725" b="0">
                <a:solidFill>
                  <a:srgbClr val="A0A5AF"/>
                </a:solidFill>
                <a:latin typeface="Arial"/>
                <a:ea typeface="Arial"/>
                <a:cs typeface="Arial"/>
              </a:defRPr>
            </a:lvl8pPr>
            <a:lvl9pPr algn="l">
              <a:defRPr sz="1725" b="0">
                <a:solidFill>
                  <a:srgbClr val="A0A5AF"/>
                </a:solidFill>
                <a:latin typeface="Arial"/>
                <a:ea typeface="Arial"/>
                <a:cs typeface="Arial"/>
              </a:defRPr>
            </a:lvl9pPr>
          </a:lstStyle>
          <a:p xmlns:a="http://schemas.openxmlformats.org/drawingml/2006/main">
            <a:pPr algn="l">
              <a:buNone/>
              <a:defRPr sz="1725" b="0">
                <a:solidFill>
                  <a:srgbClr val="A0A5AF"/>
                </a:solidFill>
                <a:latin typeface="Arial"/>
                <a:ea typeface="Arial"/>
                <a:cs typeface="Arial"/>
              </a:defRPr>
            </a:pPr>
            <a:r>
              <a:rPr sz="1725" b="0">
                <a:solidFill>
                  <a:srgbClr val="A0A5AF"/>
                </a:solidFill>
                <a:latin typeface="Arial"/>
                <a:ea typeface="Arial"/>
                <a:cs typeface="Arial"/>
              </a:rPr>
              <a:t>Mandate Labs</a:t>
            </a:r>
          </a:p>
        </p:txBody>
      </p:sp>
      <p:pic>
        <p:nvPicPr>
          <p:cNvPr id="8" name="">
            <a:extLst xmlns:a="http://schemas.openxmlformats.org/drawingml/2006/main">
              <a:ext uri="{FF2B5EF4-FFF2-40B4-BE49-F238E27FC236}">
                <a16:creationId xmlns:a16="http://schemas.microsoft.com/office/drawing/2014/main" id="{E6B84D5A-A124-4619-922D-13C4A4C9C8C4}"/>
              </a:ext>
            </a:extLst>
          </p:cNvPr>
          <p:cNvPicPr>
            <a:picLocks xmlns:a="http://schemas.openxmlformats.org/drawingml/2006/main" noChangeAspect="1"/>
          </p:cNvPicPr>
          <p:nvPr/>
        </p:nvPicPr>
        <p:blipFill>
          <a:blip xmlns:r="http://schemas.openxmlformats.org/officeDocument/2006/relationships" xmlns:a="http://schemas.openxmlformats.org/drawingml/2006/main" r:embed="R42b11c48af9d4680">
            <a:extLst>
              <a:ext uri="{96DAC541-7B7A-43D3-8B79-37D633B846F1}">
                <asvg:svgBlip xmlns:asvg="http://schemas.microsoft.com/office/drawing/2016/SVG/main" r:embed="R557ce9c27dd847ca"/>
              </a:ext>
            </a:extLst>
          </a:blip>
          <a:stretch xmlns:a="http://schemas.openxmlformats.org/drawingml/2006/main"/>
        </p:blipFill>
        <p:spPr>
          <a:xfrm xmlns:a="http://schemas.openxmlformats.org/drawingml/2006/main">
            <a:off x="8534400" y="2333625"/>
            <a:ext cx="2762250" cy="2762250"/>
          </a:xfrm>
          <a:prstGeom xmlns:a="http://schemas.openxmlformats.org/drawingml/2006/main" prst="rect">
            <a:avLst/>
          </a:prstGeom>
        </p:spPr>
      </p:pic>
    </p:spTree>
    <p:extLst>
      <p:ext uri="{BB962C8B-B14F-4D97-AF65-F5344CB8AC3E}">
        <p14:creationId xmlns:p14="http://schemas.microsoft.com/office/powerpoint/2010/main" val="1154537004"/>
      </p:ext>
    </p:extLst>
  </p:cSld>
</p:sld>
</file>

<file path=ppt/slides/slide2.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3F0D6DE-8BF4-433B-AB7C-0942EF3B77AA}"/>
              </a:ext>
            </a:extLst>
          </p:cNvPr>
          <p:cNvPicPr>
            <a:picLocks xmlns:a="http://schemas.openxmlformats.org/drawingml/2006/main" noChangeAspect="1"/>
          </p:cNvPicPr>
          <p:nvPr/>
        </p:nvPicPr>
        <p:blipFill>
          <a:blip xmlns:r="http://schemas.openxmlformats.org/officeDocument/2006/relationships" xmlns:a="http://schemas.openxmlformats.org/drawingml/2006/main" r:embed="R90d5651acbbf4dcb">
            <a:extLst>
              <a:ext uri="{96DAC541-7B7A-43D3-8B79-37D633B846F1}">
                <asvg:svgBlip xmlns:asvg="http://schemas.microsoft.com/office/drawing/2016/SVG/main" r:embed="R71074a76344b4c40"/>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Spending authority for AI agents">
            <a:extLst xmlns:a="http://schemas.openxmlformats.org/drawingml/2006/main">
              <a:ext uri="{FF2B5EF4-FFF2-40B4-BE49-F238E27FC236}">
                <a16:creationId xmlns:a16="http://schemas.microsoft.com/office/drawing/2014/main" id="{F7F07855-3C4B-495E-A86E-F2E092E561DB}"/>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Spending authority for AI agents</a:t>
            </a:r>
          </a:p>
        </p:txBody>
      </p:sp>
      <p:sp>
        <p:nvSpPr>
          <p:cNvPr id="4" name="Mandate Labs">
            <a:extLst xmlns:a="http://schemas.openxmlformats.org/drawingml/2006/main">
              <a:ext uri="{FF2B5EF4-FFF2-40B4-BE49-F238E27FC236}">
                <a16:creationId xmlns:a16="http://schemas.microsoft.com/office/drawing/2014/main" id="{A60739EE-55CD-4A55-851C-E3DC447A35B8}"/>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2">
            <a:extLst xmlns:a="http://schemas.openxmlformats.org/drawingml/2006/main">
              <a:ext uri="{FF2B5EF4-FFF2-40B4-BE49-F238E27FC236}">
                <a16:creationId xmlns:a16="http://schemas.microsoft.com/office/drawing/2014/main" id="{DC6D96F7-F972-45D7-8FA6-82CF36A23F53}"/>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02</a:t>
            </a:r>
          </a:p>
        </p:txBody>
      </p:sp>
      <p:sp>
        <p:nvSpPr>
          <p:cNvPr id="6" name="The owner defines the scope">
            <a:extLst xmlns:a="http://schemas.openxmlformats.org/drawingml/2006/main">
              <a:ext uri="{FF2B5EF4-FFF2-40B4-BE49-F238E27FC236}">
                <a16:creationId xmlns:a16="http://schemas.microsoft.com/office/drawing/2014/main" id="{F9558C64-C2C3-45EA-BFA6-0781E43A8AE1}"/>
              </a:ext>
            </a:extLst>
          </p:cNvPr>
          <p:cNvSpPr>
            <a:spLocks xmlns:a="http://schemas.openxmlformats.org/drawingml/2006/main" noGrp="1"/>
          </p:cNvSpPr>
          <p:nvPr/>
        </p:nvSpPr>
        <p:spPr>
          <a:xfrm xmlns:a="http://schemas.openxmlformats.org/drawingml/2006/main">
            <a:off x="609600" y="2362200"/>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62ACFF"/>
                </a:solidFill>
                <a:latin typeface="Arial"/>
                <a:ea typeface="Arial"/>
                <a:cs typeface="Arial"/>
              </a:defRPr>
            </a:defPPr>
            <a:lvl1pPr algn="l">
              <a:defRPr sz="3000" b="1">
                <a:solidFill>
                  <a:srgbClr val="62ACFF"/>
                </a:solidFill>
                <a:latin typeface="Arial"/>
                <a:ea typeface="Arial"/>
                <a:cs typeface="Arial"/>
              </a:defRPr>
            </a:lvl1pPr>
            <a:lvl2pPr algn="l">
              <a:defRPr sz="3000" b="1">
                <a:solidFill>
                  <a:srgbClr val="62ACFF"/>
                </a:solidFill>
                <a:latin typeface="Arial"/>
                <a:ea typeface="Arial"/>
                <a:cs typeface="Arial"/>
              </a:defRPr>
            </a:lvl2pPr>
            <a:lvl3pPr algn="l">
              <a:defRPr sz="3000" b="1">
                <a:solidFill>
                  <a:srgbClr val="62ACFF"/>
                </a:solidFill>
                <a:latin typeface="Arial"/>
                <a:ea typeface="Arial"/>
                <a:cs typeface="Arial"/>
              </a:defRPr>
            </a:lvl3pPr>
            <a:lvl4pPr algn="l">
              <a:defRPr sz="3000" b="1">
                <a:solidFill>
                  <a:srgbClr val="62ACFF"/>
                </a:solidFill>
                <a:latin typeface="Arial"/>
                <a:ea typeface="Arial"/>
                <a:cs typeface="Arial"/>
              </a:defRPr>
            </a:lvl4pPr>
            <a:lvl5pPr algn="l">
              <a:defRPr sz="3000" b="1">
                <a:solidFill>
                  <a:srgbClr val="62ACFF"/>
                </a:solidFill>
                <a:latin typeface="Arial"/>
                <a:ea typeface="Arial"/>
                <a:cs typeface="Arial"/>
              </a:defRPr>
            </a:lvl5pPr>
            <a:lvl6pPr algn="l">
              <a:defRPr sz="3000" b="1">
                <a:solidFill>
                  <a:srgbClr val="62ACFF"/>
                </a:solidFill>
                <a:latin typeface="Arial"/>
                <a:ea typeface="Arial"/>
                <a:cs typeface="Arial"/>
              </a:defRPr>
            </a:lvl6pPr>
            <a:lvl7pPr algn="l">
              <a:defRPr sz="3000" b="1">
                <a:solidFill>
                  <a:srgbClr val="62ACFF"/>
                </a:solidFill>
                <a:latin typeface="Arial"/>
                <a:ea typeface="Arial"/>
                <a:cs typeface="Arial"/>
              </a:defRPr>
            </a:lvl7pPr>
            <a:lvl8pPr algn="l">
              <a:defRPr sz="3000" b="1">
                <a:solidFill>
                  <a:srgbClr val="62ACFF"/>
                </a:solidFill>
                <a:latin typeface="Arial"/>
                <a:ea typeface="Arial"/>
                <a:cs typeface="Arial"/>
              </a:defRPr>
            </a:lvl8pPr>
            <a:lvl9pPr algn="l">
              <a:defRPr sz="3000" b="1">
                <a:solidFill>
                  <a:srgbClr val="62ACFF"/>
                </a:solidFill>
                <a:latin typeface="Arial"/>
                <a:ea typeface="Arial"/>
                <a:cs typeface="Arial"/>
              </a:defRPr>
            </a:lvl9pPr>
          </a:lstStyle>
          <a:p xmlns:a="http://schemas.openxmlformats.org/drawingml/2006/main">
            <a:pPr algn="l">
              <a:defRPr sz="3000" b="1">
                <a:solidFill>
                  <a:srgbClr val="62ACFF"/>
                </a:solidFill>
                <a:latin typeface="Arial"/>
                <a:ea typeface="Arial"/>
                <a:cs typeface="Arial"/>
              </a:defRPr>
            </a:pPr>
            <a:r>
              <a:rPr sz="3000" b="1">
                <a:solidFill>
                  <a:srgbClr val="62ACFF"/>
                </a:solidFill>
                <a:latin typeface="Arial"/>
                <a:ea typeface="Arial"/>
                <a:cs typeface="Arial"/>
              </a:rPr>
              <a:t>The owner defines the scope</a:t>
            </a:r>
          </a:p>
        </p:txBody>
      </p:sp>
      <p:sp>
        <p:nvSpPr>
          <p:cNvPr id="7" name="Approved service, payee, asset, budget and expiry.">
            <a:extLst xmlns:a="http://schemas.openxmlformats.org/drawingml/2006/main">
              <a:ext uri="{FF2B5EF4-FFF2-40B4-BE49-F238E27FC236}">
                <a16:creationId xmlns:a16="http://schemas.microsoft.com/office/drawing/2014/main" id="{2EE14A40-DF56-4130-AACF-88483DADFB8C}"/>
              </a:ext>
            </a:extLst>
          </p:cNvPr>
          <p:cNvSpPr>
            <a:spLocks xmlns:a="http://schemas.openxmlformats.org/drawingml/2006/main" noGrp="1"/>
          </p:cNvSpPr>
          <p:nvPr/>
        </p:nvSpPr>
        <p:spPr>
          <a:xfrm xmlns:a="http://schemas.openxmlformats.org/drawingml/2006/main">
            <a:off x="609600" y="3714750"/>
            <a:ext cx="5095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6F8"/>
                </a:solidFill>
                <a:latin typeface="Arial"/>
                <a:ea typeface="Arial"/>
                <a:cs typeface="Arial"/>
              </a:defRPr>
            </a:defPPr>
            <a:lvl1pPr algn="l">
              <a:defRPr sz="2325" b="0">
                <a:solidFill>
                  <a:srgbClr val="F5F6F8"/>
                </a:solidFill>
                <a:latin typeface="Arial"/>
                <a:ea typeface="Arial"/>
                <a:cs typeface="Arial"/>
              </a:defRPr>
            </a:lvl1pPr>
            <a:lvl2pPr algn="l">
              <a:defRPr sz="2325" b="0">
                <a:solidFill>
                  <a:srgbClr val="F5F6F8"/>
                </a:solidFill>
                <a:latin typeface="Arial"/>
                <a:ea typeface="Arial"/>
                <a:cs typeface="Arial"/>
              </a:defRPr>
            </a:lvl2pPr>
            <a:lvl3pPr algn="l">
              <a:defRPr sz="2325" b="0">
                <a:solidFill>
                  <a:srgbClr val="F5F6F8"/>
                </a:solidFill>
                <a:latin typeface="Arial"/>
                <a:ea typeface="Arial"/>
                <a:cs typeface="Arial"/>
              </a:defRPr>
            </a:lvl3pPr>
            <a:lvl4pPr algn="l">
              <a:defRPr sz="2325" b="0">
                <a:solidFill>
                  <a:srgbClr val="F5F6F8"/>
                </a:solidFill>
                <a:latin typeface="Arial"/>
                <a:ea typeface="Arial"/>
                <a:cs typeface="Arial"/>
              </a:defRPr>
            </a:lvl4pPr>
            <a:lvl5pPr algn="l">
              <a:defRPr sz="2325" b="0">
                <a:solidFill>
                  <a:srgbClr val="F5F6F8"/>
                </a:solidFill>
                <a:latin typeface="Arial"/>
                <a:ea typeface="Arial"/>
                <a:cs typeface="Arial"/>
              </a:defRPr>
            </a:lvl5pPr>
            <a:lvl6pPr algn="l">
              <a:defRPr sz="2325" b="0">
                <a:solidFill>
                  <a:srgbClr val="F5F6F8"/>
                </a:solidFill>
                <a:latin typeface="Arial"/>
                <a:ea typeface="Arial"/>
                <a:cs typeface="Arial"/>
              </a:defRPr>
            </a:lvl6pPr>
            <a:lvl7pPr algn="l">
              <a:defRPr sz="2325" b="0">
                <a:solidFill>
                  <a:srgbClr val="F5F6F8"/>
                </a:solidFill>
                <a:latin typeface="Arial"/>
                <a:ea typeface="Arial"/>
                <a:cs typeface="Arial"/>
              </a:defRPr>
            </a:lvl7pPr>
            <a:lvl8pPr algn="l">
              <a:defRPr sz="2325" b="0">
                <a:solidFill>
                  <a:srgbClr val="F5F6F8"/>
                </a:solidFill>
                <a:latin typeface="Arial"/>
                <a:ea typeface="Arial"/>
                <a:cs typeface="Arial"/>
              </a:defRPr>
            </a:lvl8pPr>
            <a:lvl9pPr algn="l">
              <a:defRPr sz="2325" b="0">
                <a:solidFill>
                  <a:srgbClr val="F5F6F8"/>
                </a:solidFill>
                <a:latin typeface="Arial"/>
                <a:ea typeface="Arial"/>
                <a:cs typeface="Arial"/>
              </a:defRPr>
            </a:lvl9pPr>
          </a:lstStyle>
          <a:p xmlns:a="http://schemas.openxmlformats.org/drawingml/2006/main">
            <a:pPr algn="l">
              <a:defRPr sz="2325" b="0">
                <a:solidFill>
                  <a:srgbClr val="F5F6F8"/>
                </a:solidFill>
                <a:latin typeface="Arial"/>
                <a:ea typeface="Arial"/>
                <a:cs typeface="Arial"/>
              </a:defRPr>
            </a:pPr>
            <a:r>
              <a:rPr sz="2325" b="0">
                <a:solidFill>
                  <a:srgbClr val="F5F6F8"/>
                </a:solidFill>
                <a:latin typeface="Arial"/>
                <a:ea typeface="Arial"/>
                <a:cs typeface="Arial"/>
              </a:rPr>
              <a:t>Approved service, payee, asset, budget and expiry.</a:t>
            </a:r>
          </a:p>
        </p:txBody>
      </p:sp>
      <p:sp>
        <p:nvSpPr>
          <p:cNvPr id="8" name="The agent executes the task">
            <a:extLst xmlns:a="http://schemas.openxmlformats.org/drawingml/2006/main">
              <a:ext uri="{FF2B5EF4-FFF2-40B4-BE49-F238E27FC236}">
                <a16:creationId xmlns:a16="http://schemas.microsoft.com/office/drawing/2014/main" id="{F71B44AE-6EA5-4543-9605-1109DA631D97}"/>
              </a:ext>
            </a:extLst>
          </p:cNvPr>
          <p:cNvSpPr>
            <a:spLocks xmlns:a="http://schemas.openxmlformats.org/drawingml/2006/main" noGrp="1"/>
          </p:cNvSpPr>
          <p:nvPr/>
        </p:nvSpPr>
        <p:spPr>
          <a:xfrm xmlns:a="http://schemas.openxmlformats.org/drawingml/2006/main">
            <a:off x="6372225" y="2362200"/>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62ACFF"/>
                </a:solidFill>
                <a:latin typeface="Arial"/>
                <a:ea typeface="Arial"/>
                <a:cs typeface="Arial"/>
              </a:defRPr>
            </a:defPPr>
            <a:lvl1pPr algn="l">
              <a:defRPr sz="3000" b="1">
                <a:solidFill>
                  <a:srgbClr val="62ACFF"/>
                </a:solidFill>
                <a:latin typeface="Arial"/>
                <a:ea typeface="Arial"/>
                <a:cs typeface="Arial"/>
              </a:defRPr>
            </a:lvl1pPr>
            <a:lvl2pPr algn="l">
              <a:defRPr sz="3000" b="1">
                <a:solidFill>
                  <a:srgbClr val="62ACFF"/>
                </a:solidFill>
                <a:latin typeface="Arial"/>
                <a:ea typeface="Arial"/>
                <a:cs typeface="Arial"/>
              </a:defRPr>
            </a:lvl2pPr>
            <a:lvl3pPr algn="l">
              <a:defRPr sz="3000" b="1">
                <a:solidFill>
                  <a:srgbClr val="62ACFF"/>
                </a:solidFill>
                <a:latin typeface="Arial"/>
                <a:ea typeface="Arial"/>
                <a:cs typeface="Arial"/>
              </a:defRPr>
            </a:lvl3pPr>
            <a:lvl4pPr algn="l">
              <a:defRPr sz="3000" b="1">
                <a:solidFill>
                  <a:srgbClr val="62ACFF"/>
                </a:solidFill>
                <a:latin typeface="Arial"/>
                <a:ea typeface="Arial"/>
                <a:cs typeface="Arial"/>
              </a:defRPr>
            </a:lvl4pPr>
            <a:lvl5pPr algn="l">
              <a:defRPr sz="3000" b="1">
                <a:solidFill>
                  <a:srgbClr val="62ACFF"/>
                </a:solidFill>
                <a:latin typeface="Arial"/>
                <a:ea typeface="Arial"/>
                <a:cs typeface="Arial"/>
              </a:defRPr>
            </a:lvl5pPr>
            <a:lvl6pPr algn="l">
              <a:defRPr sz="3000" b="1">
                <a:solidFill>
                  <a:srgbClr val="62ACFF"/>
                </a:solidFill>
                <a:latin typeface="Arial"/>
                <a:ea typeface="Arial"/>
                <a:cs typeface="Arial"/>
              </a:defRPr>
            </a:lvl6pPr>
            <a:lvl7pPr algn="l">
              <a:defRPr sz="3000" b="1">
                <a:solidFill>
                  <a:srgbClr val="62ACFF"/>
                </a:solidFill>
                <a:latin typeface="Arial"/>
                <a:ea typeface="Arial"/>
                <a:cs typeface="Arial"/>
              </a:defRPr>
            </a:lvl7pPr>
            <a:lvl8pPr algn="l">
              <a:defRPr sz="3000" b="1">
                <a:solidFill>
                  <a:srgbClr val="62ACFF"/>
                </a:solidFill>
                <a:latin typeface="Arial"/>
                <a:ea typeface="Arial"/>
                <a:cs typeface="Arial"/>
              </a:defRPr>
            </a:lvl8pPr>
            <a:lvl9pPr algn="l">
              <a:defRPr sz="3000" b="1">
                <a:solidFill>
                  <a:srgbClr val="62ACFF"/>
                </a:solidFill>
                <a:latin typeface="Arial"/>
                <a:ea typeface="Arial"/>
                <a:cs typeface="Arial"/>
              </a:defRPr>
            </a:lvl9pPr>
          </a:lstStyle>
          <a:p xmlns:a="http://schemas.openxmlformats.org/drawingml/2006/main">
            <a:pPr algn="l">
              <a:defRPr sz="3000" b="1">
                <a:solidFill>
                  <a:srgbClr val="62ACFF"/>
                </a:solidFill>
                <a:latin typeface="Arial"/>
                <a:ea typeface="Arial"/>
                <a:cs typeface="Arial"/>
              </a:defRPr>
            </a:pPr>
            <a:r>
              <a:rPr sz="3000" b="1">
                <a:solidFill>
                  <a:srgbClr val="62ACFF"/>
                </a:solidFill>
                <a:latin typeface="Arial"/>
                <a:ea typeface="Arial"/>
                <a:cs typeface="Arial"/>
              </a:rPr>
              <a:t>The agent executes the task</a:t>
            </a:r>
          </a:p>
        </p:txBody>
      </p:sp>
      <p:sp>
        <p:nvSpPr>
          <p:cNvPr id="9" name="A finite session authorizes specific purchases.">
            <a:extLst xmlns:a="http://schemas.openxmlformats.org/drawingml/2006/main">
              <a:ext uri="{FF2B5EF4-FFF2-40B4-BE49-F238E27FC236}">
                <a16:creationId xmlns:a16="http://schemas.microsoft.com/office/drawing/2014/main" id="{40807C77-108E-4218-932F-1FD07EAAA16C}"/>
              </a:ext>
            </a:extLst>
          </p:cNvPr>
          <p:cNvSpPr>
            <a:spLocks xmlns:a="http://schemas.openxmlformats.org/drawingml/2006/main" noGrp="1"/>
          </p:cNvSpPr>
          <p:nvPr/>
        </p:nvSpPr>
        <p:spPr>
          <a:xfrm xmlns:a="http://schemas.openxmlformats.org/drawingml/2006/main">
            <a:off x="6372225" y="3714750"/>
            <a:ext cx="5095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6F8"/>
                </a:solidFill>
                <a:latin typeface="Arial"/>
                <a:ea typeface="Arial"/>
                <a:cs typeface="Arial"/>
              </a:defRPr>
            </a:defPPr>
            <a:lvl1pPr algn="l">
              <a:defRPr sz="2325" b="0">
                <a:solidFill>
                  <a:srgbClr val="F5F6F8"/>
                </a:solidFill>
                <a:latin typeface="Arial"/>
                <a:ea typeface="Arial"/>
                <a:cs typeface="Arial"/>
              </a:defRPr>
            </a:lvl1pPr>
            <a:lvl2pPr algn="l">
              <a:defRPr sz="2325" b="0">
                <a:solidFill>
                  <a:srgbClr val="F5F6F8"/>
                </a:solidFill>
                <a:latin typeface="Arial"/>
                <a:ea typeface="Arial"/>
                <a:cs typeface="Arial"/>
              </a:defRPr>
            </a:lvl2pPr>
            <a:lvl3pPr algn="l">
              <a:defRPr sz="2325" b="0">
                <a:solidFill>
                  <a:srgbClr val="F5F6F8"/>
                </a:solidFill>
                <a:latin typeface="Arial"/>
                <a:ea typeface="Arial"/>
                <a:cs typeface="Arial"/>
              </a:defRPr>
            </a:lvl3pPr>
            <a:lvl4pPr algn="l">
              <a:defRPr sz="2325" b="0">
                <a:solidFill>
                  <a:srgbClr val="F5F6F8"/>
                </a:solidFill>
                <a:latin typeface="Arial"/>
                <a:ea typeface="Arial"/>
                <a:cs typeface="Arial"/>
              </a:defRPr>
            </a:lvl4pPr>
            <a:lvl5pPr algn="l">
              <a:defRPr sz="2325" b="0">
                <a:solidFill>
                  <a:srgbClr val="F5F6F8"/>
                </a:solidFill>
                <a:latin typeface="Arial"/>
                <a:ea typeface="Arial"/>
                <a:cs typeface="Arial"/>
              </a:defRPr>
            </a:lvl5pPr>
            <a:lvl6pPr algn="l">
              <a:defRPr sz="2325" b="0">
                <a:solidFill>
                  <a:srgbClr val="F5F6F8"/>
                </a:solidFill>
                <a:latin typeface="Arial"/>
                <a:ea typeface="Arial"/>
                <a:cs typeface="Arial"/>
              </a:defRPr>
            </a:lvl6pPr>
            <a:lvl7pPr algn="l">
              <a:defRPr sz="2325" b="0">
                <a:solidFill>
                  <a:srgbClr val="F5F6F8"/>
                </a:solidFill>
                <a:latin typeface="Arial"/>
                <a:ea typeface="Arial"/>
                <a:cs typeface="Arial"/>
              </a:defRPr>
            </a:lvl7pPr>
            <a:lvl8pPr algn="l">
              <a:defRPr sz="2325" b="0">
                <a:solidFill>
                  <a:srgbClr val="F5F6F8"/>
                </a:solidFill>
                <a:latin typeface="Arial"/>
                <a:ea typeface="Arial"/>
                <a:cs typeface="Arial"/>
              </a:defRPr>
            </a:lvl8pPr>
            <a:lvl9pPr algn="l">
              <a:defRPr sz="2325" b="0">
                <a:solidFill>
                  <a:srgbClr val="F5F6F8"/>
                </a:solidFill>
                <a:latin typeface="Arial"/>
                <a:ea typeface="Arial"/>
                <a:cs typeface="Arial"/>
              </a:defRPr>
            </a:lvl9pPr>
          </a:lstStyle>
          <a:p xmlns:a="http://schemas.openxmlformats.org/drawingml/2006/main">
            <a:pPr algn="l">
              <a:defRPr sz="2325" b="0">
                <a:solidFill>
                  <a:srgbClr val="F5F6F8"/>
                </a:solidFill>
                <a:latin typeface="Arial"/>
                <a:ea typeface="Arial"/>
                <a:cs typeface="Arial"/>
              </a:defRPr>
            </a:pPr>
            <a:r>
              <a:rPr sz="2325" b="0">
                <a:solidFill>
                  <a:srgbClr val="F5F6F8"/>
                </a:solidFill>
                <a:latin typeface="Arial"/>
                <a:ea typeface="Arial"/>
                <a:cs typeface="Arial"/>
              </a:rPr>
              <a:t>A finite session authorizes specific purchases.</a:t>
            </a:r>
          </a:p>
        </p:txBody>
      </p:sp>
      <p:sp>
        <p:nvSpPr>
          <p:cNvPr id="10" name="Contract checks continue when a host uses its session key directly.">
            <a:extLst xmlns:a="http://schemas.openxmlformats.org/drawingml/2006/main">
              <a:ext uri="{FF2B5EF4-FFF2-40B4-BE49-F238E27FC236}">
                <a16:creationId xmlns:a16="http://schemas.microsoft.com/office/drawing/2014/main" id="{30C15105-C36B-4452-8C27-80A867C1A79C}"/>
              </a:ext>
            </a:extLst>
          </p:cNvPr>
          <p:cNvSpPr>
            <a:spLocks xmlns:a="http://schemas.openxmlformats.org/drawingml/2006/main" noGrp="1"/>
          </p:cNvSpPr>
          <p:nvPr/>
        </p:nvSpPr>
        <p:spPr>
          <a:xfrm xmlns:a="http://schemas.openxmlformats.org/drawingml/2006/main">
            <a:off x="609600" y="56292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0A5AF"/>
                </a:solidFill>
                <a:latin typeface="Arial"/>
                <a:ea typeface="Arial"/>
                <a:cs typeface="Arial"/>
              </a:defRPr>
            </a:defPPr>
            <a:lvl1pPr algn="l">
              <a:defRPr sz="2025" b="0">
                <a:solidFill>
                  <a:srgbClr val="A0A5AF"/>
                </a:solidFill>
                <a:latin typeface="Arial"/>
                <a:ea typeface="Arial"/>
                <a:cs typeface="Arial"/>
              </a:defRPr>
            </a:lvl1pPr>
            <a:lvl2pPr algn="l">
              <a:defRPr sz="2025" b="0">
                <a:solidFill>
                  <a:srgbClr val="A0A5AF"/>
                </a:solidFill>
                <a:latin typeface="Arial"/>
                <a:ea typeface="Arial"/>
                <a:cs typeface="Arial"/>
              </a:defRPr>
            </a:lvl2pPr>
            <a:lvl3pPr algn="l">
              <a:defRPr sz="2025" b="0">
                <a:solidFill>
                  <a:srgbClr val="A0A5AF"/>
                </a:solidFill>
                <a:latin typeface="Arial"/>
                <a:ea typeface="Arial"/>
                <a:cs typeface="Arial"/>
              </a:defRPr>
            </a:lvl3pPr>
            <a:lvl4pPr algn="l">
              <a:defRPr sz="2025" b="0">
                <a:solidFill>
                  <a:srgbClr val="A0A5AF"/>
                </a:solidFill>
                <a:latin typeface="Arial"/>
                <a:ea typeface="Arial"/>
                <a:cs typeface="Arial"/>
              </a:defRPr>
            </a:lvl4pPr>
            <a:lvl5pPr algn="l">
              <a:defRPr sz="2025" b="0">
                <a:solidFill>
                  <a:srgbClr val="A0A5AF"/>
                </a:solidFill>
                <a:latin typeface="Arial"/>
                <a:ea typeface="Arial"/>
                <a:cs typeface="Arial"/>
              </a:defRPr>
            </a:lvl5pPr>
            <a:lvl6pPr algn="l">
              <a:defRPr sz="2025" b="0">
                <a:solidFill>
                  <a:srgbClr val="A0A5AF"/>
                </a:solidFill>
                <a:latin typeface="Arial"/>
                <a:ea typeface="Arial"/>
                <a:cs typeface="Arial"/>
              </a:defRPr>
            </a:lvl6pPr>
            <a:lvl7pPr algn="l">
              <a:defRPr sz="2025" b="0">
                <a:solidFill>
                  <a:srgbClr val="A0A5AF"/>
                </a:solidFill>
                <a:latin typeface="Arial"/>
                <a:ea typeface="Arial"/>
                <a:cs typeface="Arial"/>
              </a:defRPr>
            </a:lvl7pPr>
            <a:lvl8pPr algn="l">
              <a:defRPr sz="2025" b="0">
                <a:solidFill>
                  <a:srgbClr val="A0A5AF"/>
                </a:solidFill>
                <a:latin typeface="Arial"/>
                <a:ea typeface="Arial"/>
                <a:cs typeface="Arial"/>
              </a:defRPr>
            </a:lvl8pPr>
            <a:lvl9pPr algn="l">
              <a:defRPr sz="2025" b="0">
                <a:solidFill>
                  <a:srgbClr val="A0A5AF"/>
                </a:solidFill>
                <a:latin typeface="Arial"/>
                <a:ea typeface="Arial"/>
                <a:cs typeface="Arial"/>
              </a:defRPr>
            </a:lvl9pPr>
          </a:lstStyle>
          <a:p xmlns:a="http://schemas.openxmlformats.org/drawingml/2006/main">
            <a:pPr algn="l">
              <a:defRPr sz="2025" b="0">
                <a:solidFill>
                  <a:srgbClr val="A0A5AF"/>
                </a:solidFill>
                <a:latin typeface="Arial"/>
                <a:ea typeface="Arial"/>
                <a:cs typeface="Arial"/>
              </a:defRPr>
            </a:pPr>
            <a:r>
              <a:rPr sz="2025" b="0">
                <a:solidFill>
                  <a:srgbClr val="A0A5AF"/>
                </a:solidFill>
                <a:latin typeface="Arial"/>
                <a:ea typeface="Arial"/>
                <a:cs typeface="Arial"/>
              </a:rPr>
              <a:t>Contract checks continue when a host uses its session key directly.</a:t>
            </a:r>
          </a:p>
        </p:txBody>
      </p:sp>
    </p:spTree>
    <p:extLst>
      <p:ext uri="{BB962C8B-B14F-4D97-AF65-F5344CB8AC3E}">
        <p14:creationId xmlns:p14="http://schemas.microsoft.com/office/powerpoint/2010/main" val="1141072842"/>
      </p:ext>
    </p:extLst>
  </p:cSld>
</p:sld>
</file>

<file path=ppt/slides/slide3.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C36235C-892A-417C-BA6A-798F02179C1F}"/>
              </a:ext>
            </a:extLst>
          </p:cNvPr>
          <p:cNvPicPr>
            <a:picLocks xmlns:a="http://schemas.openxmlformats.org/drawingml/2006/main" noChangeAspect="1"/>
          </p:cNvPicPr>
          <p:nvPr/>
        </p:nvPicPr>
        <p:blipFill>
          <a:blip xmlns:r="http://schemas.openxmlformats.org/officeDocument/2006/relationships" xmlns:a="http://schemas.openxmlformats.org/drawingml/2006/main" r:embed="R7a2b33cdb4e84d5d">
            <a:extLst>
              <a:ext uri="{96DAC541-7B7A-43D3-8B79-37D633B846F1}">
                <asvg:svgBlip xmlns:asvg="http://schemas.microsoft.com/office/drawing/2016/SVG/main" r:embed="R5ec1cf19d2bf4d51"/>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System architecture and trust boundaries">
            <a:extLst xmlns:a="http://schemas.openxmlformats.org/drawingml/2006/main">
              <a:ext uri="{FF2B5EF4-FFF2-40B4-BE49-F238E27FC236}">
                <a16:creationId xmlns:a16="http://schemas.microsoft.com/office/drawing/2014/main" id="{6944AC5A-65D7-404A-B25F-2010CB7ECBB3}"/>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System architecture and trust boundaries</a:t>
            </a:r>
          </a:p>
        </p:txBody>
      </p:sp>
      <p:sp>
        <p:nvSpPr>
          <p:cNvPr id="4" name="Mandate Labs">
            <a:extLst xmlns:a="http://schemas.openxmlformats.org/drawingml/2006/main">
              <a:ext uri="{FF2B5EF4-FFF2-40B4-BE49-F238E27FC236}">
                <a16:creationId xmlns:a16="http://schemas.microsoft.com/office/drawing/2014/main" id="{28545778-38D7-49E9-876A-8BF260522398}"/>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3">
            <a:extLst xmlns:a="http://schemas.openxmlformats.org/drawingml/2006/main">
              <a:ext uri="{FF2B5EF4-FFF2-40B4-BE49-F238E27FC236}">
                <a16:creationId xmlns:a16="http://schemas.microsoft.com/office/drawing/2014/main" id="{8AE819E7-F0D7-49BD-ABD9-B2DEE13D85D4}"/>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03</a:t>
            </a:r>
          </a:p>
        </p:txBody>
      </p:sp>
      <p:sp>
        <p:nvSpPr>
          <p:cNvPr id="6" name="Trust boundary">
            <a:extLst xmlns:a="http://schemas.openxmlformats.org/drawingml/2006/main">
              <a:ext uri="{FF2B5EF4-FFF2-40B4-BE49-F238E27FC236}">
                <a16:creationId xmlns:a16="http://schemas.microsoft.com/office/drawing/2014/main" id="{2CB5F59C-B178-4579-9064-0C600D9BB33E}"/>
              </a:ext>
            </a:extLst>
          </p:cNvPr>
          <p:cNvSpPr>
            <a:spLocks xmlns:a="http://schemas.openxmlformats.org/drawingml/2006/main" noGrp="1"/>
          </p:cNvSpPr>
          <p:nvPr/>
        </p:nvSpPr>
        <p:spPr>
          <a:xfrm xmlns:a="http://schemas.openxmlformats.org/drawingml/2006/main">
            <a:off x="4419600" y="1943100"/>
            <a:ext cx="3067050" cy="2667000"/>
          </a:xfrm>
          <a:prstGeom xmlns:a="http://schemas.openxmlformats.org/drawingml/2006/main" prst="rect">
            <a:avLst/>
          </a:prstGeom>
          <a:noFill xmlns:a="http://schemas.openxmlformats.org/drawingml/2006/main"/>
          <a:ln xmlns:a="http://schemas.openxmlformats.org/drawingml/2006/main" w="9525">
            <a:solidFill>
              <a:srgbClr val="354052"/>
            </a:solidFill>
            <a:prstDash val="dash"/>
          </a:ln>
        </p:spPr>
      </p:sp>
      <p:sp>
        <p:nvSpPr>
          <p:cNvPr id="7" name="Trust boundary">
            <a:extLst xmlns:a="http://schemas.openxmlformats.org/drawingml/2006/main">
              <a:ext uri="{FF2B5EF4-FFF2-40B4-BE49-F238E27FC236}">
                <a16:creationId xmlns:a16="http://schemas.microsoft.com/office/drawing/2014/main" id="{B1B2C7EE-8B9D-4CC0-A03A-3D8267852E90}"/>
              </a:ext>
            </a:extLst>
          </p:cNvPr>
          <p:cNvSpPr>
            <a:spLocks xmlns:a="http://schemas.openxmlformats.org/drawingml/2006/main" noGrp="1"/>
          </p:cNvSpPr>
          <p:nvPr/>
        </p:nvSpPr>
        <p:spPr>
          <a:xfrm xmlns:a="http://schemas.openxmlformats.org/drawingml/2006/main">
            <a:off x="3952875" y="5000625"/>
            <a:ext cx="7629525" cy="1143000"/>
          </a:xfrm>
          <a:prstGeom xmlns:a="http://schemas.openxmlformats.org/drawingml/2006/main" prst="rect">
            <a:avLst/>
          </a:prstGeom>
          <a:noFill xmlns:a="http://schemas.openxmlformats.org/drawingml/2006/main"/>
          <a:ln xmlns:a="http://schemas.openxmlformats.org/drawingml/2006/main" w="9525">
            <a:solidFill>
              <a:srgbClr val="354052"/>
            </a:solidFill>
            <a:prstDash val="dash"/>
          </a:ln>
        </p:spPr>
      </p:sp>
      <p:sp>
        <p:nvSpPr>
          <p:cNvPr id="8" name="Diagram: Owner wallet">
            <a:extLst xmlns:a="http://schemas.openxmlformats.org/drawingml/2006/main">
              <a:ext uri="{FF2B5EF4-FFF2-40B4-BE49-F238E27FC236}">
                <a16:creationId xmlns:a16="http://schemas.microsoft.com/office/drawing/2014/main" id="{F8D52066-1132-4809-87CB-45D2FC23757A}"/>
              </a:ext>
            </a:extLst>
          </p:cNvPr>
          <p:cNvSpPr>
            <a:spLocks xmlns:a="http://schemas.openxmlformats.org/drawingml/2006/main" noGrp="1"/>
          </p:cNvSpPr>
          <p:nvPr/>
        </p:nvSpPr>
        <p:spPr>
          <a:xfrm xmlns:a="http://schemas.openxmlformats.org/drawingml/2006/main">
            <a:off x="609600" y="2095500"/>
            <a:ext cx="23812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Owner wallet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Rabby</a:t>
            </a:r>
          </a:p>
        </p:txBody>
      </p:sp>
      <p:sp>
        <p:nvSpPr>
          <p:cNvPr id="9" name="Diagram: Agent host">
            <a:extLst xmlns:a="http://schemas.openxmlformats.org/drawingml/2006/main">
              <a:ext uri="{FF2B5EF4-FFF2-40B4-BE49-F238E27FC236}">
                <a16:creationId xmlns:a16="http://schemas.microsoft.com/office/drawing/2014/main" id="{046BC425-4034-497B-8E9D-EA49B2420F8A}"/>
              </a:ext>
            </a:extLst>
          </p:cNvPr>
          <p:cNvSpPr>
            <a:spLocks xmlns:a="http://schemas.openxmlformats.org/drawingml/2006/main" noGrp="1"/>
          </p:cNvSpPr>
          <p:nvPr/>
        </p:nvSpPr>
        <p:spPr>
          <a:xfrm xmlns:a="http://schemas.openxmlformats.org/drawingml/2006/main">
            <a:off x="4752975" y="2095500"/>
            <a:ext cx="23812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Agent host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Claude Desktop / CLI</a:t>
            </a:r>
          </a:p>
        </p:txBody>
      </p:sp>
      <p:sp>
        <p:nvSpPr>
          <p:cNvPr id="10" name="Diagram: API merchant">
            <a:extLst xmlns:a="http://schemas.openxmlformats.org/drawingml/2006/main">
              <a:ext uri="{FF2B5EF4-FFF2-40B4-BE49-F238E27FC236}">
                <a16:creationId xmlns:a16="http://schemas.microsoft.com/office/drawing/2014/main" id="{18B9DDED-DC1C-4D06-A1DF-192341FDEAF6}"/>
              </a:ext>
            </a:extLst>
          </p:cNvPr>
          <p:cNvSpPr>
            <a:spLocks xmlns:a="http://schemas.openxmlformats.org/drawingml/2006/main" noGrp="1"/>
          </p:cNvSpPr>
          <p:nvPr/>
        </p:nvSpPr>
        <p:spPr>
          <a:xfrm xmlns:a="http://schemas.openxmlformats.org/drawingml/2006/main">
            <a:off x="8896350" y="2095500"/>
            <a:ext cx="26860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API merchant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402 quote and service</a:t>
            </a:r>
          </a:p>
        </p:txBody>
      </p:sp>
      <p:sp>
        <p:nvSpPr>
          <p:cNvPr id="11" name="Diagram: Mandate workspace">
            <a:extLst xmlns:a="http://schemas.openxmlformats.org/drawingml/2006/main">
              <a:ext uri="{FF2B5EF4-FFF2-40B4-BE49-F238E27FC236}">
                <a16:creationId xmlns:a16="http://schemas.microsoft.com/office/drawing/2014/main" id="{BED89B6C-E761-4B4C-AAB0-052AEA51B466}"/>
              </a:ext>
            </a:extLst>
          </p:cNvPr>
          <p:cNvSpPr>
            <a:spLocks xmlns:a="http://schemas.openxmlformats.org/drawingml/2006/main" noGrp="1"/>
          </p:cNvSpPr>
          <p:nvPr/>
        </p:nvSpPr>
        <p:spPr>
          <a:xfrm xmlns:a="http://schemas.openxmlformats.org/drawingml/2006/main">
            <a:off x="609600" y="3638550"/>
            <a:ext cx="23812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Mandate workspace</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Owner review</a:t>
            </a:r>
          </a:p>
        </p:txBody>
      </p:sp>
      <p:sp>
        <p:nvSpPr>
          <p:cNvPr id="12" name="Diagram: MCP gateway">
            <a:extLst xmlns:a="http://schemas.openxmlformats.org/drawingml/2006/main">
              <a:ext uri="{FF2B5EF4-FFF2-40B4-BE49-F238E27FC236}">
                <a16:creationId xmlns:a16="http://schemas.microsoft.com/office/drawing/2014/main" id="{B09AF634-C66D-45D4-90C5-E6C1E7771F56}"/>
              </a:ext>
            </a:extLst>
          </p:cNvPr>
          <p:cNvSpPr>
            <a:spLocks xmlns:a="http://schemas.openxmlformats.org/drawingml/2006/main" noGrp="1"/>
          </p:cNvSpPr>
          <p:nvPr/>
        </p:nvSpPr>
        <p:spPr>
          <a:xfrm xmlns:a="http://schemas.openxmlformats.org/drawingml/2006/main">
            <a:off x="4752975" y="3638550"/>
            <a:ext cx="23812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MCP gateway</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SDK + durable journal</a:t>
            </a:r>
          </a:p>
        </p:txBody>
      </p:sp>
      <p:sp>
        <p:nvSpPr>
          <p:cNvPr id="13" name="Diagram: Facilitator">
            <a:extLst xmlns:a="http://schemas.openxmlformats.org/drawingml/2006/main">
              <a:ext uri="{FF2B5EF4-FFF2-40B4-BE49-F238E27FC236}">
                <a16:creationId xmlns:a16="http://schemas.microsoft.com/office/drawing/2014/main" id="{52429DA9-0DDF-4294-8E83-7E390F9C4E43}"/>
              </a:ext>
            </a:extLst>
          </p:cNvPr>
          <p:cNvSpPr>
            <a:spLocks xmlns:a="http://schemas.openxmlformats.org/drawingml/2006/main" noGrp="1"/>
          </p:cNvSpPr>
          <p:nvPr/>
        </p:nvSpPr>
        <p:spPr>
          <a:xfrm xmlns:a="http://schemas.openxmlformats.org/drawingml/2006/main">
            <a:off x="8896350" y="3638550"/>
            <a:ext cx="26860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Facilitator</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Verify and settle</a:t>
            </a:r>
          </a:p>
        </p:txBody>
      </p:sp>
      <p:sp>
        <p:nvSpPr>
          <p:cNvPr id="14" name="Diagram: Separate verifier">
            <a:extLst xmlns:a="http://schemas.openxmlformats.org/drawingml/2006/main">
              <a:ext uri="{FF2B5EF4-FFF2-40B4-BE49-F238E27FC236}">
                <a16:creationId xmlns:a16="http://schemas.microsoft.com/office/drawing/2014/main" id="{991A142C-7AF6-4AA5-B909-3E30B256D704}"/>
              </a:ext>
            </a:extLst>
          </p:cNvPr>
          <p:cNvSpPr>
            <a:spLocks xmlns:a="http://schemas.openxmlformats.org/drawingml/2006/main" noGrp="1"/>
          </p:cNvSpPr>
          <p:nvPr/>
        </p:nvSpPr>
        <p:spPr>
          <a:xfrm xmlns:a="http://schemas.openxmlformats.org/drawingml/2006/main">
            <a:off x="609600" y="5219700"/>
            <a:ext cx="236220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Separate verifier</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Independent trust</a:t>
            </a:r>
          </a:p>
        </p:txBody>
      </p:sp>
      <p:sp>
        <p:nvSpPr>
          <p:cNvPr id="15" name="Diagram: MandateAccount">
            <a:extLst xmlns:a="http://schemas.openxmlformats.org/drawingml/2006/main">
              <a:ext uri="{FF2B5EF4-FFF2-40B4-BE49-F238E27FC236}">
                <a16:creationId xmlns:a16="http://schemas.microsoft.com/office/drawing/2014/main" id="{01A95237-8609-49DE-8682-F382C690D758}"/>
              </a:ext>
            </a:extLst>
          </p:cNvPr>
          <p:cNvSpPr>
            <a:spLocks xmlns:a="http://schemas.openxmlformats.org/drawingml/2006/main" noGrp="1"/>
          </p:cNvSpPr>
          <p:nvPr/>
        </p:nvSpPr>
        <p:spPr>
          <a:xfrm xmlns:a="http://schemas.openxmlformats.org/drawingml/2006/main">
            <a:off x="4295775" y="5219700"/>
            <a:ext cx="2943225"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MandateAccount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Scope and reservations</a:t>
            </a:r>
          </a:p>
        </p:txBody>
      </p:sp>
      <p:sp>
        <p:nvSpPr>
          <p:cNvPr id="16" name="Diagram: USDC token">
            <a:extLst xmlns:a="http://schemas.openxmlformats.org/drawingml/2006/main">
              <a:ext uri="{FF2B5EF4-FFF2-40B4-BE49-F238E27FC236}">
                <a16:creationId xmlns:a16="http://schemas.microsoft.com/office/drawing/2014/main" id="{325A745A-43B0-47C2-AD62-E02C5E2DAAC1}"/>
              </a:ext>
            </a:extLst>
          </p:cNvPr>
          <p:cNvSpPr>
            <a:spLocks xmlns:a="http://schemas.openxmlformats.org/drawingml/2006/main" noGrp="1"/>
          </p:cNvSpPr>
          <p:nvPr/>
        </p:nvSpPr>
        <p:spPr>
          <a:xfrm xmlns:a="http://schemas.openxmlformats.org/drawingml/2006/main">
            <a:off x="8439150" y="5219700"/>
            <a:ext cx="285750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USDC token</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Authorization and transfer</a:t>
            </a:r>
          </a:p>
        </p:txBody>
      </p:sp>
      <p:cxnSp>
        <p:nvCxnSpPr>
          <p:cNvPr id="17" name="flow arrow">
            <a:extLst xmlns:a="http://schemas.openxmlformats.org/drawingml/2006/main">
              <a:ext uri="{FF2B5EF4-FFF2-40B4-BE49-F238E27FC236}">
                <a16:creationId xmlns:a16="http://schemas.microsoft.com/office/drawing/2014/main" id="{F31F5923-B6B5-4D74-8F1F-EE9189373125}"/>
              </a:ext>
            </a:extLst>
          </p:cNvPr>
          <p:cNvCxnSpPr/>
          <p:nvPr/>
        </p:nvCxnSpPr>
        <p:spPr>
          <a:xfrm xmlns:a="http://schemas.openxmlformats.org/drawingml/2006/main">
            <a:off x="1800225" y="2819400"/>
            <a:ext cx="0" cy="81915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18" name="review / sign">
            <a:extLst xmlns:a="http://schemas.openxmlformats.org/drawingml/2006/main">
              <a:ext uri="{FF2B5EF4-FFF2-40B4-BE49-F238E27FC236}">
                <a16:creationId xmlns:a16="http://schemas.microsoft.com/office/drawing/2014/main" id="{C209EF81-14B2-444C-AB87-7165C3C4FCF1}"/>
              </a:ext>
            </a:extLst>
          </p:cNvPr>
          <p:cNvSpPr>
            <a:spLocks xmlns:a="http://schemas.openxmlformats.org/drawingml/2006/main" noGrp="1"/>
          </p:cNvSpPr>
          <p:nvPr/>
        </p:nvSpPr>
        <p:spPr>
          <a:xfrm xmlns:a="http://schemas.openxmlformats.org/drawingml/2006/main">
            <a:off x="1914525" y="3105150"/>
            <a:ext cx="161925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5F6F8"/>
                </a:solidFill>
                <a:latin typeface="Arial"/>
                <a:ea typeface="Arial"/>
                <a:cs typeface="Arial"/>
              </a:defRPr>
            </a:defPPr>
            <a:lvl1pPr algn="l">
              <a:defRPr sz="1500" b="0">
                <a:solidFill>
                  <a:srgbClr val="F5F6F8"/>
                </a:solidFill>
                <a:latin typeface="Arial"/>
                <a:ea typeface="Arial"/>
                <a:cs typeface="Arial"/>
              </a:defRPr>
            </a:lvl1pPr>
            <a:lvl2pPr algn="l">
              <a:defRPr sz="1500" b="0">
                <a:solidFill>
                  <a:srgbClr val="F5F6F8"/>
                </a:solidFill>
                <a:latin typeface="Arial"/>
                <a:ea typeface="Arial"/>
                <a:cs typeface="Arial"/>
              </a:defRPr>
            </a:lvl2pPr>
            <a:lvl3pPr algn="l">
              <a:defRPr sz="1500" b="0">
                <a:solidFill>
                  <a:srgbClr val="F5F6F8"/>
                </a:solidFill>
                <a:latin typeface="Arial"/>
                <a:ea typeface="Arial"/>
                <a:cs typeface="Arial"/>
              </a:defRPr>
            </a:lvl3pPr>
            <a:lvl4pPr algn="l">
              <a:defRPr sz="1500" b="0">
                <a:solidFill>
                  <a:srgbClr val="F5F6F8"/>
                </a:solidFill>
                <a:latin typeface="Arial"/>
                <a:ea typeface="Arial"/>
                <a:cs typeface="Arial"/>
              </a:defRPr>
            </a:lvl4pPr>
            <a:lvl5pPr algn="l">
              <a:defRPr sz="1500" b="0">
                <a:solidFill>
                  <a:srgbClr val="F5F6F8"/>
                </a:solidFill>
                <a:latin typeface="Arial"/>
                <a:ea typeface="Arial"/>
                <a:cs typeface="Arial"/>
              </a:defRPr>
            </a:lvl5pPr>
            <a:lvl6pPr algn="l">
              <a:defRPr sz="1500" b="0">
                <a:solidFill>
                  <a:srgbClr val="F5F6F8"/>
                </a:solidFill>
                <a:latin typeface="Arial"/>
                <a:ea typeface="Arial"/>
                <a:cs typeface="Arial"/>
              </a:defRPr>
            </a:lvl6pPr>
            <a:lvl7pPr algn="l">
              <a:defRPr sz="1500" b="0">
                <a:solidFill>
                  <a:srgbClr val="F5F6F8"/>
                </a:solidFill>
                <a:latin typeface="Arial"/>
                <a:ea typeface="Arial"/>
                <a:cs typeface="Arial"/>
              </a:defRPr>
            </a:lvl7pPr>
            <a:lvl8pPr algn="l">
              <a:defRPr sz="1500" b="0">
                <a:solidFill>
                  <a:srgbClr val="F5F6F8"/>
                </a:solidFill>
                <a:latin typeface="Arial"/>
                <a:ea typeface="Arial"/>
                <a:cs typeface="Arial"/>
              </a:defRPr>
            </a:lvl8pPr>
            <a:lvl9pPr algn="l">
              <a:defRPr sz="1500" b="0">
                <a:solidFill>
                  <a:srgbClr val="F5F6F8"/>
                </a:solidFill>
                <a:latin typeface="Arial"/>
                <a:ea typeface="Arial"/>
                <a:cs typeface="Arial"/>
              </a:defRPr>
            </a:lvl9pPr>
          </a:lstStyle>
          <a:p xmlns:a="http://schemas.openxmlformats.org/drawingml/2006/main">
            <a:pPr algn="l">
              <a:defRPr sz="1500" b="0">
                <a:solidFill>
                  <a:srgbClr val="F5F6F8"/>
                </a:solidFill>
                <a:latin typeface="Arial"/>
                <a:ea typeface="Arial"/>
                <a:cs typeface="Arial"/>
              </a:defRPr>
            </a:pPr>
            <a:r>
              <a:rPr sz="1500" b="0">
                <a:solidFill>
                  <a:srgbClr val="F5F6F8"/>
                </a:solidFill>
                <a:latin typeface="Arial"/>
                <a:ea typeface="Arial"/>
                <a:cs typeface="Arial"/>
              </a:rPr>
              <a:t>review / sign</a:t>
            </a:r>
          </a:p>
        </p:txBody>
      </p:sp>
      <p:cxnSp>
        <p:nvCxnSpPr>
          <p:cNvPr id="19" name="flow arrow">
            <a:extLst xmlns:a="http://schemas.openxmlformats.org/drawingml/2006/main">
              <a:ext uri="{FF2B5EF4-FFF2-40B4-BE49-F238E27FC236}">
                <a16:creationId xmlns:a16="http://schemas.microsoft.com/office/drawing/2014/main" id="{6543E1C3-A3B0-4BB9-9266-EB9A0A9F45E2}"/>
              </a:ext>
            </a:extLst>
          </p:cNvPr>
          <p:cNvCxnSpPr/>
          <p:nvPr/>
        </p:nvCxnSpPr>
        <p:spPr>
          <a:xfrm xmlns:a="http://schemas.openxmlformats.org/drawingml/2006/main">
            <a:off x="5943600" y="2819400"/>
            <a:ext cx="0" cy="8191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0" name="stdio MCP">
            <a:extLst xmlns:a="http://schemas.openxmlformats.org/drawingml/2006/main">
              <a:ext uri="{FF2B5EF4-FFF2-40B4-BE49-F238E27FC236}">
                <a16:creationId xmlns:a16="http://schemas.microsoft.com/office/drawing/2014/main" id="{C85D15EA-CB5D-42FC-A470-9095D4DDF46D}"/>
              </a:ext>
            </a:extLst>
          </p:cNvPr>
          <p:cNvSpPr>
            <a:spLocks xmlns:a="http://schemas.openxmlformats.org/drawingml/2006/main" noGrp="1"/>
          </p:cNvSpPr>
          <p:nvPr/>
        </p:nvSpPr>
        <p:spPr>
          <a:xfrm xmlns:a="http://schemas.openxmlformats.org/drawingml/2006/main">
            <a:off x="6038850" y="3114675"/>
            <a:ext cx="152400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5F6F8"/>
                </a:solidFill>
                <a:latin typeface="Arial"/>
                <a:ea typeface="Arial"/>
                <a:cs typeface="Arial"/>
              </a:defRPr>
            </a:defPPr>
            <a:lvl1pPr algn="l">
              <a:defRPr sz="1500" b="0">
                <a:solidFill>
                  <a:srgbClr val="F5F6F8"/>
                </a:solidFill>
                <a:latin typeface="Arial"/>
                <a:ea typeface="Arial"/>
                <a:cs typeface="Arial"/>
              </a:defRPr>
            </a:lvl1pPr>
            <a:lvl2pPr algn="l">
              <a:defRPr sz="1500" b="0">
                <a:solidFill>
                  <a:srgbClr val="F5F6F8"/>
                </a:solidFill>
                <a:latin typeface="Arial"/>
                <a:ea typeface="Arial"/>
                <a:cs typeface="Arial"/>
              </a:defRPr>
            </a:lvl2pPr>
            <a:lvl3pPr algn="l">
              <a:defRPr sz="1500" b="0">
                <a:solidFill>
                  <a:srgbClr val="F5F6F8"/>
                </a:solidFill>
                <a:latin typeface="Arial"/>
                <a:ea typeface="Arial"/>
                <a:cs typeface="Arial"/>
              </a:defRPr>
            </a:lvl3pPr>
            <a:lvl4pPr algn="l">
              <a:defRPr sz="1500" b="0">
                <a:solidFill>
                  <a:srgbClr val="F5F6F8"/>
                </a:solidFill>
                <a:latin typeface="Arial"/>
                <a:ea typeface="Arial"/>
                <a:cs typeface="Arial"/>
              </a:defRPr>
            </a:lvl4pPr>
            <a:lvl5pPr algn="l">
              <a:defRPr sz="1500" b="0">
                <a:solidFill>
                  <a:srgbClr val="F5F6F8"/>
                </a:solidFill>
                <a:latin typeface="Arial"/>
                <a:ea typeface="Arial"/>
                <a:cs typeface="Arial"/>
              </a:defRPr>
            </a:lvl5pPr>
            <a:lvl6pPr algn="l">
              <a:defRPr sz="1500" b="0">
                <a:solidFill>
                  <a:srgbClr val="F5F6F8"/>
                </a:solidFill>
                <a:latin typeface="Arial"/>
                <a:ea typeface="Arial"/>
                <a:cs typeface="Arial"/>
              </a:defRPr>
            </a:lvl6pPr>
            <a:lvl7pPr algn="l">
              <a:defRPr sz="1500" b="0">
                <a:solidFill>
                  <a:srgbClr val="F5F6F8"/>
                </a:solidFill>
                <a:latin typeface="Arial"/>
                <a:ea typeface="Arial"/>
                <a:cs typeface="Arial"/>
              </a:defRPr>
            </a:lvl7pPr>
            <a:lvl8pPr algn="l">
              <a:defRPr sz="1500" b="0">
                <a:solidFill>
                  <a:srgbClr val="F5F6F8"/>
                </a:solidFill>
                <a:latin typeface="Arial"/>
                <a:ea typeface="Arial"/>
                <a:cs typeface="Arial"/>
              </a:defRPr>
            </a:lvl8pPr>
            <a:lvl9pPr algn="l">
              <a:defRPr sz="1500" b="0">
                <a:solidFill>
                  <a:srgbClr val="F5F6F8"/>
                </a:solidFill>
                <a:latin typeface="Arial"/>
                <a:ea typeface="Arial"/>
                <a:cs typeface="Arial"/>
              </a:defRPr>
            </a:lvl9pPr>
          </a:lstStyle>
          <a:p xmlns:a="http://schemas.openxmlformats.org/drawingml/2006/main">
            <a:pPr algn="l">
              <a:defRPr sz="1500" b="0">
                <a:solidFill>
                  <a:srgbClr val="F5F6F8"/>
                </a:solidFill>
                <a:latin typeface="Arial"/>
                <a:ea typeface="Arial"/>
                <a:cs typeface="Arial"/>
              </a:defRPr>
            </a:pPr>
            <a:r>
              <a:rPr sz="1500" b="0">
                <a:solidFill>
                  <a:srgbClr val="F5F6F8"/>
                </a:solidFill>
                <a:latin typeface="Arial"/>
                <a:ea typeface="Arial"/>
                <a:cs typeface="Arial"/>
              </a:rPr>
              <a:t>stdio MCP</a:t>
            </a:r>
          </a:p>
        </p:txBody>
      </p:sp>
      <p:cxnSp>
        <p:nvCxnSpPr>
          <p:cNvPr id="21" name="flow arrow">
            <a:extLst xmlns:a="http://schemas.openxmlformats.org/drawingml/2006/main">
              <a:ext uri="{FF2B5EF4-FFF2-40B4-BE49-F238E27FC236}">
                <a16:creationId xmlns:a16="http://schemas.microsoft.com/office/drawing/2014/main" id="{330BC394-982E-4339-B8E1-EAF2DF3A2A23}"/>
              </a:ext>
            </a:extLst>
          </p:cNvPr>
          <p:cNvCxnSpPr/>
          <p:nvPr/>
        </p:nvCxnSpPr>
        <p:spPr>
          <a:xfrm xmlns:a="http://schemas.openxmlformats.org/drawingml/2006/main">
            <a:off x="2990850" y="4000500"/>
            <a:ext cx="17621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2" name="status API">
            <a:extLst xmlns:a="http://schemas.openxmlformats.org/drawingml/2006/main">
              <a:ext uri="{FF2B5EF4-FFF2-40B4-BE49-F238E27FC236}">
                <a16:creationId xmlns:a16="http://schemas.microsoft.com/office/drawing/2014/main" id="{113BDDF3-8915-4704-BAE8-DCEE3773C166}"/>
              </a:ext>
            </a:extLst>
          </p:cNvPr>
          <p:cNvSpPr>
            <a:spLocks xmlns:a="http://schemas.openxmlformats.org/drawingml/2006/main" noGrp="1"/>
          </p:cNvSpPr>
          <p:nvPr/>
        </p:nvSpPr>
        <p:spPr>
          <a:xfrm xmlns:a="http://schemas.openxmlformats.org/drawingml/2006/main">
            <a:off x="3181350" y="3724275"/>
            <a:ext cx="140970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status API</a:t>
            </a:r>
          </a:p>
        </p:txBody>
      </p:sp>
      <p:cxnSp>
        <p:nvCxnSpPr>
          <p:cNvPr id="23" name="diagram line">
            <a:extLst xmlns:a="http://schemas.openxmlformats.org/drawingml/2006/main">
              <a:ext uri="{FF2B5EF4-FFF2-40B4-BE49-F238E27FC236}">
                <a16:creationId xmlns:a16="http://schemas.microsoft.com/office/drawing/2014/main" id="{04615B5D-4199-4124-AF70-1CB75A771E72}"/>
              </a:ext>
            </a:extLst>
          </p:cNvPr>
          <p:cNvCxnSpPr/>
          <p:nvPr/>
        </p:nvCxnSpPr>
        <p:spPr>
          <a:xfrm xmlns:a="http://schemas.openxmlformats.org/drawingml/2006/main">
            <a:off x="7134225" y="4000500"/>
            <a:ext cx="904875" cy="0"/>
          </a:xfrm>
          <a:prstGeom xmlns:a="http://schemas.openxmlformats.org/drawingml/2006/main" prst="straightConnector1">
            <a:avLst/>
          </a:prstGeom>
          <a:ln xmlns:a="http://schemas.openxmlformats.org/drawingml/2006/main" w="9525">
            <a:solidFill>
              <a:srgbClr val="62ACFF"/>
            </a:solidFill>
            <a:prstDash val="solid"/>
          </a:ln>
        </p:spPr>
      </p:cxnSp>
      <p:cxnSp>
        <p:nvCxnSpPr>
          <p:cNvPr id="24" name="diagram line">
            <a:extLst xmlns:a="http://schemas.openxmlformats.org/drawingml/2006/main">
              <a:ext uri="{FF2B5EF4-FFF2-40B4-BE49-F238E27FC236}">
                <a16:creationId xmlns:a16="http://schemas.microsoft.com/office/drawing/2014/main" id="{5E045A21-D442-4943-884B-B204DB3D5E7C}"/>
              </a:ext>
            </a:extLst>
          </p:cNvPr>
          <p:cNvCxnSpPr/>
          <p:nvPr/>
        </p:nvCxnSpPr>
        <p:spPr>
          <a:xfrm xmlns:a="http://schemas.openxmlformats.org/drawingml/2006/main">
            <a:off x="8039100" y="2457450"/>
            <a:ext cx="0" cy="1543050"/>
          </a:xfrm>
          <a:prstGeom xmlns:a="http://schemas.openxmlformats.org/drawingml/2006/main" prst="straightConnector1">
            <a:avLst/>
          </a:prstGeom>
          <a:ln xmlns:a="http://schemas.openxmlformats.org/drawingml/2006/main" w="9525">
            <a:solidFill>
              <a:srgbClr val="62ACFF"/>
            </a:solidFill>
            <a:prstDash val="solid"/>
          </a:ln>
        </p:spPr>
      </p:cxnSp>
      <p:cxnSp>
        <p:nvCxnSpPr>
          <p:cNvPr id="25" name="flow arrow">
            <a:extLst xmlns:a="http://schemas.openxmlformats.org/drawingml/2006/main">
              <a:ext uri="{FF2B5EF4-FFF2-40B4-BE49-F238E27FC236}">
                <a16:creationId xmlns:a16="http://schemas.microsoft.com/office/drawing/2014/main" id="{AF898660-B174-4B08-BB33-326B978AC98E}"/>
              </a:ext>
            </a:extLst>
          </p:cNvPr>
          <p:cNvCxnSpPr/>
          <p:nvPr/>
        </p:nvCxnSpPr>
        <p:spPr>
          <a:xfrm xmlns:a="http://schemas.openxmlformats.org/drawingml/2006/main">
            <a:off x="8039100" y="2457450"/>
            <a:ext cx="85725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6" name="HTTP / x402">
            <a:extLst xmlns:a="http://schemas.openxmlformats.org/drawingml/2006/main">
              <a:ext uri="{FF2B5EF4-FFF2-40B4-BE49-F238E27FC236}">
                <a16:creationId xmlns:a16="http://schemas.microsoft.com/office/drawing/2014/main" id="{583E5A0C-2ADB-40F1-BFD0-8D15839AB3BC}"/>
              </a:ext>
            </a:extLst>
          </p:cNvPr>
          <p:cNvSpPr>
            <a:spLocks xmlns:a="http://schemas.openxmlformats.org/drawingml/2006/main" noGrp="1"/>
          </p:cNvSpPr>
          <p:nvPr/>
        </p:nvSpPr>
        <p:spPr>
          <a:xfrm xmlns:a="http://schemas.openxmlformats.org/drawingml/2006/main">
            <a:off x="7486650" y="3133725"/>
            <a:ext cx="1333500" cy="2571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5F6F8"/>
                </a:solidFill>
                <a:latin typeface="Arial"/>
                <a:ea typeface="Arial"/>
                <a:cs typeface="Arial"/>
              </a:defRPr>
            </a:defPPr>
            <a:lvl1pPr algn="ctr">
              <a:defRPr sz="1425" b="0">
                <a:solidFill>
                  <a:srgbClr val="F5F6F8"/>
                </a:solidFill>
                <a:latin typeface="Arial"/>
                <a:ea typeface="Arial"/>
                <a:cs typeface="Arial"/>
              </a:defRPr>
            </a:lvl1pPr>
            <a:lvl2pPr algn="ctr">
              <a:defRPr sz="1425" b="0">
                <a:solidFill>
                  <a:srgbClr val="F5F6F8"/>
                </a:solidFill>
                <a:latin typeface="Arial"/>
                <a:ea typeface="Arial"/>
                <a:cs typeface="Arial"/>
              </a:defRPr>
            </a:lvl2pPr>
            <a:lvl3pPr algn="ctr">
              <a:defRPr sz="1425" b="0">
                <a:solidFill>
                  <a:srgbClr val="F5F6F8"/>
                </a:solidFill>
                <a:latin typeface="Arial"/>
                <a:ea typeface="Arial"/>
                <a:cs typeface="Arial"/>
              </a:defRPr>
            </a:lvl3pPr>
            <a:lvl4pPr algn="ctr">
              <a:defRPr sz="1425" b="0">
                <a:solidFill>
                  <a:srgbClr val="F5F6F8"/>
                </a:solidFill>
                <a:latin typeface="Arial"/>
                <a:ea typeface="Arial"/>
                <a:cs typeface="Arial"/>
              </a:defRPr>
            </a:lvl4pPr>
            <a:lvl5pPr algn="ctr">
              <a:defRPr sz="1425" b="0">
                <a:solidFill>
                  <a:srgbClr val="F5F6F8"/>
                </a:solidFill>
                <a:latin typeface="Arial"/>
                <a:ea typeface="Arial"/>
                <a:cs typeface="Arial"/>
              </a:defRPr>
            </a:lvl5pPr>
            <a:lvl6pPr algn="ctr">
              <a:defRPr sz="1425" b="0">
                <a:solidFill>
                  <a:srgbClr val="F5F6F8"/>
                </a:solidFill>
                <a:latin typeface="Arial"/>
                <a:ea typeface="Arial"/>
                <a:cs typeface="Arial"/>
              </a:defRPr>
            </a:lvl6pPr>
            <a:lvl7pPr algn="ctr">
              <a:defRPr sz="1425" b="0">
                <a:solidFill>
                  <a:srgbClr val="F5F6F8"/>
                </a:solidFill>
                <a:latin typeface="Arial"/>
                <a:ea typeface="Arial"/>
                <a:cs typeface="Arial"/>
              </a:defRPr>
            </a:lvl7pPr>
            <a:lvl8pPr algn="ctr">
              <a:defRPr sz="1425" b="0">
                <a:solidFill>
                  <a:srgbClr val="F5F6F8"/>
                </a:solidFill>
                <a:latin typeface="Arial"/>
                <a:ea typeface="Arial"/>
                <a:cs typeface="Arial"/>
              </a:defRPr>
            </a:lvl8pPr>
            <a:lvl9pPr algn="ctr">
              <a:defRPr sz="1425" b="0">
                <a:solidFill>
                  <a:srgbClr val="F5F6F8"/>
                </a:solidFill>
                <a:latin typeface="Arial"/>
                <a:ea typeface="Arial"/>
                <a:cs typeface="Arial"/>
              </a:defRPr>
            </a:lvl9pPr>
          </a:lstStyle>
          <a:p xmlns:a="http://schemas.openxmlformats.org/drawingml/2006/main">
            <a:pPr algn="ctr">
              <a:defRPr sz="1425" b="0">
                <a:solidFill>
                  <a:srgbClr val="F5F6F8"/>
                </a:solidFill>
                <a:latin typeface="Arial"/>
                <a:ea typeface="Arial"/>
                <a:cs typeface="Arial"/>
              </a:defRPr>
            </a:pPr>
            <a:r>
              <a:rPr sz="1425" b="0">
                <a:solidFill>
                  <a:srgbClr val="F5F6F8"/>
                </a:solidFill>
                <a:latin typeface="Arial"/>
                <a:ea typeface="Arial"/>
                <a:cs typeface="Arial"/>
              </a:rPr>
              <a:t>HTTP / x402</a:t>
            </a:r>
          </a:p>
        </p:txBody>
      </p:sp>
      <p:cxnSp>
        <p:nvCxnSpPr>
          <p:cNvPr id="27" name="flow arrow">
            <a:extLst xmlns:a="http://schemas.openxmlformats.org/drawingml/2006/main">
              <a:ext uri="{FF2B5EF4-FFF2-40B4-BE49-F238E27FC236}">
                <a16:creationId xmlns:a16="http://schemas.microsoft.com/office/drawing/2014/main" id="{4DE14265-3032-411C-9076-106B9D94E540}"/>
              </a:ext>
            </a:extLst>
          </p:cNvPr>
          <p:cNvCxnSpPr/>
          <p:nvPr/>
        </p:nvCxnSpPr>
        <p:spPr>
          <a:xfrm xmlns:a="http://schemas.openxmlformats.org/drawingml/2006/main">
            <a:off x="10239375" y="2819400"/>
            <a:ext cx="0" cy="8191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8" name="verify / settle">
            <a:extLst xmlns:a="http://schemas.openxmlformats.org/drawingml/2006/main">
              <a:ext uri="{FF2B5EF4-FFF2-40B4-BE49-F238E27FC236}">
                <a16:creationId xmlns:a16="http://schemas.microsoft.com/office/drawing/2014/main" id="{1B9FFAAC-DAF4-465A-8412-081FDA876786}"/>
              </a:ext>
            </a:extLst>
          </p:cNvPr>
          <p:cNvSpPr>
            <a:spLocks xmlns:a="http://schemas.openxmlformats.org/drawingml/2006/main" noGrp="1"/>
          </p:cNvSpPr>
          <p:nvPr/>
        </p:nvSpPr>
        <p:spPr>
          <a:xfrm xmlns:a="http://schemas.openxmlformats.org/drawingml/2006/main">
            <a:off x="10344150" y="3114675"/>
            <a:ext cx="1238250" cy="2571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F5F6F8"/>
                </a:solidFill>
                <a:latin typeface="Arial"/>
                <a:ea typeface="Arial"/>
                <a:cs typeface="Arial"/>
              </a:defRPr>
            </a:defPPr>
            <a:lvl1pPr algn="l">
              <a:defRPr sz="1350" b="0">
                <a:solidFill>
                  <a:srgbClr val="F5F6F8"/>
                </a:solidFill>
                <a:latin typeface="Arial"/>
                <a:ea typeface="Arial"/>
                <a:cs typeface="Arial"/>
              </a:defRPr>
            </a:lvl1pPr>
            <a:lvl2pPr algn="l">
              <a:defRPr sz="1350" b="0">
                <a:solidFill>
                  <a:srgbClr val="F5F6F8"/>
                </a:solidFill>
                <a:latin typeface="Arial"/>
                <a:ea typeface="Arial"/>
                <a:cs typeface="Arial"/>
              </a:defRPr>
            </a:lvl2pPr>
            <a:lvl3pPr algn="l">
              <a:defRPr sz="1350" b="0">
                <a:solidFill>
                  <a:srgbClr val="F5F6F8"/>
                </a:solidFill>
                <a:latin typeface="Arial"/>
                <a:ea typeface="Arial"/>
                <a:cs typeface="Arial"/>
              </a:defRPr>
            </a:lvl3pPr>
            <a:lvl4pPr algn="l">
              <a:defRPr sz="1350" b="0">
                <a:solidFill>
                  <a:srgbClr val="F5F6F8"/>
                </a:solidFill>
                <a:latin typeface="Arial"/>
                <a:ea typeface="Arial"/>
                <a:cs typeface="Arial"/>
              </a:defRPr>
            </a:lvl4pPr>
            <a:lvl5pPr algn="l">
              <a:defRPr sz="1350" b="0">
                <a:solidFill>
                  <a:srgbClr val="F5F6F8"/>
                </a:solidFill>
                <a:latin typeface="Arial"/>
                <a:ea typeface="Arial"/>
                <a:cs typeface="Arial"/>
              </a:defRPr>
            </a:lvl5pPr>
            <a:lvl6pPr algn="l">
              <a:defRPr sz="1350" b="0">
                <a:solidFill>
                  <a:srgbClr val="F5F6F8"/>
                </a:solidFill>
                <a:latin typeface="Arial"/>
                <a:ea typeface="Arial"/>
                <a:cs typeface="Arial"/>
              </a:defRPr>
            </a:lvl6pPr>
            <a:lvl7pPr algn="l">
              <a:defRPr sz="1350" b="0">
                <a:solidFill>
                  <a:srgbClr val="F5F6F8"/>
                </a:solidFill>
                <a:latin typeface="Arial"/>
                <a:ea typeface="Arial"/>
                <a:cs typeface="Arial"/>
              </a:defRPr>
            </a:lvl7pPr>
            <a:lvl8pPr algn="l">
              <a:defRPr sz="1350" b="0">
                <a:solidFill>
                  <a:srgbClr val="F5F6F8"/>
                </a:solidFill>
                <a:latin typeface="Arial"/>
                <a:ea typeface="Arial"/>
                <a:cs typeface="Arial"/>
              </a:defRPr>
            </a:lvl8pPr>
            <a:lvl9pPr algn="l">
              <a:defRPr sz="1350" b="0">
                <a:solidFill>
                  <a:srgbClr val="F5F6F8"/>
                </a:solidFill>
                <a:latin typeface="Arial"/>
                <a:ea typeface="Arial"/>
                <a:cs typeface="Arial"/>
              </a:defRPr>
            </a:lvl9pPr>
          </a:lstStyle>
          <a:p xmlns:a="http://schemas.openxmlformats.org/drawingml/2006/main">
            <a:pPr algn="l">
              <a:defRPr sz="1350" b="0">
                <a:solidFill>
                  <a:srgbClr val="F5F6F8"/>
                </a:solidFill>
                <a:latin typeface="Arial"/>
                <a:ea typeface="Arial"/>
                <a:cs typeface="Arial"/>
              </a:defRPr>
            </a:pPr>
            <a:r>
              <a:rPr sz="1350" b="0">
                <a:solidFill>
                  <a:srgbClr val="F5F6F8"/>
                </a:solidFill>
                <a:latin typeface="Arial"/>
                <a:ea typeface="Arial"/>
                <a:cs typeface="Arial"/>
              </a:rPr>
              <a:t>verify / settle</a:t>
            </a:r>
          </a:p>
        </p:txBody>
      </p:sp>
      <p:cxnSp>
        <p:nvCxnSpPr>
          <p:cNvPr id="29" name="flow arrow">
            <a:extLst xmlns:a="http://schemas.openxmlformats.org/drawingml/2006/main">
              <a:ext uri="{FF2B5EF4-FFF2-40B4-BE49-F238E27FC236}">
                <a16:creationId xmlns:a16="http://schemas.microsoft.com/office/drawing/2014/main" id="{0CFFC57F-8919-4917-BF59-75DB9E23DC90}"/>
              </a:ext>
            </a:extLst>
          </p:cNvPr>
          <p:cNvCxnSpPr/>
          <p:nvPr/>
        </p:nvCxnSpPr>
        <p:spPr>
          <a:xfrm xmlns:a="http://schemas.openxmlformats.org/drawingml/2006/main">
            <a:off x="5943600" y="4362450"/>
            <a:ext cx="0" cy="8572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30" name="register">
            <a:extLst xmlns:a="http://schemas.openxmlformats.org/drawingml/2006/main">
              <a:ext uri="{FF2B5EF4-FFF2-40B4-BE49-F238E27FC236}">
                <a16:creationId xmlns:a16="http://schemas.microsoft.com/office/drawing/2014/main" id="{31B80A78-8178-4F9B-A300-D37B5C4E4058}"/>
              </a:ext>
            </a:extLst>
          </p:cNvPr>
          <p:cNvSpPr>
            <a:spLocks xmlns:a="http://schemas.openxmlformats.org/drawingml/2006/main" noGrp="1"/>
          </p:cNvSpPr>
          <p:nvPr/>
        </p:nvSpPr>
        <p:spPr>
          <a:xfrm xmlns:a="http://schemas.openxmlformats.org/drawingml/2006/main">
            <a:off x="6048375" y="4752975"/>
            <a:ext cx="123825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F5F6F8"/>
                </a:solidFill>
                <a:latin typeface="Arial"/>
                <a:ea typeface="Arial"/>
                <a:cs typeface="Arial"/>
              </a:defRPr>
            </a:defPPr>
            <a:lvl1pPr algn="l">
              <a:defRPr sz="1425" b="0">
                <a:solidFill>
                  <a:srgbClr val="F5F6F8"/>
                </a:solidFill>
                <a:latin typeface="Arial"/>
                <a:ea typeface="Arial"/>
                <a:cs typeface="Arial"/>
              </a:defRPr>
            </a:lvl1pPr>
            <a:lvl2pPr algn="l">
              <a:defRPr sz="1425" b="0">
                <a:solidFill>
                  <a:srgbClr val="F5F6F8"/>
                </a:solidFill>
                <a:latin typeface="Arial"/>
                <a:ea typeface="Arial"/>
                <a:cs typeface="Arial"/>
              </a:defRPr>
            </a:lvl2pPr>
            <a:lvl3pPr algn="l">
              <a:defRPr sz="1425" b="0">
                <a:solidFill>
                  <a:srgbClr val="F5F6F8"/>
                </a:solidFill>
                <a:latin typeface="Arial"/>
                <a:ea typeface="Arial"/>
                <a:cs typeface="Arial"/>
              </a:defRPr>
            </a:lvl3pPr>
            <a:lvl4pPr algn="l">
              <a:defRPr sz="1425" b="0">
                <a:solidFill>
                  <a:srgbClr val="F5F6F8"/>
                </a:solidFill>
                <a:latin typeface="Arial"/>
                <a:ea typeface="Arial"/>
                <a:cs typeface="Arial"/>
              </a:defRPr>
            </a:lvl4pPr>
            <a:lvl5pPr algn="l">
              <a:defRPr sz="1425" b="0">
                <a:solidFill>
                  <a:srgbClr val="F5F6F8"/>
                </a:solidFill>
                <a:latin typeface="Arial"/>
                <a:ea typeface="Arial"/>
                <a:cs typeface="Arial"/>
              </a:defRPr>
            </a:lvl5pPr>
            <a:lvl6pPr algn="l">
              <a:defRPr sz="1425" b="0">
                <a:solidFill>
                  <a:srgbClr val="F5F6F8"/>
                </a:solidFill>
                <a:latin typeface="Arial"/>
                <a:ea typeface="Arial"/>
                <a:cs typeface="Arial"/>
              </a:defRPr>
            </a:lvl6pPr>
            <a:lvl7pPr algn="l">
              <a:defRPr sz="1425" b="0">
                <a:solidFill>
                  <a:srgbClr val="F5F6F8"/>
                </a:solidFill>
                <a:latin typeface="Arial"/>
                <a:ea typeface="Arial"/>
                <a:cs typeface="Arial"/>
              </a:defRPr>
            </a:lvl7pPr>
            <a:lvl8pPr algn="l">
              <a:defRPr sz="1425" b="0">
                <a:solidFill>
                  <a:srgbClr val="F5F6F8"/>
                </a:solidFill>
                <a:latin typeface="Arial"/>
                <a:ea typeface="Arial"/>
                <a:cs typeface="Arial"/>
              </a:defRPr>
            </a:lvl8pPr>
            <a:lvl9pPr algn="l">
              <a:defRPr sz="1425" b="0">
                <a:solidFill>
                  <a:srgbClr val="F5F6F8"/>
                </a:solidFill>
                <a:latin typeface="Arial"/>
                <a:ea typeface="Arial"/>
                <a:cs typeface="Arial"/>
              </a:defRPr>
            </a:lvl9pPr>
          </a:lstStyle>
          <a:p xmlns:a="http://schemas.openxmlformats.org/drawingml/2006/main">
            <a:pPr algn="l">
              <a:defRPr sz="1425" b="0">
                <a:solidFill>
                  <a:srgbClr val="F5F6F8"/>
                </a:solidFill>
                <a:latin typeface="Arial"/>
                <a:ea typeface="Arial"/>
                <a:cs typeface="Arial"/>
              </a:defRPr>
            </a:pPr>
            <a:r>
              <a:rPr sz="1425" b="0">
                <a:solidFill>
                  <a:srgbClr val="F5F6F8"/>
                </a:solidFill>
                <a:latin typeface="Arial"/>
                <a:ea typeface="Arial"/>
                <a:cs typeface="Arial"/>
              </a:rPr>
              <a:t>register</a:t>
            </a:r>
          </a:p>
        </p:txBody>
      </p:sp>
      <p:cxnSp>
        <p:nvCxnSpPr>
          <p:cNvPr id="31" name="flow arrow">
            <a:extLst xmlns:a="http://schemas.openxmlformats.org/drawingml/2006/main">
              <a:ext uri="{FF2B5EF4-FFF2-40B4-BE49-F238E27FC236}">
                <a16:creationId xmlns:a16="http://schemas.microsoft.com/office/drawing/2014/main" id="{0DE9A3DD-558D-4F88-87AE-4F255009C981}"/>
              </a:ext>
            </a:extLst>
          </p:cNvPr>
          <p:cNvCxnSpPr/>
          <p:nvPr/>
        </p:nvCxnSpPr>
        <p:spPr>
          <a:xfrm xmlns:a="http://schemas.openxmlformats.org/drawingml/2006/main">
            <a:off x="10239375" y="4362450"/>
            <a:ext cx="0" cy="8572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32" name="settlement">
            <a:extLst xmlns:a="http://schemas.openxmlformats.org/drawingml/2006/main">
              <a:ext uri="{FF2B5EF4-FFF2-40B4-BE49-F238E27FC236}">
                <a16:creationId xmlns:a16="http://schemas.microsoft.com/office/drawing/2014/main" id="{FD262E28-48E2-4B51-9D89-F4E7DE51DC63}"/>
              </a:ext>
            </a:extLst>
          </p:cNvPr>
          <p:cNvSpPr>
            <a:spLocks xmlns:a="http://schemas.openxmlformats.org/drawingml/2006/main" noGrp="1"/>
          </p:cNvSpPr>
          <p:nvPr/>
        </p:nvSpPr>
        <p:spPr>
          <a:xfrm xmlns:a="http://schemas.openxmlformats.org/drawingml/2006/main">
            <a:off x="10353675" y="4752975"/>
            <a:ext cx="121920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F5F6F8"/>
                </a:solidFill>
                <a:latin typeface="Arial"/>
                <a:ea typeface="Arial"/>
                <a:cs typeface="Arial"/>
              </a:defRPr>
            </a:defPPr>
            <a:lvl1pPr algn="l">
              <a:defRPr sz="1425" b="0">
                <a:solidFill>
                  <a:srgbClr val="F5F6F8"/>
                </a:solidFill>
                <a:latin typeface="Arial"/>
                <a:ea typeface="Arial"/>
                <a:cs typeface="Arial"/>
              </a:defRPr>
            </a:lvl1pPr>
            <a:lvl2pPr algn="l">
              <a:defRPr sz="1425" b="0">
                <a:solidFill>
                  <a:srgbClr val="F5F6F8"/>
                </a:solidFill>
                <a:latin typeface="Arial"/>
                <a:ea typeface="Arial"/>
                <a:cs typeface="Arial"/>
              </a:defRPr>
            </a:lvl2pPr>
            <a:lvl3pPr algn="l">
              <a:defRPr sz="1425" b="0">
                <a:solidFill>
                  <a:srgbClr val="F5F6F8"/>
                </a:solidFill>
                <a:latin typeface="Arial"/>
                <a:ea typeface="Arial"/>
                <a:cs typeface="Arial"/>
              </a:defRPr>
            </a:lvl3pPr>
            <a:lvl4pPr algn="l">
              <a:defRPr sz="1425" b="0">
                <a:solidFill>
                  <a:srgbClr val="F5F6F8"/>
                </a:solidFill>
                <a:latin typeface="Arial"/>
                <a:ea typeface="Arial"/>
                <a:cs typeface="Arial"/>
              </a:defRPr>
            </a:lvl4pPr>
            <a:lvl5pPr algn="l">
              <a:defRPr sz="1425" b="0">
                <a:solidFill>
                  <a:srgbClr val="F5F6F8"/>
                </a:solidFill>
                <a:latin typeface="Arial"/>
                <a:ea typeface="Arial"/>
                <a:cs typeface="Arial"/>
              </a:defRPr>
            </a:lvl5pPr>
            <a:lvl6pPr algn="l">
              <a:defRPr sz="1425" b="0">
                <a:solidFill>
                  <a:srgbClr val="F5F6F8"/>
                </a:solidFill>
                <a:latin typeface="Arial"/>
                <a:ea typeface="Arial"/>
                <a:cs typeface="Arial"/>
              </a:defRPr>
            </a:lvl6pPr>
            <a:lvl7pPr algn="l">
              <a:defRPr sz="1425" b="0">
                <a:solidFill>
                  <a:srgbClr val="F5F6F8"/>
                </a:solidFill>
                <a:latin typeface="Arial"/>
                <a:ea typeface="Arial"/>
                <a:cs typeface="Arial"/>
              </a:defRPr>
            </a:lvl7pPr>
            <a:lvl8pPr algn="l">
              <a:defRPr sz="1425" b="0">
                <a:solidFill>
                  <a:srgbClr val="F5F6F8"/>
                </a:solidFill>
                <a:latin typeface="Arial"/>
                <a:ea typeface="Arial"/>
                <a:cs typeface="Arial"/>
              </a:defRPr>
            </a:lvl8pPr>
            <a:lvl9pPr algn="l">
              <a:defRPr sz="1425" b="0">
                <a:solidFill>
                  <a:srgbClr val="F5F6F8"/>
                </a:solidFill>
                <a:latin typeface="Arial"/>
                <a:ea typeface="Arial"/>
                <a:cs typeface="Arial"/>
              </a:defRPr>
            </a:lvl9pPr>
          </a:lstStyle>
          <a:p xmlns:a="http://schemas.openxmlformats.org/drawingml/2006/main">
            <a:pPr algn="l">
              <a:defRPr sz="1425" b="0">
                <a:solidFill>
                  <a:srgbClr val="F5F6F8"/>
                </a:solidFill>
                <a:latin typeface="Arial"/>
                <a:ea typeface="Arial"/>
                <a:cs typeface="Arial"/>
              </a:defRPr>
            </a:pPr>
            <a:r>
              <a:rPr sz="1425" b="0">
                <a:solidFill>
                  <a:srgbClr val="F5F6F8"/>
                </a:solidFill>
                <a:latin typeface="Arial"/>
                <a:ea typeface="Arial"/>
                <a:cs typeface="Arial"/>
              </a:rPr>
              <a:t>settlement</a:t>
            </a:r>
          </a:p>
        </p:txBody>
      </p:sp>
      <p:cxnSp>
        <p:nvCxnSpPr>
          <p:cNvPr id="33" name="flow arrow">
            <a:extLst xmlns:a="http://schemas.openxmlformats.org/drawingml/2006/main">
              <a:ext uri="{FF2B5EF4-FFF2-40B4-BE49-F238E27FC236}">
                <a16:creationId xmlns:a16="http://schemas.microsoft.com/office/drawing/2014/main" id="{885F4209-DF44-4E77-9494-701403BDF2C2}"/>
              </a:ext>
            </a:extLst>
          </p:cNvPr>
          <p:cNvCxnSpPr/>
          <p:nvPr/>
        </p:nvCxnSpPr>
        <p:spPr>
          <a:xfrm xmlns:a="http://schemas.openxmlformats.org/drawingml/2006/main">
            <a:off x="7239000" y="5581650"/>
            <a:ext cx="1200150"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34" name="ERC-1271">
            <a:extLst xmlns:a="http://schemas.openxmlformats.org/drawingml/2006/main">
              <a:ext uri="{FF2B5EF4-FFF2-40B4-BE49-F238E27FC236}">
                <a16:creationId xmlns:a16="http://schemas.microsoft.com/office/drawing/2014/main" id="{6B5E4810-5A3F-4047-9606-01F96F0690DF}"/>
              </a:ext>
            </a:extLst>
          </p:cNvPr>
          <p:cNvSpPr>
            <a:spLocks xmlns:a="http://schemas.openxmlformats.org/drawingml/2006/main" noGrp="1"/>
          </p:cNvSpPr>
          <p:nvPr/>
        </p:nvSpPr>
        <p:spPr>
          <a:xfrm xmlns:a="http://schemas.openxmlformats.org/drawingml/2006/main">
            <a:off x="7267575" y="5314950"/>
            <a:ext cx="1133475" cy="23812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5F6F8"/>
                </a:solidFill>
                <a:latin typeface="Arial"/>
                <a:ea typeface="Arial"/>
                <a:cs typeface="Arial"/>
              </a:defRPr>
            </a:defPPr>
            <a:lvl1pPr algn="ctr">
              <a:defRPr sz="1350" b="0">
                <a:solidFill>
                  <a:srgbClr val="F5F6F8"/>
                </a:solidFill>
                <a:latin typeface="Arial"/>
                <a:ea typeface="Arial"/>
                <a:cs typeface="Arial"/>
              </a:defRPr>
            </a:lvl1pPr>
            <a:lvl2pPr algn="ctr">
              <a:defRPr sz="1350" b="0">
                <a:solidFill>
                  <a:srgbClr val="F5F6F8"/>
                </a:solidFill>
                <a:latin typeface="Arial"/>
                <a:ea typeface="Arial"/>
                <a:cs typeface="Arial"/>
              </a:defRPr>
            </a:lvl2pPr>
            <a:lvl3pPr algn="ctr">
              <a:defRPr sz="1350" b="0">
                <a:solidFill>
                  <a:srgbClr val="F5F6F8"/>
                </a:solidFill>
                <a:latin typeface="Arial"/>
                <a:ea typeface="Arial"/>
                <a:cs typeface="Arial"/>
              </a:defRPr>
            </a:lvl3pPr>
            <a:lvl4pPr algn="ctr">
              <a:defRPr sz="1350" b="0">
                <a:solidFill>
                  <a:srgbClr val="F5F6F8"/>
                </a:solidFill>
                <a:latin typeface="Arial"/>
                <a:ea typeface="Arial"/>
                <a:cs typeface="Arial"/>
              </a:defRPr>
            </a:lvl4pPr>
            <a:lvl5pPr algn="ctr">
              <a:defRPr sz="1350" b="0">
                <a:solidFill>
                  <a:srgbClr val="F5F6F8"/>
                </a:solidFill>
                <a:latin typeface="Arial"/>
                <a:ea typeface="Arial"/>
                <a:cs typeface="Arial"/>
              </a:defRPr>
            </a:lvl5pPr>
            <a:lvl6pPr algn="ctr">
              <a:defRPr sz="1350" b="0">
                <a:solidFill>
                  <a:srgbClr val="F5F6F8"/>
                </a:solidFill>
                <a:latin typeface="Arial"/>
                <a:ea typeface="Arial"/>
                <a:cs typeface="Arial"/>
              </a:defRPr>
            </a:lvl6pPr>
            <a:lvl7pPr algn="ctr">
              <a:defRPr sz="1350" b="0">
                <a:solidFill>
                  <a:srgbClr val="F5F6F8"/>
                </a:solidFill>
                <a:latin typeface="Arial"/>
                <a:ea typeface="Arial"/>
                <a:cs typeface="Arial"/>
              </a:defRPr>
            </a:lvl7pPr>
            <a:lvl8pPr algn="ctr">
              <a:defRPr sz="1350" b="0">
                <a:solidFill>
                  <a:srgbClr val="F5F6F8"/>
                </a:solidFill>
                <a:latin typeface="Arial"/>
                <a:ea typeface="Arial"/>
                <a:cs typeface="Arial"/>
              </a:defRPr>
            </a:lvl8pPr>
            <a:lvl9pPr algn="ctr">
              <a:defRPr sz="1350" b="0">
                <a:solidFill>
                  <a:srgbClr val="F5F6F8"/>
                </a:solidFill>
                <a:latin typeface="Arial"/>
                <a:ea typeface="Arial"/>
                <a:cs typeface="Arial"/>
              </a:defRPr>
            </a:lvl9pPr>
          </a:lstStyle>
          <a:p xmlns:a="http://schemas.openxmlformats.org/drawingml/2006/main">
            <a:pPr algn="ctr">
              <a:defRPr sz="1350" b="0">
                <a:solidFill>
                  <a:srgbClr val="F5F6F8"/>
                </a:solidFill>
                <a:latin typeface="Arial"/>
                <a:ea typeface="Arial"/>
                <a:cs typeface="Arial"/>
              </a:defRPr>
            </a:pPr>
            <a:r>
              <a:rPr sz="1350" b="0">
                <a:solidFill>
                  <a:srgbClr val="F5F6F8"/>
                </a:solidFill>
                <a:latin typeface="Arial"/>
                <a:ea typeface="Arial"/>
                <a:cs typeface="Arial"/>
              </a:rPr>
              <a:t>ERC-1271</a:t>
            </a:r>
          </a:p>
        </p:txBody>
      </p:sp>
      <p:cxnSp>
        <p:nvCxnSpPr>
          <p:cNvPr id="35" name="diagram line">
            <a:extLst xmlns:a="http://schemas.openxmlformats.org/drawingml/2006/main">
              <a:ext uri="{FF2B5EF4-FFF2-40B4-BE49-F238E27FC236}">
                <a16:creationId xmlns:a16="http://schemas.microsoft.com/office/drawing/2014/main" id="{B687565B-7894-4622-A813-2547CD87B8AC}"/>
              </a:ext>
            </a:extLst>
          </p:cNvPr>
          <p:cNvCxnSpPr/>
          <p:nvPr/>
        </p:nvCxnSpPr>
        <p:spPr>
          <a:xfrm xmlns:a="http://schemas.openxmlformats.org/drawingml/2006/main">
            <a:off x="5467350" y="4362450"/>
            <a:ext cx="0" cy="504825"/>
          </a:xfrm>
          <a:prstGeom xmlns:a="http://schemas.openxmlformats.org/drawingml/2006/main" prst="straightConnector1">
            <a:avLst/>
          </a:prstGeom>
          <a:ln xmlns:a="http://schemas.openxmlformats.org/drawingml/2006/main" w="9525">
            <a:solidFill>
              <a:srgbClr val="62ACFF"/>
            </a:solidFill>
            <a:prstDash val="dash"/>
          </a:ln>
        </p:spPr>
      </p:cxnSp>
      <p:cxnSp>
        <p:nvCxnSpPr>
          <p:cNvPr id="36" name="diagram line">
            <a:extLst xmlns:a="http://schemas.openxmlformats.org/drawingml/2006/main">
              <a:ext uri="{FF2B5EF4-FFF2-40B4-BE49-F238E27FC236}">
                <a16:creationId xmlns:a16="http://schemas.microsoft.com/office/drawing/2014/main" id="{34028B39-3C4C-4C08-941C-D9C39BA5EFEE}"/>
              </a:ext>
            </a:extLst>
          </p:cNvPr>
          <p:cNvCxnSpPr/>
          <p:nvPr/>
        </p:nvCxnSpPr>
        <p:spPr>
          <a:xfrm xmlns:a="http://schemas.openxmlformats.org/drawingml/2006/main">
            <a:off x="1790700" y="4867275"/>
            <a:ext cx="3676650" cy="0"/>
          </a:xfrm>
          <a:prstGeom xmlns:a="http://schemas.openxmlformats.org/drawingml/2006/main" prst="straightConnector1">
            <a:avLst/>
          </a:prstGeom>
          <a:ln xmlns:a="http://schemas.openxmlformats.org/drawingml/2006/main" w="9525">
            <a:solidFill>
              <a:srgbClr val="62ACFF"/>
            </a:solidFill>
            <a:prstDash val="dash"/>
          </a:ln>
        </p:spPr>
      </p:cxnSp>
      <p:cxnSp>
        <p:nvCxnSpPr>
          <p:cNvPr id="37" name="flow arrow">
            <a:extLst xmlns:a="http://schemas.openxmlformats.org/drawingml/2006/main">
              <a:ext uri="{FF2B5EF4-FFF2-40B4-BE49-F238E27FC236}">
                <a16:creationId xmlns:a16="http://schemas.microsoft.com/office/drawing/2014/main" id="{A050DCF0-158D-40B7-B81C-6B6D59109098}"/>
              </a:ext>
            </a:extLst>
          </p:cNvPr>
          <p:cNvCxnSpPr/>
          <p:nvPr/>
        </p:nvCxnSpPr>
        <p:spPr>
          <a:xfrm xmlns:a="http://schemas.openxmlformats.org/drawingml/2006/main">
            <a:off x="1790700" y="4867275"/>
            <a:ext cx="0" cy="352425"/>
          </a:xfrm>
          <a:prstGeom xmlns:a="http://schemas.openxmlformats.org/drawingml/2006/main" prst="straightConnector1">
            <a:avLst/>
          </a:prstGeom>
          <a:ln xmlns:a="http://schemas.openxmlformats.org/drawingml/2006/main" w="19050">
            <a:solidFill>
              <a:srgbClr val="62ACFF"/>
            </a:solidFill>
            <a:prstDash val="dash"/>
            <a:tailEnd type="triangle" w="med" len="med"/>
          </a:ln>
        </p:spPr>
      </p:cxnSp>
      <p:sp>
        <p:nvSpPr>
          <p:cNvPr id="38" name="redacted evidence">
            <a:extLst xmlns:a="http://schemas.openxmlformats.org/drawingml/2006/main">
              <a:ext uri="{FF2B5EF4-FFF2-40B4-BE49-F238E27FC236}">
                <a16:creationId xmlns:a16="http://schemas.microsoft.com/office/drawing/2014/main" id="{18594159-48F8-483F-B714-57F52B39DFE2}"/>
              </a:ext>
            </a:extLst>
          </p:cNvPr>
          <p:cNvSpPr>
            <a:spLocks xmlns:a="http://schemas.openxmlformats.org/drawingml/2006/main" noGrp="1"/>
          </p:cNvSpPr>
          <p:nvPr/>
        </p:nvSpPr>
        <p:spPr>
          <a:xfrm xmlns:a="http://schemas.openxmlformats.org/drawingml/2006/main">
            <a:off x="2333625" y="4591050"/>
            <a:ext cx="2333625" cy="23812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5F6F8"/>
                </a:solidFill>
                <a:latin typeface="Arial"/>
                <a:ea typeface="Arial"/>
                <a:cs typeface="Arial"/>
              </a:defRPr>
            </a:defPPr>
            <a:lvl1pPr algn="ctr">
              <a:defRPr sz="1425" b="0">
                <a:solidFill>
                  <a:srgbClr val="F5F6F8"/>
                </a:solidFill>
                <a:latin typeface="Arial"/>
                <a:ea typeface="Arial"/>
                <a:cs typeface="Arial"/>
              </a:defRPr>
            </a:lvl1pPr>
            <a:lvl2pPr algn="ctr">
              <a:defRPr sz="1425" b="0">
                <a:solidFill>
                  <a:srgbClr val="F5F6F8"/>
                </a:solidFill>
                <a:latin typeface="Arial"/>
                <a:ea typeface="Arial"/>
                <a:cs typeface="Arial"/>
              </a:defRPr>
            </a:lvl2pPr>
            <a:lvl3pPr algn="ctr">
              <a:defRPr sz="1425" b="0">
                <a:solidFill>
                  <a:srgbClr val="F5F6F8"/>
                </a:solidFill>
                <a:latin typeface="Arial"/>
                <a:ea typeface="Arial"/>
                <a:cs typeface="Arial"/>
              </a:defRPr>
            </a:lvl3pPr>
            <a:lvl4pPr algn="ctr">
              <a:defRPr sz="1425" b="0">
                <a:solidFill>
                  <a:srgbClr val="F5F6F8"/>
                </a:solidFill>
                <a:latin typeface="Arial"/>
                <a:ea typeface="Arial"/>
                <a:cs typeface="Arial"/>
              </a:defRPr>
            </a:lvl4pPr>
            <a:lvl5pPr algn="ctr">
              <a:defRPr sz="1425" b="0">
                <a:solidFill>
                  <a:srgbClr val="F5F6F8"/>
                </a:solidFill>
                <a:latin typeface="Arial"/>
                <a:ea typeface="Arial"/>
                <a:cs typeface="Arial"/>
              </a:defRPr>
            </a:lvl5pPr>
            <a:lvl6pPr algn="ctr">
              <a:defRPr sz="1425" b="0">
                <a:solidFill>
                  <a:srgbClr val="F5F6F8"/>
                </a:solidFill>
                <a:latin typeface="Arial"/>
                <a:ea typeface="Arial"/>
                <a:cs typeface="Arial"/>
              </a:defRPr>
            </a:lvl6pPr>
            <a:lvl7pPr algn="ctr">
              <a:defRPr sz="1425" b="0">
                <a:solidFill>
                  <a:srgbClr val="F5F6F8"/>
                </a:solidFill>
                <a:latin typeface="Arial"/>
                <a:ea typeface="Arial"/>
                <a:cs typeface="Arial"/>
              </a:defRPr>
            </a:lvl7pPr>
            <a:lvl8pPr algn="ctr">
              <a:defRPr sz="1425" b="0">
                <a:solidFill>
                  <a:srgbClr val="F5F6F8"/>
                </a:solidFill>
                <a:latin typeface="Arial"/>
                <a:ea typeface="Arial"/>
                <a:cs typeface="Arial"/>
              </a:defRPr>
            </a:lvl8pPr>
            <a:lvl9pPr algn="ctr">
              <a:defRPr sz="1425" b="0">
                <a:solidFill>
                  <a:srgbClr val="F5F6F8"/>
                </a:solidFill>
                <a:latin typeface="Arial"/>
                <a:ea typeface="Arial"/>
                <a:cs typeface="Arial"/>
              </a:defRPr>
            </a:lvl9pPr>
          </a:lstStyle>
          <a:p xmlns:a="http://schemas.openxmlformats.org/drawingml/2006/main">
            <a:pPr algn="ctr">
              <a:defRPr sz="1425" b="0">
                <a:solidFill>
                  <a:srgbClr val="F5F6F8"/>
                </a:solidFill>
                <a:latin typeface="Arial"/>
                <a:ea typeface="Arial"/>
                <a:cs typeface="Arial"/>
              </a:defRPr>
            </a:pPr>
            <a:r>
              <a:rPr sz="1425" b="0">
                <a:solidFill>
                  <a:srgbClr val="F5F6F8"/>
                </a:solidFill>
                <a:latin typeface="Arial"/>
                <a:ea typeface="Arial"/>
                <a:cs typeface="Arial"/>
              </a:rPr>
              <a:t>redacted evidence</a:t>
            </a:r>
          </a:p>
        </p:txBody>
      </p:sp>
      <p:cxnSp>
        <p:nvCxnSpPr>
          <p:cNvPr id="39" name="diagram line">
            <a:extLst xmlns:a="http://schemas.openxmlformats.org/drawingml/2006/main">
              <a:ext uri="{FF2B5EF4-FFF2-40B4-BE49-F238E27FC236}">
                <a16:creationId xmlns:a16="http://schemas.microsoft.com/office/drawing/2014/main" id="{812B2B02-8507-4CAF-A1D2-CE8204C77DA6}"/>
              </a:ext>
            </a:extLst>
          </p:cNvPr>
          <p:cNvCxnSpPr/>
          <p:nvPr/>
        </p:nvCxnSpPr>
        <p:spPr>
          <a:xfrm xmlns:a="http://schemas.openxmlformats.org/drawingml/2006/main">
            <a:off x="381000" y="2457450"/>
            <a:ext cx="228600" cy="0"/>
          </a:xfrm>
          <a:prstGeom xmlns:a="http://schemas.openxmlformats.org/drawingml/2006/main" prst="straightConnector1">
            <a:avLst/>
          </a:prstGeom>
          <a:ln xmlns:a="http://schemas.openxmlformats.org/drawingml/2006/main" w="9525">
            <a:solidFill>
              <a:srgbClr val="62ACFF"/>
            </a:solidFill>
            <a:prstDash val="solid"/>
          </a:ln>
        </p:spPr>
      </p:cxnSp>
      <p:cxnSp>
        <p:nvCxnSpPr>
          <p:cNvPr id="40" name="diagram line">
            <a:extLst xmlns:a="http://schemas.openxmlformats.org/drawingml/2006/main">
              <a:ext uri="{FF2B5EF4-FFF2-40B4-BE49-F238E27FC236}">
                <a16:creationId xmlns:a16="http://schemas.microsoft.com/office/drawing/2014/main" id="{CF676077-1039-4FC9-BD59-49A9DFEF85DA}"/>
              </a:ext>
            </a:extLst>
          </p:cNvPr>
          <p:cNvCxnSpPr/>
          <p:nvPr/>
        </p:nvCxnSpPr>
        <p:spPr>
          <a:xfrm xmlns:a="http://schemas.openxmlformats.org/drawingml/2006/main">
            <a:off x="381000" y="2457450"/>
            <a:ext cx="0" cy="3733800"/>
          </a:xfrm>
          <a:prstGeom xmlns:a="http://schemas.openxmlformats.org/drawingml/2006/main" prst="straightConnector1">
            <a:avLst/>
          </a:prstGeom>
          <a:ln xmlns:a="http://schemas.openxmlformats.org/drawingml/2006/main" w="9525">
            <a:solidFill>
              <a:srgbClr val="62ACFF"/>
            </a:solidFill>
            <a:prstDash val="solid"/>
          </a:ln>
        </p:spPr>
      </p:cxnSp>
      <p:cxnSp>
        <p:nvCxnSpPr>
          <p:cNvPr id="41" name="diagram line">
            <a:extLst xmlns:a="http://schemas.openxmlformats.org/drawingml/2006/main">
              <a:ext uri="{FF2B5EF4-FFF2-40B4-BE49-F238E27FC236}">
                <a16:creationId xmlns:a16="http://schemas.microsoft.com/office/drawing/2014/main" id="{2AEFD42B-B30B-4857-9CA8-8984E3667244}"/>
              </a:ext>
            </a:extLst>
          </p:cNvPr>
          <p:cNvCxnSpPr/>
          <p:nvPr/>
        </p:nvCxnSpPr>
        <p:spPr>
          <a:xfrm xmlns:a="http://schemas.openxmlformats.org/drawingml/2006/main">
            <a:off x="381000" y="6191250"/>
            <a:ext cx="5381625" cy="0"/>
          </a:xfrm>
          <a:prstGeom xmlns:a="http://schemas.openxmlformats.org/drawingml/2006/main" prst="straightConnector1">
            <a:avLst/>
          </a:prstGeom>
          <a:ln xmlns:a="http://schemas.openxmlformats.org/drawingml/2006/main" w="9525">
            <a:solidFill>
              <a:srgbClr val="62ACFF"/>
            </a:solidFill>
            <a:prstDash val="solid"/>
          </a:ln>
        </p:spPr>
      </p:cxnSp>
      <p:cxnSp>
        <p:nvCxnSpPr>
          <p:cNvPr id="42" name="flow arrow">
            <a:extLst xmlns:a="http://schemas.openxmlformats.org/drawingml/2006/main">
              <a:ext uri="{FF2B5EF4-FFF2-40B4-BE49-F238E27FC236}">
                <a16:creationId xmlns:a16="http://schemas.microsoft.com/office/drawing/2014/main" id="{B12F7F58-6B75-430E-B1CC-E99AB3C011F5}"/>
              </a:ext>
            </a:extLst>
          </p:cNvPr>
          <p:cNvCxnSpPr/>
          <p:nvPr/>
        </p:nvCxnSpPr>
        <p:spPr>
          <a:xfrm xmlns:a="http://schemas.openxmlformats.org/drawingml/2006/main">
            <a:off x="5762625" y="5943600"/>
            <a:ext cx="0" cy="24765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43" name="owner transactions">
            <a:extLst xmlns:a="http://schemas.openxmlformats.org/drawingml/2006/main">
              <a:ext uri="{FF2B5EF4-FFF2-40B4-BE49-F238E27FC236}">
                <a16:creationId xmlns:a16="http://schemas.microsoft.com/office/drawing/2014/main" id="{9E60E8CB-7F6C-41DE-83D8-40AD13CB44FB}"/>
              </a:ext>
            </a:extLst>
          </p:cNvPr>
          <p:cNvSpPr>
            <a:spLocks xmlns:a="http://schemas.openxmlformats.org/drawingml/2006/main" noGrp="1"/>
          </p:cNvSpPr>
          <p:nvPr/>
        </p:nvSpPr>
        <p:spPr>
          <a:xfrm xmlns:a="http://schemas.openxmlformats.org/drawingml/2006/main">
            <a:off x="1514475" y="5972175"/>
            <a:ext cx="2286000" cy="24765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5F6F8"/>
                </a:solidFill>
                <a:latin typeface="Arial"/>
                <a:ea typeface="Arial"/>
                <a:cs typeface="Arial"/>
              </a:defRPr>
            </a:defPPr>
            <a:lvl1pPr algn="ctr">
              <a:defRPr sz="1425" b="0">
                <a:solidFill>
                  <a:srgbClr val="F5F6F8"/>
                </a:solidFill>
                <a:latin typeface="Arial"/>
                <a:ea typeface="Arial"/>
                <a:cs typeface="Arial"/>
              </a:defRPr>
            </a:lvl1pPr>
            <a:lvl2pPr algn="ctr">
              <a:defRPr sz="1425" b="0">
                <a:solidFill>
                  <a:srgbClr val="F5F6F8"/>
                </a:solidFill>
                <a:latin typeface="Arial"/>
                <a:ea typeface="Arial"/>
                <a:cs typeface="Arial"/>
              </a:defRPr>
            </a:lvl2pPr>
            <a:lvl3pPr algn="ctr">
              <a:defRPr sz="1425" b="0">
                <a:solidFill>
                  <a:srgbClr val="F5F6F8"/>
                </a:solidFill>
                <a:latin typeface="Arial"/>
                <a:ea typeface="Arial"/>
                <a:cs typeface="Arial"/>
              </a:defRPr>
            </a:lvl3pPr>
            <a:lvl4pPr algn="ctr">
              <a:defRPr sz="1425" b="0">
                <a:solidFill>
                  <a:srgbClr val="F5F6F8"/>
                </a:solidFill>
                <a:latin typeface="Arial"/>
                <a:ea typeface="Arial"/>
                <a:cs typeface="Arial"/>
              </a:defRPr>
            </a:lvl4pPr>
            <a:lvl5pPr algn="ctr">
              <a:defRPr sz="1425" b="0">
                <a:solidFill>
                  <a:srgbClr val="F5F6F8"/>
                </a:solidFill>
                <a:latin typeface="Arial"/>
                <a:ea typeface="Arial"/>
                <a:cs typeface="Arial"/>
              </a:defRPr>
            </a:lvl5pPr>
            <a:lvl6pPr algn="ctr">
              <a:defRPr sz="1425" b="0">
                <a:solidFill>
                  <a:srgbClr val="F5F6F8"/>
                </a:solidFill>
                <a:latin typeface="Arial"/>
                <a:ea typeface="Arial"/>
                <a:cs typeface="Arial"/>
              </a:defRPr>
            </a:lvl6pPr>
            <a:lvl7pPr algn="ctr">
              <a:defRPr sz="1425" b="0">
                <a:solidFill>
                  <a:srgbClr val="F5F6F8"/>
                </a:solidFill>
                <a:latin typeface="Arial"/>
                <a:ea typeface="Arial"/>
                <a:cs typeface="Arial"/>
              </a:defRPr>
            </a:lvl7pPr>
            <a:lvl8pPr algn="ctr">
              <a:defRPr sz="1425" b="0">
                <a:solidFill>
                  <a:srgbClr val="F5F6F8"/>
                </a:solidFill>
                <a:latin typeface="Arial"/>
                <a:ea typeface="Arial"/>
                <a:cs typeface="Arial"/>
              </a:defRPr>
            </a:lvl8pPr>
            <a:lvl9pPr algn="ctr">
              <a:defRPr sz="1425" b="0">
                <a:solidFill>
                  <a:srgbClr val="F5F6F8"/>
                </a:solidFill>
                <a:latin typeface="Arial"/>
                <a:ea typeface="Arial"/>
                <a:cs typeface="Arial"/>
              </a:defRPr>
            </a:lvl9pPr>
          </a:lstStyle>
          <a:p xmlns:a="http://schemas.openxmlformats.org/drawingml/2006/main">
            <a:pPr algn="ctr">
              <a:defRPr sz="1425" b="0">
                <a:solidFill>
                  <a:srgbClr val="F5F6F8"/>
                </a:solidFill>
                <a:latin typeface="Arial"/>
                <a:ea typeface="Arial"/>
                <a:cs typeface="Arial"/>
              </a:defRPr>
            </a:pPr>
            <a:r>
              <a:rPr sz="1425" b="0">
                <a:solidFill>
                  <a:srgbClr val="F5F6F8"/>
                </a:solidFill>
                <a:latin typeface="Arial"/>
                <a:ea typeface="Arial"/>
                <a:cs typeface="Arial"/>
              </a:rPr>
              <a:t>owner transactions</a:t>
            </a:r>
          </a:p>
        </p:txBody>
      </p:sp>
      <p:sp>
        <p:nvSpPr>
          <p:cNvPr id="44" name="Local host">
            <a:extLst xmlns:a="http://schemas.openxmlformats.org/drawingml/2006/main">
              <a:ext uri="{FF2B5EF4-FFF2-40B4-BE49-F238E27FC236}">
                <a16:creationId xmlns:a16="http://schemas.microsoft.com/office/drawing/2014/main" id="{78C51300-155F-4356-A639-570CB81B983A}"/>
              </a:ext>
            </a:extLst>
          </p:cNvPr>
          <p:cNvSpPr>
            <a:spLocks xmlns:a="http://schemas.openxmlformats.org/drawingml/2006/main" noGrp="1"/>
          </p:cNvSpPr>
          <p:nvPr/>
        </p:nvSpPr>
        <p:spPr>
          <a:xfrm xmlns:a="http://schemas.openxmlformats.org/drawingml/2006/main">
            <a:off x="6191250" y="4514850"/>
            <a:ext cx="1143000" cy="23812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A0A5AF"/>
                </a:solidFill>
                <a:latin typeface="Arial"/>
                <a:ea typeface="Arial"/>
                <a:cs typeface="Arial"/>
              </a:defRPr>
            </a:defPPr>
            <a:lvl1pPr algn="ctr">
              <a:defRPr sz="1350" b="0">
                <a:solidFill>
                  <a:srgbClr val="A0A5AF"/>
                </a:solidFill>
                <a:latin typeface="Arial"/>
                <a:ea typeface="Arial"/>
                <a:cs typeface="Arial"/>
              </a:defRPr>
            </a:lvl1pPr>
            <a:lvl2pPr algn="ctr">
              <a:defRPr sz="1350" b="0">
                <a:solidFill>
                  <a:srgbClr val="A0A5AF"/>
                </a:solidFill>
                <a:latin typeface="Arial"/>
                <a:ea typeface="Arial"/>
                <a:cs typeface="Arial"/>
              </a:defRPr>
            </a:lvl2pPr>
            <a:lvl3pPr algn="ctr">
              <a:defRPr sz="1350" b="0">
                <a:solidFill>
                  <a:srgbClr val="A0A5AF"/>
                </a:solidFill>
                <a:latin typeface="Arial"/>
                <a:ea typeface="Arial"/>
                <a:cs typeface="Arial"/>
              </a:defRPr>
            </a:lvl3pPr>
            <a:lvl4pPr algn="ctr">
              <a:defRPr sz="1350" b="0">
                <a:solidFill>
                  <a:srgbClr val="A0A5AF"/>
                </a:solidFill>
                <a:latin typeface="Arial"/>
                <a:ea typeface="Arial"/>
                <a:cs typeface="Arial"/>
              </a:defRPr>
            </a:lvl4pPr>
            <a:lvl5pPr algn="ctr">
              <a:defRPr sz="1350" b="0">
                <a:solidFill>
                  <a:srgbClr val="A0A5AF"/>
                </a:solidFill>
                <a:latin typeface="Arial"/>
                <a:ea typeface="Arial"/>
                <a:cs typeface="Arial"/>
              </a:defRPr>
            </a:lvl5pPr>
            <a:lvl6pPr algn="ctr">
              <a:defRPr sz="1350" b="0">
                <a:solidFill>
                  <a:srgbClr val="A0A5AF"/>
                </a:solidFill>
                <a:latin typeface="Arial"/>
                <a:ea typeface="Arial"/>
                <a:cs typeface="Arial"/>
              </a:defRPr>
            </a:lvl6pPr>
            <a:lvl7pPr algn="ctr">
              <a:defRPr sz="1350" b="0">
                <a:solidFill>
                  <a:srgbClr val="A0A5AF"/>
                </a:solidFill>
                <a:latin typeface="Arial"/>
                <a:ea typeface="Arial"/>
                <a:cs typeface="Arial"/>
              </a:defRPr>
            </a:lvl7pPr>
            <a:lvl8pPr algn="ctr">
              <a:defRPr sz="1350" b="0">
                <a:solidFill>
                  <a:srgbClr val="A0A5AF"/>
                </a:solidFill>
                <a:latin typeface="Arial"/>
                <a:ea typeface="Arial"/>
                <a:cs typeface="Arial"/>
              </a:defRPr>
            </a:lvl8pPr>
            <a:lvl9pPr algn="ctr">
              <a:defRPr sz="1350" b="0">
                <a:solidFill>
                  <a:srgbClr val="A0A5AF"/>
                </a:solidFill>
                <a:latin typeface="Arial"/>
                <a:ea typeface="Arial"/>
                <a:cs typeface="Arial"/>
              </a:defRPr>
            </a:lvl9pPr>
          </a:lstStyle>
          <a:p xmlns:a="http://schemas.openxmlformats.org/drawingml/2006/main">
            <a:pPr algn="ctr">
              <a:defRPr sz="1350" b="0">
                <a:solidFill>
                  <a:srgbClr val="A0A5AF"/>
                </a:solidFill>
                <a:latin typeface="Arial"/>
                <a:ea typeface="Arial"/>
                <a:cs typeface="Arial"/>
              </a:defRPr>
            </a:pPr>
            <a:r>
              <a:rPr sz="1350" b="0">
                <a:solidFill>
                  <a:srgbClr val="A0A5AF"/>
                </a:solidFill>
                <a:latin typeface="Arial"/>
                <a:ea typeface="Arial"/>
                <a:cs typeface="Arial"/>
              </a:rPr>
              <a:t>Local host</a:t>
            </a:r>
          </a:p>
        </p:txBody>
      </p:sp>
      <p:sp>
        <p:nvSpPr>
          <p:cNvPr id="45" name="Public chain">
            <a:extLst xmlns:a="http://schemas.openxmlformats.org/drawingml/2006/main">
              <a:ext uri="{FF2B5EF4-FFF2-40B4-BE49-F238E27FC236}">
                <a16:creationId xmlns:a16="http://schemas.microsoft.com/office/drawing/2014/main" id="{73A2D309-71EA-4F33-8B95-3FD893F8DA5B}"/>
              </a:ext>
            </a:extLst>
          </p:cNvPr>
          <p:cNvSpPr>
            <a:spLocks xmlns:a="http://schemas.openxmlformats.org/drawingml/2006/main" noGrp="1"/>
          </p:cNvSpPr>
          <p:nvPr/>
        </p:nvSpPr>
        <p:spPr>
          <a:xfrm xmlns:a="http://schemas.openxmlformats.org/drawingml/2006/main">
            <a:off x="7534275" y="5972175"/>
            <a:ext cx="1333500" cy="228600"/>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A0A5AF"/>
                </a:solidFill>
                <a:latin typeface="Arial"/>
                <a:ea typeface="Arial"/>
                <a:cs typeface="Arial"/>
              </a:defRPr>
            </a:defPPr>
            <a:lvl1pPr algn="ctr">
              <a:defRPr sz="1350" b="0">
                <a:solidFill>
                  <a:srgbClr val="A0A5AF"/>
                </a:solidFill>
                <a:latin typeface="Arial"/>
                <a:ea typeface="Arial"/>
                <a:cs typeface="Arial"/>
              </a:defRPr>
            </a:lvl1pPr>
            <a:lvl2pPr algn="ctr">
              <a:defRPr sz="1350" b="0">
                <a:solidFill>
                  <a:srgbClr val="A0A5AF"/>
                </a:solidFill>
                <a:latin typeface="Arial"/>
                <a:ea typeface="Arial"/>
                <a:cs typeface="Arial"/>
              </a:defRPr>
            </a:lvl2pPr>
            <a:lvl3pPr algn="ctr">
              <a:defRPr sz="1350" b="0">
                <a:solidFill>
                  <a:srgbClr val="A0A5AF"/>
                </a:solidFill>
                <a:latin typeface="Arial"/>
                <a:ea typeface="Arial"/>
                <a:cs typeface="Arial"/>
              </a:defRPr>
            </a:lvl3pPr>
            <a:lvl4pPr algn="ctr">
              <a:defRPr sz="1350" b="0">
                <a:solidFill>
                  <a:srgbClr val="A0A5AF"/>
                </a:solidFill>
                <a:latin typeface="Arial"/>
                <a:ea typeface="Arial"/>
                <a:cs typeface="Arial"/>
              </a:defRPr>
            </a:lvl4pPr>
            <a:lvl5pPr algn="ctr">
              <a:defRPr sz="1350" b="0">
                <a:solidFill>
                  <a:srgbClr val="A0A5AF"/>
                </a:solidFill>
                <a:latin typeface="Arial"/>
                <a:ea typeface="Arial"/>
                <a:cs typeface="Arial"/>
              </a:defRPr>
            </a:lvl5pPr>
            <a:lvl6pPr algn="ctr">
              <a:defRPr sz="1350" b="0">
                <a:solidFill>
                  <a:srgbClr val="A0A5AF"/>
                </a:solidFill>
                <a:latin typeface="Arial"/>
                <a:ea typeface="Arial"/>
                <a:cs typeface="Arial"/>
              </a:defRPr>
            </a:lvl6pPr>
            <a:lvl7pPr algn="ctr">
              <a:defRPr sz="1350" b="0">
                <a:solidFill>
                  <a:srgbClr val="A0A5AF"/>
                </a:solidFill>
                <a:latin typeface="Arial"/>
                <a:ea typeface="Arial"/>
                <a:cs typeface="Arial"/>
              </a:defRPr>
            </a:lvl7pPr>
            <a:lvl8pPr algn="ctr">
              <a:defRPr sz="1350" b="0">
                <a:solidFill>
                  <a:srgbClr val="A0A5AF"/>
                </a:solidFill>
                <a:latin typeface="Arial"/>
                <a:ea typeface="Arial"/>
                <a:cs typeface="Arial"/>
              </a:defRPr>
            </a:lvl8pPr>
            <a:lvl9pPr algn="ctr">
              <a:defRPr sz="1350" b="0">
                <a:solidFill>
                  <a:srgbClr val="A0A5AF"/>
                </a:solidFill>
                <a:latin typeface="Arial"/>
                <a:ea typeface="Arial"/>
                <a:cs typeface="Arial"/>
              </a:defRPr>
            </a:lvl9pPr>
          </a:lstStyle>
          <a:p xmlns:a="http://schemas.openxmlformats.org/drawingml/2006/main">
            <a:pPr algn="ctr">
              <a:defRPr sz="1350" b="0">
                <a:solidFill>
                  <a:srgbClr val="A0A5AF"/>
                </a:solidFill>
                <a:latin typeface="Arial"/>
                <a:ea typeface="Arial"/>
                <a:cs typeface="Arial"/>
              </a:defRPr>
            </a:pPr>
            <a:r>
              <a:rPr sz="1350" b="0">
                <a:solidFill>
                  <a:srgbClr val="A0A5AF"/>
                </a:solidFill>
                <a:latin typeface="Arial"/>
                <a:ea typeface="Arial"/>
                <a:cs typeface="Arial"/>
              </a:rPr>
              <a:t>Public chain</a:t>
            </a:r>
          </a:p>
        </p:txBody>
      </p:sp>
    </p:spTree>
    <p:extLst>
      <p:ext uri="{BB962C8B-B14F-4D97-AF65-F5344CB8AC3E}">
        <p14:creationId xmlns:p14="http://schemas.microsoft.com/office/powerpoint/2010/main" val="1870126046"/>
      </p:ext>
    </p:extLst>
  </p:cSld>
</p:sld>
</file>

<file path=ppt/slides/slide4.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FA559A7-7577-4FB0-BCEE-ED321FFF9BD9}"/>
              </a:ext>
            </a:extLst>
          </p:cNvPr>
          <p:cNvPicPr>
            <a:picLocks xmlns:a="http://schemas.openxmlformats.org/drawingml/2006/main" noChangeAspect="1"/>
          </p:cNvPicPr>
          <p:nvPr/>
        </p:nvPicPr>
        <p:blipFill>
          <a:blip xmlns:r="http://schemas.openxmlformats.org/officeDocument/2006/relationships" xmlns:a="http://schemas.openxmlformats.org/drawingml/2006/main" r:embed="R8a4bc13214fe404f">
            <a:extLst>
              <a:ext uri="{96DAC541-7B7A-43D3-8B79-37D633B846F1}">
                <asvg:svgBlip xmlns:asvg="http://schemas.microsoft.com/office/drawing/2016/SVG/main" r:embed="R1803f655cae44bf9"/>
              </a:ext>
            </a:extLst>
          </a:blip>
          <a:srcRect xmlns:a="http://schemas.openxmlformats.org/drawingml/2006/main" l="0" t="0" r="0" b="0"/>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A bounded ETH data purchase">
            <a:extLst xmlns:a="http://schemas.openxmlformats.org/drawingml/2006/main">
              <a:ext uri="{FF2B5EF4-FFF2-40B4-BE49-F238E27FC236}">
                <a16:creationId xmlns:a16="http://schemas.microsoft.com/office/drawing/2014/main" id="{A273AD06-D14B-4E89-8B17-9783D7E94627}"/>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A bounded ETH data purchase</a:t>
            </a:r>
          </a:p>
        </p:txBody>
      </p:sp>
      <p:sp>
        <p:nvSpPr>
          <p:cNvPr id="4" name="Mandate Labs">
            <a:extLst xmlns:a="http://schemas.openxmlformats.org/drawingml/2006/main">
              <a:ext uri="{FF2B5EF4-FFF2-40B4-BE49-F238E27FC236}">
                <a16:creationId xmlns:a16="http://schemas.microsoft.com/office/drawing/2014/main" id="{F2995F9C-92DB-4D06-A1ED-AD6ACC870049}"/>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4">
            <a:extLst xmlns:a="http://schemas.openxmlformats.org/drawingml/2006/main">
              <a:ext uri="{FF2B5EF4-FFF2-40B4-BE49-F238E27FC236}">
                <a16:creationId xmlns:a16="http://schemas.microsoft.com/office/drawing/2014/main" id="{DE3CF4A4-E4B6-4861-AB61-9D4F23CAAE4C}"/>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04</a:t>
            </a:r>
          </a:p>
        </p:txBody>
      </p:sp>
      <p:sp>
        <p:nvSpPr>
          <p:cNvPr id="6" name="0.15">
            <a:extLst xmlns:a="http://schemas.openxmlformats.org/drawingml/2006/main">
              <a:ext uri="{FF2B5EF4-FFF2-40B4-BE49-F238E27FC236}">
                <a16:creationId xmlns:a16="http://schemas.microsoft.com/office/drawing/2014/main" id="{545AE2EB-9E8A-40A7-A594-AB4667CD5CA4}"/>
              </a:ext>
            </a:extLst>
          </p:cNvPr>
          <p:cNvSpPr>
            <a:spLocks xmlns:a="http://schemas.openxmlformats.org/drawingml/2006/main" noGrp="1"/>
          </p:cNvSpPr>
          <p:nvPr/>
        </p:nvSpPr>
        <p:spPr>
          <a:xfrm xmlns:a="http://schemas.openxmlformats.org/drawingml/2006/main">
            <a:off x="609600" y="2343150"/>
            <a:ext cx="34861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62ACFF"/>
                </a:solidFill>
                <a:latin typeface="Arial"/>
                <a:ea typeface="Arial"/>
                <a:cs typeface="Arial"/>
              </a:defRPr>
            </a:defPPr>
            <a:lvl1pPr algn="l">
              <a:defRPr sz="6150" b="1">
                <a:solidFill>
                  <a:srgbClr val="62ACFF"/>
                </a:solidFill>
                <a:latin typeface="Arial"/>
                <a:ea typeface="Arial"/>
                <a:cs typeface="Arial"/>
              </a:defRPr>
            </a:lvl1pPr>
            <a:lvl2pPr algn="l">
              <a:defRPr sz="6150" b="1">
                <a:solidFill>
                  <a:srgbClr val="62ACFF"/>
                </a:solidFill>
                <a:latin typeface="Arial"/>
                <a:ea typeface="Arial"/>
                <a:cs typeface="Arial"/>
              </a:defRPr>
            </a:lvl2pPr>
            <a:lvl3pPr algn="l">
              <a:defRPr sz="6150" b="1">
                <a:solidFill>
                  <a:srgbClr val="62ACFF"/>
                </a:solidFill>
                <a:latin typeface="Arial"/>
                <a:ea typeface="Arial"/>
                <a:cs typeface="Arial"/>
              </a:defRPr>
            </a:lvl3pPr>
            <a:lvl4pPr algn="l">
              <a:defRPr sz="6150" b="1">
                <a:solidFill>
                  <a:srgbClr val="62ACFF"/>
                </a:solidFill>
                <a:latin typeface="Arial"/>
                <a:ea typeface="Arial"/>
                <a:cs typeface="Arial"/>
              </a:defRPr>
            </a:lvl4pPr>
            <a:lvl5pPr algn="l">
              <a:defRPr sz="6150" b="1">
                <a:solidFill>
                  <a:srgbClr val="62ACFF"/>
                </a:solidFill>
                <a:latin typeface="Arial"/>
                <a:ea typeface="Arial"/>
                <a:cs typeface="Arial"/>
              </a:defRPr>
            </a:lvl5pPr>
            <a:lvl6pPr algn="l">
              <a:defRPr sz="6150" b="1">
                <a:solidFill>
                  <a:srgbClr val="62ACFF"/>
                </a:solidFill>
                <a:latin typeface="Arial"/>
                <a:ea typeface="Arial"/>
                <a:cs typeface="Arial"/>
              </a:defRPr>
            </a:lvl6pPr>
            <a:lvl7pPr algn="l">
              <a:defRPr sz="6150" b="1">
                <a:solidFill>
                  <a:srgbClr val="62ACFF"/>
                </a:solidFill>
                <a:latin typeface="Arial"/>
                <a:ea typeface="Arial"/>
                <a:cs typeface="Arial"/>
              </a:defRPr>
            </a:lvl7pPr>
            <a:lvl8pPr algn="l">
              <a:defRPr sz="6150" b="1">
                <a:solidFill>
                  <a:srgbClr val="62ACFF"/>
                </a:solidFill>
                <a:latin typeface="Arial"/>
                <a:ea typeface="Arial"/>
                <a:cs typeface="Arial"/>
              </a:defRPr>
            </a:lvl8pPr>
            <a:lvl9pPr algn="l">
              <a:defRPr sz="6150" b="1">
                <a:solidFill>
                  <a:srgbClr val="62ACFF"/>
                </a:solidFill>
                <a:latin typeface="Arial"/>
                <a:ea typeface="Arial"/>
                <a:cs typeface="Arial"/>
              </a:defRPr>
            </a:lvl9pPr>
          </a:lstStyle>
          <a:p xmlns:a="http://schemas.openxmlformats.org/drawingml/2006/main">
            <a:pPr algn="l">
              <a:defRPr sz="6150" b="1">
                <a:solidFill>
                  <a:srgbClr val="62ACFF"/>
                </a:solidFill>
                <a:latin typeface="Arial"/>
                <a:ea typeface="Arial"/>
                <a:cs typeface="Arial"/>
              </a:defRPr>
            </a:pPr>
            <a:r>
              <a:rPr sz="6150" b="1">
                <a:solidFill>
                  <a:srgbClr val="62ACFF"/>
                </a:solidFill>
                <a:latin typeface="Arial"/>
                <a:ea typeface="Arial"/>
                <a:cs typeface="Arial"/>
              </a:rPr>
              <a:t>0.15</a:t>
            </a:r>
          </a:p>
        </p:txBody>
      </p:sp>
      <p:sp>
        <p:nvSpPr>
          <p:cNvPr id="7" name="total test USDC budget">
            <a:extLst xmlns:a="http://schemas.openxmlformats.org/drawingml/2006/main">
              <a:ext uri="{FF2B5EF4-FFF2-40B4-BE49-F238E27FC236}">
                <a16:creationId xmlns:a16="http://schemas.microsoft.com/office/drawing/2014/main" id="{07481363-60D1-4F8D-84D0-DE4938FC6C33}"/>
              </a:ext>
            </a:extLst>
          </p:cNvPr>
          <p:cNvSpPr>
            <a:spLocks xmlns:a="http://schemas.openxmlformats.org/drawingml/2006/main" noGrp="1"/>
          </p:cNvSpPr>
          <p:nvPr/>
        </p:nvSpPr>
        <p:spPr>
          <a:xfrm xmlns:a="http://schemas.openxmlformats.org/drawingml/2006/main">
            <a:off x="609600" y="3571875"/>
            <a:ext cx="3486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6F8"/>
                </a:solidFill>
                <a:latin typeface="Arial"/>
                <a:ea typeface="Arial"/>
                <a:cs typeface="Arial"/>
              </a:defRPr>
            </a:defPPr>
            <a:lvl1pPr algn="l">
              <a:defRPr sz="2175" b="0">
                <a:solidFill>
                  <a:srgbClr val="F5F6F8"/>
                </a:solidFill>
                <a:latin typeface="Arial"/>
                <a:ea typeface="Arial"/>
                <a:cs typeface="Arial"/>
              </a:defRPr>
            </a:lvl1pPr>
            <a:lvl2pPr algn="l">
              <a:defRPr sz="2175" b="0">
                <a:solidFill>
                  <a:srgbClr val="F5F6F8"/>
                </a:solidFill>
                <a:latin typeface="Arial"/>
                <a:ea typeface="Arial"/>
                <a:cs typeface="Arial"/>
              </a:defRPr>
            </a:lvl2pPr>
            <a:lvl3pPr algn="l">
              <a:defRPr sz="2175" b="0">
                <a:solidFill>
                  <a:srgbClr val="F5F6F8"/>
                </a:solidFill>
                <a:latin typeface="Arial"/>
                <a:ea typeface="Arial"/>
                <a:cs typeface="Arial"/>
              </a:defRPr>
            </a:lvl3pPr>
            <a:lvl4pPr algn="l">
              <a:defRPr sz="2175" b="0">
                <a:solidFill>
                  <a:srgbClr val="F5F6F8"/>
                </a:solidFill>
                <a:latin typeface="Arial"/>
                <a:ea typeface="Arial"/>
                <a:cs typeface="Arial"/>
              </a:defRPr>
            </a:lvl4pPr>
            <a:lvl5pPr algn="l">
              <a:defRPr sz="2175" b="0">
                <a:solidFill>
                  <a:srgbClr val="F5F6F8"/>
                </a:solidFill>
                <a:latin typeface="Arial"/>
                <a:ea typeface="Arial"/>
                <a:cs typeface="Arial"/>
              </a:defRPr>
            </a:lvl5pPr>
            <a:lvl6pPr algn="l">
              <a:defRPr sz="2175" b="0">
                <a:solidFill>
                  <a:srgbClr val="F5F6F8"/>
                </a:solidFill>
                <a:latin typeface="Arial"/>
                <a:ea typeface="Arial"/>
                <a:cs typeface="Arial"/>
              </a:defRPr>
            </a:lvl6pPr>
            <a:lvl7pPr algn="l">
              <a:defRPr sz="2175" b="0">
                <a:solidFill>
                  <a:srgbClr val="F5F6F8"/>
                </a:solidFill>
                <a:latin typeface="Arial"/>
                <a:ea typeface="Arial"/>
                <a:cs typeface="Arial"/>
              </a:defRPr>
            </a:lvl7pPr>
            <a:lvl8pPr algn="l">
              <a:defRPr sz="2175" b="0">
                <a:solidFill>
                  <a:srgbClr val="F5F6F8"/>
                </a:solidFill>
                <a:latin typeface="Arial"/>
                <a:ea typeface="Arial"/>
                <a:cs typeface="Arial"/>
              </a:defRPr>
            </a:lvl8pPr>
            <a:lvl9pPr algn="l">
              <a:defRPr sz="2175" b="0">
                <a:solidFill>
                  <a:srgbClr val="F5F6F8"/>
                </a:solidFill>
                <a:latin typeface="Arial"/>
                <a:ea typeface="Arial"/>
                <a:cs typeface="Arial"/>
              </a:defRPr>
            </a:lvl9pPr>
          </a:lstStyle>
          <a:p xmlns:a="http://schemas.openxmlformats.org/drawingml/2006/main">
            <a:pPr algn="l">
              <a:defRPr sz="2175" b="0">
                <a:solidFill>
                  <a:srgbClr val="F5F6F8"/>
                </a:solidFill>
                <a:latin typeface="Arial"/>
                <a:ea typeface="Arial"/>
                <a:cs typeface="Arial"/>
              </a:defRPr>
            </a:pPr>
            <a:r>
              <a:rPr sz="2175" b="0">
                <a:solidFill>
                  <a:srgbClr val="F5F6F8"/>
                </a:solidFill>
                <a:latin typeface="Arial"/>
                <a:ea typeface="Arial"/>
                <a:cs typeface="Arial"/>
              </a:rPr>
              <a:t>total test USDC budget</a:t>
            </a:r>
          </a:p>
        </p:txBody>
      </p:sp>
      <p:sp>
        <p:nvSpPr>
          <p:cNvPr id="8" name="0.10">
            <a:extLst xmlns:a="http://schemas.openxmlformats.org/drawingml/2006/main">
              <a:ext uri="{FF2B5EF4-FFF2-40B4-BE49-F238E27FC236}">
                <a16:creationId xmlns:a16="http://schemas.microsoft.com/office/drawing/2014/main" id="{C6C7445E-CD03-4BCD-9B37-412FB5D03D56}"/>
              </a:ext>
            </a:extLst>
          </p:cNvPr>
          <p:cNvSpPr>
            <a:spLocks xmlns:a="http://schemas.openxmlformats.org/drawingml/2006/main" noGrp="1"/>
          </p:cNvSpPr>
          <p:nvPr/>
        </p:nvSpPr>
        <p:spPr>
          <a:xfrm xmlns:a="http://schemas.openxmlformats.org/drawingml/2006/main">
            <a:off x="4333875" y="2343150"/>
            <a:ext cx="34861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62ACFF"/>
                </a:solidFill>
                <a:latin typeface="Arial"/>
                <a:ea typeface="Arial"/>
                <a:cs typeface="Arial"/>
              </a:defRPr>
            </a:defPPr>
            <a:lvl1pPr algn="l">
              <a:defRPr sz="6150" b="1">
                <a:solidFill>
                  <a:srgbClr val="62ACFF"/>
                </a:solidFill>
                <a:latin typeface="Arial"/>
                <a:ea typeface="Arial"/>
                <a:cs typeface="Arial"/>
              </a:defRPr>
            </a:lvl1pPr>
            <a:lvl2pPr algn="l">
              <a:defRPr sz="6150" b="1">
                <a:solidFill>
                  <a:srgbClr val="62ACFF"/>
                </a:solidFill>
                <a:latin typeface="Arial"/>
                <a:ea typeface="Arial"/>
                <a:cs typeface="Arial"/>
              </a:defRPr>
            </a:lvl2pPr>
            <a:lvl3pPr algn="l">
              <a:defRPr sz="6150" b="1">
                <a:solidFill>
                  <a:srgbClr val="62ACFF"/>
                </a:solidFill>
                <a:latin typeface="Arial"/>
                <a:ea typeface="Arial"/>
                <a:cs typeface="Arial"/>
              </a:defRPr>
            </a:lvl3pPr>
            <a:lvl4pPr algn="l">
              <a:defRPr sz="6150" b="1">
                <a:solidFill>
                  <a:srgbClr val="62ACFF"/>
                </a:solidFill>
                <a:latin typeface="Arial"/>
                <a:ea typeface="Arial"/>
                <a:cs typeface="Arial"/>
              </a:defRPr>
            </a:lvl4pPr>
            <a:lvl5pPr algn="l">
              <a:defRPr sz="6150" b="1">
                <a:solidFill>
                  <a:srgbClr val="62ACFF"/>
                </a:solidFill>
                <a:latin typeface="Arial"/>
                <a:ea typeface="Arial"/>
                <a:cs typeface="Arial"/>
              </a:defRPr>
            </a:lvl5pPr>
            <a:lvl6pPr algn="l">
              <a:defRPr sz="6150" b="1">
                <a:solidFill>
                  <a:srgbClr val="62ACFF"/>
                </a:solidFill>
                <a:latin typeface="Arial"/>
                <a:ea typeface="Arial"/>
                <a:cs typeface="Arial"/>
              </a:defRPr>
            </a:lvl6pPr>
            <a:lvl7pPr algn="l">
              <a:defRPr sz="6150" b="1">
                <a:solidFill>
                  <a:srgbClr val="62ACFF"/>
                </a:solidFill>
                <a:latin typeface="Arial"/>
                <a:ea typeface="Arial"/>
                <a:cs typeface="Arial"/>
              </a:defRPr>
            </a:lvl7pPr>
            <a:lvl8pPr algn="l">
              <a:defRPr sz="6150" b="1">
                <a:solidFill>
                  <a:srgbClr val="62ACFF"/>
                </a:solidFill>
                <a:latin typeface="Arial"/>
                <a:ea typeface="Arial"/>
                <a:cs typeface="Arial"/>
              </a:defRPr>
            </a:lvl8pPr>
            <a:lvl9pPr algn="l">
              <a:defRPr sz="6150" b="1">
                <a:solidFill>
                  <a:srgbClr val="62ACFF"/>
                </a:solidFill>
                <a:latin typeface="Arial"/>
                <a:ea typeface="Arial"/>
                <a:cs typeface="Arial"/>
              </a:defRPr>
            </a:lvl9pPr>
          </a:lstStyle>
          <a:p xmlns:a="http://schemas.openxmlformats.org/drawingml/2006/main">
            <a:pPr algn="l">
              <a:defRPr sz="6150" b="1">
                <a:solidFill>
                  <a:srgbClr val="62ACFF"/>
                </a:solidFill>
                <a:latin typeface="Arial"/>
                <a:ea typeface="Arial"/>
                <a:cs typeface="Arial"/>
              </a:defRPr>
            </a:pPr>
            <a:r>
              <a:rPr sz="6150" b="1">
                <a:solidFill>
                  <a:srgbClr val="62ACFF"/>
                </a:solidFill>
                <a:latin typeface="Arial"/>
                <a:ea typeface="Arial"/>
                <a:cs typeface="Arial"/>
              </a:rPr>
              <a:t>0.10</a:t>
            </a:r>
          </a:p>
        </p:txBody>
      </p:sp>
      <p:sp>
        <p:nvSpPr>
          <p:cNvPr id="9" name="maximum per payment">
            <a:extLst xmlns:a="http://schemas.openxmlformats.org/drawingml/2006/main">
              <a:ext uri="{FF2B5EF4-FFF2-40B4-BE49-F238E27FC236}">
                <a16:creationId xmlns:a16="http://schemas.microsoft.com/office/drawing/2014/main" id="{3A564B6A-F3E2-48AB-BC3E-EBD625CD508B}"/>
              </a:ext>
            </a:extLst>
          </p:cNvPr>
          <p:cNvSpPr>
            <a:spLocks xmlns:a="http://schemas.openxmlformats.org/drawingml/2006/main" noGrp="1"/>
          </p:cNvSpPr>
          <p:nvPr/>
        </p:nvSpPr>
        <p:spPr>
          <a:xfrm xmlns:a="http://schemas.openxmlformats.org/drawingml/2006/main">
            <a:off x="4333875" y="3571875"/>
            <a:ext cx="3486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6F8"/>
                </a:solidFill>
                <a:latin typeface="Arial"/>
                <a:ea typeface="Arial"/>
                <a:cs typeface="Arial"/>
              </a:defRPr>
            </a:defPPr>
            <a:lvl1pPr algn="l">
              <a:defRPr sz="2175" b="0">
                <a:solidFill>
                  <a:srgbClr val="F5F6F8"/>
                </a:solidFill>
                <a:latin typeface="Arial"/>
                <a:ea typeface="Arial"/>
                <a:cs typeface="Arial"/>
              </a:defRPr>
            </a:lvl1pPr>
            <a:lvl2pPr algn="l">
              <a:defRPr sz="2175" b="0">
                <a:solidFill>
                  <a:srgbClr val="F5F6F8"/>
                </a:solidFill>
                <a:latin typeface="Arial"/>
                <a:ea typeface="Arial"/>
                <a:cs typeface="Arial"/>
              </a:defRPr>
            </a:lvl2pPr>
            <a:lvl3pPr algn="l">
              <a:defRPr sz="2175" b="0">
                <a:solidFill>
                  <a:srgbClr val="F5F6F8"/>
                </a:solidFill>
                <a:latin typeface="Arial"/>
                <a:ea typeface="Arial"/>
                <a:cs typeface="Arial"/>
              </a:defRPr>
            </a:lvl3pPr>
            <a:lvl4pPr algn="l">
              <a:defRPr sz="2175" b="0">
                <a:solidFill>
                  <a:srgbClr val="F5F6F8"/>
                </a:solidFill>
                <a:latin typeface="Arial"/>
                <a:ea typeface="Arial"/>
                <a:cs typeface="Arial"/>
              </a:defRPr>
            </a:lvl4pPr>
            <a:lvl5pPr algn="l">
              <a:defRPr sz="2175" b="0">
                <a:solidFill>
                  <a:srgbClr val="F5F6F8"/>
                </a:solidFill>
                <a:latin typeface="Arial"/>
                <a:ea typeface="Arial"/>
                <a:cs typeface="Arial"/>
              </a:defRPr>
            </a:lvl5pPr>
            <a:lvl6pPr algn="l">
              <a:defRPr sz="2175" b="0">
                <a:solidFill>
                  <a:srgbClr val="F5F6F8"/>
                </a:solidFill>
                <a:latin typeface="Arial"/>
                <a:ea typeface="Arial"/>
                <a:cs typeface="Arial"/>
              </a:defRPr>
            </a:lvl6pPr>
            <a:lvl7pPr algn="l">
              <a:defRPr sz="2175" b="0">
                <a:solidFill>
                  <a:srgbClr val="F5F6F8"/>
                </a:solidFill>
                <a:latin typeface="Arial"/>
                <a:ea typeface="Arial"/>
                <a:cs typeface="Arial"/>
              </a:defRPr>
            </a:lvl7pPr>
            <a:lvl8pPr algn="l">
              <a:defRPr sz="2175" b="0">
                <a:solidFill>
                  <a:srgbClr val="F5F6F8"/>
                </a:solidFill>
                <a:latin typeface="Arial"/>
                <a:ea typeface="Arial"/>
                <a:cs typeface="Arial"/>
              </a:defRPr>
            </a:lvl8pPr>
            <a:lvl9pPr algn="l">
              <a:defRPr sz="2175" b="0">
                <a:solidFill>
                  <a:srgbClr val="F5F6F8"/>
                </a:solidFill>
                <a:latin typeface="Arial"/>
                <a:ea typeface="Arial"/>
                <a:cs typeface="Arial"/>
              </a:defRPr>
            </a:lvl9pPr>
          </a:lstStyle>
          <a:p xmlns:a="http://schemas.openxmlformats.org/drawingml/2006/main">
            <a:pPr algn="l">
              <a:defRPr sz="2175" b="0">
                <a:solidFill>
                  <a:srgbClr val="F5F6F8"/>
                </a:solidFill>
                <a:latin typeface="Arial"/>
                <a:ea typeface="Arial"/>
                <a:cs typeface="Arial"/>
              </a:defRPr>
            </a:pPr>
            <a:r>
              <a:rPr sz="2175" b="0">
                <a:solidFill>
                  <a:srgbClr val="F5F6F8"/>
                </a:solidFill>
                <a:latin typeface="Arial"/>
                <a:ea typeface="Arial"/>
                <a:cs typeface="Arial"/>
              </a:rPr>
              <a:t>maximum per payment</a:t>
            </a:r>
          </a:p>
        </p:txBody>
      </p:sp>
      <p:sp>
        <p:nvSpPr>
          <p:cNvPr id="10" name="0.01">
            <a:extLst xmlns:a="http://schemas.openxmlformats.org/drawingml/2006/main">
              <a:ext uri="{FF2B5EF4-FFF2-40B4-BE49-F238E27FC236}">
                <a16:creationId xmlns:a16="http://schemas.microsoft.com/office/drawing/2014/main" id="{65872862-9622-43FB-A62E-23D448362184}"/>
              </a:ext>
            </a:extLst>
          </p:cNvPr>
          <p:cNvSpPr>
            <a:spLocks xmlns:a="http://schemas.openxmlformats.org/drawingml/2006/main" noGrp="1"/>
          </p:cNvSpPr>
          <p:nvPr/>
        </p:nvSpPr>
        <p:spPr>
          <a:xfrm xmlns:a="http://schemas.openxmlformats.org/drawingml/2006/main">
            <a:off x="8058150" y="2343150"/>
            <a:ext cx="34861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62ACFF"/>
                </a:solidFill>
                <a:latin typeface="Arial"/>
                <a:ea typeface="Arial"/>
                <a:cs typeface="Arial"/>
              </a:defRPr>
            </a:defPPr>
            <a:lvl1pPr algn="l">
              <a:defRPr sz="6150" b="1">
                <a:solidFill>
                  <a:srgbClr val="62ACFF"/>
                </a:solidFill>
                <a:latin typeface="Arial"/>
                <a:ea typeface="Arial"/>
                <a:cs typeface="Arial"/>
              </a:defRPr>
            </a:lvl1pPr>
            <a:lvl2pPr algn="l">
              <a:defRPr sz="6150" b="1">
                <a:solidFill>
                  <a:srgbClr val="62ACFF"/>
                </a:solidFill>
                <a:latin typeface="Arial"/>
                <a:ea typeface="Arial"/>
                <a:cs typeface="Arial"/>
              </a:defRPr>
            </a:lvl2pPr>
            <a:lvl3pPr algn="l">
              <a:defRPr sz="6150" b="1">
                <a:solidFill>
                  <a:srgbClr val="62ACFF"/>
                </a:solidFill>
                <a:latin typeface="Arial"/>
                <a:ea typeface="Arial"/>
                <a:cs typeface="Arial"/>
              </a:defRPr>
            </a:lvl3pPr>
            <a:lvl4pPr algn="l">
              <a:defRPr sz="6150" b="1">
                <a:solidFill>
                  <a:srgbClr val="62ACFF"/>
                </a:solidFill>
                <a:latin typeface="Arial"/>
                <a:ea typeface="Arial"/>
                <a:cs typeface="Arial"/>
              </a:defRPr>
            </a:lvl4pPr>
            <a:lvl5pPr algn="l">
              <a:defRPr sz="6150" b="1">
                <a:solidFill>
                  <a:srgbClr val="62ACFF"/>
                </a:solidFill>
                <a:latin typeface="Arial"/>
                <a:ea typeface="Arial"/>
                <a:cs typeface="Arial"/>
              </a:defRPr>
            </a:lvl5pPr>
            <a:lvl6pPr algn="l">
              <a:defRPr sz="6150" b="1">
                <a:solidFill>
                  <a:srgbClr val="62ACFF"/>
                </a:solidFill>
                <a:latin typeface="Arial"/>
                <a:ea typeface="Arial"/>
                <a:cs typeface="Arial"/>
              </a:defRPr>
            </a:lvl6pPr>
            <a:lvl7pPr algn="l">
              <a:defRPr sz="6150" b="1">
                <a:solidFill>
                  <a:srgbClr val="62ACFF"/>
                </a:solidFill>
                <a:latin typeface="Arial"/>
                <a:ea typeface="Arial"/>
                <a:cs typeface="Arial"/>
              </a:defRPr>
            </a:lvl7pPr>
            <a:lvl8pPr algn="l">
              <a:defRPr sz="6150" b="1">
                <a:solidFill>
                  <a:srgbClr val="62ACFF"/>
                </a:solidFill>
                <a:latin typeface="Arial"/>
                <a:ea typeface="Arial"/>
                <a:cs typeface="Arial"/>
              </a:defRPr>
            </a:lvl8pPr>
            <a:lvl9pPr algn="l">
              <a:defRPr sz="6150" b="1">
                <a:solidFill>
                  <a:srgbClr val="62ACFF"/>
                </a:solidFill>
                <a:latin typeface="Arial"/>
                <a:ea typeface="Arial"/>
                <a:cs typeface="Arial"/>
              </a:defRPr>
            </a:lvl9pPr>
          </a:lstStyle>
          <a:p xmlns:a="http://schemas.openxmlformats.org/drawingml/2006/main">
            <a:pPr algn="l">
              <a:defRPr sz="6150" b="1">
                <a:solidFill>
                  <a:srgbClr val="62ACFF"/>
                </a:solidFill>
                <a:latin typeface="Arial"/>
                <a:ea typeface="Arial"/>
                <a:cs typeface="Arial"/>
              </a:defRPr>
            </a:pPr>
            <a:r>
              <a:rPr sz="6150" b="1">
                <a:solidFill>
                  <a:srgbClr val="62ACFF"/>
                </a:solidFill>
                <a:latin typeface="Arial"/>
                <a:ea typeface="Arial"/>
                <a:cs typeface="Arial"/>
              </a:rPr>
              <a:t>0.01</a:t>
            </a:r>
          </a:p>
        </p:txBody>
      </p:sp>
      <p:sp>
        <p:nvSpPr>
          <p:cNvPr id="11" name="price of the ETH sample">
            <a:extLst xmlns:a="http://schemas.openxmlformats.org/drawingml/2006/main">
              <a:ext uri="{FF2B5EF4-FFF2-40B4-BE49-F238E27FC236}">
                <a16:creationId xmlns:a16="http://schemas.microsoft.com/office/drawing/2014/main" id="{E3186D91-E84D-4D47-BFA7-D923E729F577}"/>
              </a:ext>
            </a:extLst>
          </p:cNvPr>
          <p:cNvSpPr>
            <a:spLocks xmlns:a="http://schemas.openxmlformats.org/drawingml/2006/main" noGrp="1"/>
          </p:cNvSpPr>
          <p:nvPr/>
        </p:nvSpPr>
        <p:spPr>
          <a:xfrm xmlns:a="http://schemas.openxmlformats.org/drawingml/2006/main">
            <a:off x="8058150" y="3571875"/>
            <a:ext cx="3486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6F8"/>
                </a:solidFill>
                <a:latin typeface="Arial"/>
                <a:ea typeface="Arial"/>
                <a:cs typeface="Arial"/>
              </a:defRPr>
            </a:defPPr>
            <a:lvl1pPr algn="l">
              <a:defRPr sz="2175" b="0">
                <a:solidFill>
                  <a:srgbClr val="F5F6F8"/>
                </a:solidFill>
                <a:latin typeface="Arial"/>
                <a:ea typeface="Arial"/>
                <a:cs typeface="Arial"/>
              </a:defRPr>
            </a:lvl1pPr>
            <a:lvl2pPr algn="l">
              <a:defRPr sz="2175" b="0">
                <a:solidFill>
                  <a:srgbClr val="F5F6F8"/>
                </a:solidFill>
                <a:latin typeface="Arial"/>
                <a:ea typeface="Arial"/>
                <a:cs typeface="Arial"/>
              </a:defRPr>
            </a:lvl2pPr>
            <a:lvl3pPr algn="l">
              <a:defRPr sz="2175" b="0">
                <a:solidFill>
                  <a:srgbClr val="F5F6F8"/>
                </a:solidFill>
                <a:latin typeface="Arial"/>
                <a:ea typeface="Arial"/>
                <a:cs typeface="Arial"/>
              </a:defRPr>
            </a:lvl3pPr>
            <a:lvl4pPr algn="l">
              <a:defRPr sz="2175" b="0">
                <a:solidFill>
                  <a:srgbClr val="F5F6F8"/>
                </a:solidFill>
                <a:latin typeface="Arial"/>
                <a:ea typeface="Arial"/>
                <a:cs typeface="Arial"/>
              </a:defRPr>
            </a:lvl4pPr>
            <a:lvl5pPr algn="l">
              <a:defRPr sz="2175" b="0">
                <a:solidFill>
                  <a:srgbClr val="F5F6F8"/>
                </a:solidFill>
                <a:latin typeface="Arial"/>
                <a:ea typeface="Arial"/>
                <a:cs typeface="Arial"/>
              </a:defRPr>
            </a:lvl5pPr>
            <a:lvl6pPr algn="l">
              <a:defRPr sz="2175" b="0">
                <a:solidFill>
                  <a:srgbClr val="F5F6F8"/>
                </a:solidFill>
                <a:latin typeface="Arial"/>
                <a:ea typeface="Arial"/>
                <a:cs typeface="Arial"/>
              </a:defRPr>
            </a:lvl6pPr>
            <a:lvl7pPr algn="l">
              <a:defRPr sz="2175" b="0">
                <a:solidFill>
                  <a:srgbClr val="F5F6F8"/>
                </a:solidFill>
                <a:latin typeface="Arial"/>
                <a:ea typeface="Arial"/>
                <a:cs typeface="Arial"/>
              </a:defRPr>
            </a:lvl7pPr>
            <a:lvl8pPr algn="l">
              <a:defRPr sz="2175" b="0">
                <a:solidFill>
                  <a:srgbClr val="F5F6F8"/>
                </a:solidFill>
                <a:latin typeface="Arial"/>
                <a:ea typeface="Arial"/>
                <a:cs typeface="Arial"/>
              </a:defRPr>
            </a:lvl8pPr>
            <a:lvl9pPr algn="l">
              <a:defRPr sz="2175" b="0">
                <a:solidFill>
                  <a:srgbClr val="F5F6F8"/>
                </a:solidFill>
                <a:latin typeface="Arial"/>
                <a:ea typeface="Arial"/>
                <a:cs typeface="Arial"/>
              </a:defRPr>
            </a:lvl9pPr>
          </a:lstStyle>
          <a:p xmlns:a="http://schemas.openxmlformats.org/drawingml/2006/main">
            <a:pPr algn="l">
              <a:defRPr sz="2175" b="0">
                <a:solidFill>
                  <a:srgbClr val="F5F6F8"/>
                </a:solidFill>
                <a:latin typeface="Arial"/>
                <a:ea typeface="Arial"/>
                <a:cs typeface="Arial"/>
              </a:defRPr>
            </a:pPr>
            <a:r>
              <a:rPr sz="2175" b="0">
                <a:solidFill>
                  <a:srgbClr val="F5F6F8"/>
                </a:solidFill>
                <a:latin typeface="Arial"/>
                <a:ea typeface="Arial"/>
                <a:cs typeface="Arial"/>
              </a:rPr>
              <a:t>price of the ETH sample</a:t>
            </a:r>
          </a:p>
        </p:txBody>
      </p:sp>
      <p:sp>
        <p:nvSpPr>
          <p:cNvPr id="12" name="Claude Desktop + Rabby + Base Sepolia">
            <a:extLst xmlns:a="http://schemas.openxmlformats.org/drawingml/2006/main">
              <a:ext uri="{FF2B5EF4-FFF2-40B4-BE49-F238E27FC236}">
                <a16:creationId xmlns:a16="http://schemas.microsoft.com/office/drawing/2014/main" id="{C83AF419-91F6-445C-9099-99F937588AB6}"/>
              </a:ext>
            </a:extLst>
          </p:cNvPr>
          <p:cNvSpPr>
            <a:spLocks xmlns:a="http://schemas.openxmlformats.org/drawingml/2006/main" noGrp="1"/>
          </p:cNvSpPr>
          <p:nvPr/>
        </p:nvSpPr>
        <p:spPr>
          <a:xfrm xmlns:a="http://schemas.openxmlformats.org/drawingml/2006/main">
            <a:off x="609600" y="48291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5F6F8"/>
                </a:solidFill>
                <a:latin typeface="Arial"/>
                <a:ea typeface="Arial"/>
                <a:cs typeface="Arial"/>
              </a:defRPr>
            </a:defPPr>
            <a:lvl1pPr algn="l">
              <a:defRPr sz="2325" b="1">
                <a:solidFill>
                  <a:srgbClr val="F5F6F8"/>
                </a:solidFill>
                <a:latin typeface="Arial"/>
                <a:ea typeface="Arial"/>
                <a:cs typeface="Arial"/>
              </a:defRPr>
            </a:lvl1pPr>
            <a:lvl2pPr algn="l">
              <a:defRPr sz="2325" b="1">
                <a:solidFill>
                  <a:srgbClr val="F5F6F8"/>
                </a:solidFill>
                <a:latin typeface="Arial"/>
                <a:ea typeface="Arial"/>
                <a:cs typeface="Arial"/>
              </a:defRPr>
            </a:lvl2pPr>
            <a:lvl3pPr algn="l">
              <a:defRPr sz="2325" b="1">
                <a:solidFill>
                  <a:srgbClr val="F5F6F8"/>
                </a:solidFill>
                <a:latin typeface="Arial"/>
                <a:ea typeface="Arial"/>
                <a:cs typeface="Arial"/>
              </a:defRPr>
            </a:lvl3pPr>
            <a:lvl4pPr algn="l">
              <a:defRPr sz="2325" b="1">
                <a:solidFill>
                  <a:srgbClr val="F5F6F8"/>
                </a:solidFill>
                <a:latin typeface="Arial"/>
                <a:ea typeface="Arial"/>
                <a:cs typeface="Arial"/>
              </a:defRPr>
            </a:lvl4pPr>
            <a:lvl5pPr algn="l">
              <a:defRPr sz="2325" b="1">
                <a:solidFill>
                  <a:srgbClr val="F5F6F8"/>
                </a:solidFill>
                <a:latin typeface="Arial"/>
                <a:ea typeface="Arial"/>
                <a:cs typeface="Arial"/>
              </a:defRPr>
            </a:lvl5pPr>
            <a:lvl6pPr algn="l">
              <a:defRPr sz="2325" b="1">
                <a:solidFill>
                  <a:srgbClr val="F5F6F8"/>
                </a:solidFill>
                <a:latin typeface="Arial"/>
                <a:ea typeface="Arial"/>
                <a:cs typeface="Arial"/>
              </a:defRPr>
            </a:lvl6pPr>
            <a:lvl7pPr algn="l">
              <a:defRPr sz="2325" b="1">
                <a:solidFill>
                  <a:srgbClr val="F5F6F8"/>
                </a:solidFill>
                <a:latin typeface="Arial"/>
                <a:ea typeface="Arial"/>
                <a:cs typeface="Arial"/>
              </a:defRPr>
            </a:lvl7pPr>
            <a:lvl8pPr algn="l">
              <a:defRPr sz="2325" b="1">
                <a:solidFill>
                  <a:srgbClr val="F5F6F8"/>
                </a:solidFill>
                <a:latin typeface="Arial"/>
                <a:ea typeface="Arial"/>
                <a:cs typeface="Arial"/>
              </a:defRPr>
            </a:lvl8pPr>
            <a:lvl9pPr algn="l">
              <a:defRPr sz="2325" b="1">
                <a:solidFill>
                  <a:srgbClr val="F5F6F8"/>
                </a:solidFill>
                <a:latin typeface="Arial"/>
                <a:ea typeface="Arial"/>
                <a:cs typeface="Arial"/>
              </a:defRPr>
            </a:lvl9pPr>
          </a:lstStyle>
          <a:p xmlns:a="http://schemas.openxmlformats.org/drawingml/2006/main">
            <a:pPr algn="l">
              <a:defRPr sz="2325" b="1">
                <a:solidFill>
                  <a:srgbClr val="F5F6F8"/>
                </a:solidFill>
                <a:latin typeface="Arial"/>
                <a:ea typeface="Arial"/>
                <a:cs typeface="Arial"/>
              </a:defRPr>
            </a:pPr>
            <a:r>
              <a:rPr sz="2325" b="1">
                <a:solidFill>
                  <a:srgbClr val="F5F6F8"/>
                </a:solidFill>
                <a:latin typeface="Arial"/>
                <a:ea typeface="Arial"/>
                <a:cs typeface="Arial"/>
              </a:rPr>
              <a:t>Claude Desktop + Rabby + Base Sepolia</a:t>
            </a:r>
          </a:p>
        </p:txBody>
      </p:sp>
      <p:sp>
        <p:nvSpPr>
          <p:cNvPr id="13" name="Fixed ETH dataset. Test USDC payment. Gas uses separate test ETH.">
            <a:extLst xmlns:a="http://schemas.openxmlformats.org/drawingml/2006/main">
              <a:ext uri="{FF2B5EF4-FFF2-40B4-BE49-F238E27FC236}">
                <a16:creationId xmlns:a16="http://schemas.microsoft.com/office/drawing/2014/main" id="{8D86662C-445C-4246-967B-ED09DF089D48}"/>
              </a:ext>
            </a:extLst>
          </p:cNvPr>
          <p:cNvSpPr>
            <a:spLocks xmlns:a="http://schemas.openxmlformats.org/drawingml/2006/main" noGrp="1"/>
          </p:cNvSpPr>
          <p:nvPr/>
        </p:nvSpPr>
        <p:spPr>
          <a:xfrm xmlns:a="http://schemas.openxmlformats.org/drawingml/2006/main">
            <a:off x="609600" y="54768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0A5AF"/>
                </a:solidFill>
                <a:latin typeface="Arial"/>
                <a:ea typeface="Arial"/>
                <a:cs typeface="Arial"/>
              </a:defRPr>
            </a:defPPr>
            <a:lvl1pPr algn="l">
              <a:defRPr sz="1875" b="0">
                <a:solidFill>
                  <a:srgbClr val="A0A5AF"/>
                </a:solidFill>
                <a:latin typeface="Arial"/>
                <a:ea typeface="Arial"/>
                <a:cs typeface="Arial"/>
              </a:defRPr>
            </a:lvl1pPr>
            <a:lvl2pPr algn="l">
              <a:defRPr sz="1875" b="0">
                <a:solidFill>
                  <a:srgbClr val="A0A5AF"/>
                </a:solidFill>
                <a:latin typeface="Arial"/>
                <a:ea typeface="Arial"/>
                <a:cs typeface="Arial"/>
              </a:defRPr>
            </a:lvl2pPr>
            <a:lvl3pPr algn="l">
              <a:defRPr sz="1875" b="0">
                <a:solidFill>
                  <a:srgbClr val="A0A5AF"/>
                </a:solidFill>
                <a:latin typeface="Arial"/>
                <a:ea typeface="Arial"/>
                <a:cs typeface="Arial"/>
              </a:defRPr>
            </a:lvl3pPr>
            <a:lvl4pPr algn="l">
              <a:defRPr sz="1875" b="0">
                <a:solidFill>
                  <a:srgbClr val="A0A5AF"/>
                </a:solidFill>
                <a:latin typeface="Arial"/>
                <a:ea typeface="Arial"/>
                <a:cs typeface="Arial"/>
              </a:defRPr>
            </a:lvl4pPr>
            <a:lvl5pPr algn="l">
              <a:defRPr sz="1875" b="0">
                <a:solidFill>
                  <a:srgbClr val="A0A5AF"/>
                </a:solidFill>
                <a:latin typeface="Arial"/>
                <a:ea typeface="Arial"/>
                <a:cs typeface="Arial"/>
              </a:defRPr>
            </a:lvl5pPr>
            <a:lvl6pPr algn="l">
              <a:defRPr sz="1875" b="0">
                <a:solidFill>
                  <a:srgbClr val="A0A5AF"/>
                </a:solidFill>
                <a:latin typeface="Arial"/>
                <a:ea typeface="Arial"/>
                <a:cs typeface="Arial"/>
              </a:defRPr>
            </a:lvl6pPr>
            <a:lvl7pPr algn="l">
              <a:defRPr sz="1875" b="0">
                <a:solidFill>
                  <a:srgbClr val="A0A5AF"/>
                </a:solidFill>
                <a:latin typeface="Arial"/>
                <a:ea typeface="Arial"/>
                <a:cs typeface="Arial"/>
              </a:defRPr>
            </a:lvl7pPr>
            <a:lvl8pPr algn="l">
              <a:defRPr sz="1875" b="0">
                <a:solidFill>
                  <a:srgbClr val="A0A5AF"/>
                </a:solidFill>
                <a:latin typeface="Arial"/>
                <a:ea typeface="Arial"/>
                <a:cs typeface="Arial"/>
              </a:defRPr>
            </a:lvl8pPr>
            <a:lvl9pPr algn="l">
              <a:defRPr sz="1875" b="0">
                <a:solidFill>
                  <a:srgbClr val="A0A5AF"/>
                </a:solidFill>
                <a:latin typeface="Arial"/>
                <a:ea typeface="Arial"/>
                <a:cs typeface="Arial"/>
              </a:defRPr>
            </a:lvl9pPr>
          </a:lstStyle>
          <a:p xmlns:a="http://schemas.openxmlformats.org/drawingml/2006/main">
            <a:pPr algn="l">
              <a:defRPr sz="1875" b="0">
                <a:solidFill>
                  <a:srgbClr val="A0A5AF"/>
                </a:solidFill>
                <a:latin typeface="Arial"/>
                <a:ea typeface="Arial"/>
                <a:cs typeface="Arial"/>
              </a:defRPr>
            </a:pPr>
            <a:r>
              <a:rPr sz="1875" b="0">
                <a:solidFill>
                  <a:srgbClr val="A0A5AF"/>
                </a:solidFill>
                <a:latin typeface="Arial"/>
                <a:ea typeface="Arial"/>
                <a:cs typeface="Arial"/>
              </a:rPr>
              <a:t>Fixed ETH dataset. Test USDC payment. Gas uses separate test ETH.</a:t>
            </a:r>
          </a:p>
        </p:txBody>
      </p:sp>
      <p:sp>
        <p:nvSpPr>
          <p:cNvPr id="14" name="Recorded session: 2 hours. Each payment authorization: at most 5 minut">
            <a:extLst xmlns:a="http://schemas.openxmlformats.org/drawingml/2006/main">
              <a:ext uri="{FF2B5EF4-FFF2-40B4-BE49-F238E27FC236}">
                <a16:creationId xmlns:a16="http://schemas.microsoft.com/office/drawing/2014/main" id="{DC13F5EC-2B4B-48BB-8CFC-FC539C29AEAF}"/>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0A5AF"/>
                </a:solidFill>
                <a:latin typeface="Arial"/>
                <a:ea typeface="Arial"/>
                <a:cs typeface="Arial"/>
              </a:defRPr>
            </a:defPPr>
            <a:lvl1pPr algn="l">
              <a:defRPr sz="1650" b="0">
                <a:solidFill>
                  <a:srgbClr val="A0A5AF"/>
                </a:solidFill>
                <a:latin typeface="Arial"/>
                <a:ea typeface="Arial"/>
                <a:cs typeface="Arial"/>
              </a:defRPr>
            </a:lvl1pPr>
            <a:lvl2pPr algn="l">
              <a:defRPr sz="1650" b="0">
                <a:solidFill>
                  <a:srgbClr val="A0A5AF"/>
                </a:solidFill>
                <a:latin typeface="Arial"/>
                <a:ea typeface="Arial"/>
                <a:cs typeface="Arial"/>
              </a:defRPr>
            </a:lvl2pPr>
            <a:lvl3pPr algn="l">
              <a:defRPr sz="1650" b="0">
                <a:solidFill>
                  <a:srgbClr val="A0A5AF"/>
                </a:solidFill>
                <a:latin typeface="Arial"/>
                <a:ea typeface="Arial"/>
                <a:cs typeface="Arial"/>
              </a:defRPr>
            </a:lvl3pPr>
            <a:lvl4pPr algn="l">
              <a:defRPr sz="1650" b="0">
                <a:solidFill>
                  <a:srgbClr val="A0A5AF"/>
                </a:solidFill>
                <a:latin typeface="Arial"/>
                <a:ea typeface="Arial"/>
                <a:cs typeface="Arial"/>
              </a:defRPr>
            </a:lvl4pPr>
            <a:lvl5pPr algn="l">
              <a:defRPr sz="1650" b="0">
                <a:solidFill>
                  <a:srgbClr val="A0A5AF"/>
                </a:solidFill>
                <a:latin typeface="Arial"/>
                <a:ea typeface="Arial"/>
                <a:cs typeface="Arial"/>
              </a:defRPr>
            </a:lvl5pPr>
            <a:lvl6pPr algn="l">
              <a:defRPr sz="1650" b="0">
                <a:solidFill>
                  <a:srgbClr val="A0A5AF"/>
                </a:solidFill>
                <a:latin typeface="Arial"/>
                <a:ea typeface="Arial"/>
                <a:cs typeface="Arial"/>
              </a:defRPr>
            </a:lvl6pPr>
            <a:lvl7pPr algn="l">
              <a:defRPr sz="1650" b="0">
                <a:solidFill>
                  <a:srgbClr val="A0A5AF"/>
                </a:solidFill>
                <a:latin typeface="Arial"/>
                <a:ea typeface="Arial"/>
                <a:cs typeface="Arial"/>
              </a:defRPr>
            </a:lvl7pPr>
            <a:lvl8pPr algn="l">
              <a:defRPr sz="1650" b="0">
                <a:solidFill>
                  <a:srgbClr val="A0A5AF"/>
                </a:solidFill>
                <a:latin typeface="Arial"/>
                <a:ea typeface="Arial"/>
                <a:cs typeface="Arial"/>
              </a:defRPr>
            </a:lvl8pPr>
            <a:lvl9pPr algn="l">
              <a:defRPr sz="1650" b="0">
                <a:solidFill>
                  <a:srgbClr val="A0A5AF"/>
                </a:solidFill>
                <a:latin typeface="Arial"/>
                <a:ea typeface="Arial"/>
                <a:cs typeface="Arial"/>
              </a:defRPr>
            </a:lvl9pPr>
          </a:lstStyle>
          <a:p xmlns:a="http://schemas.openxmlformats.org/drawingml/2006/main">
            <a:pPr algn="l">
              <a:defRPr sz="1650" b="0">
                <a:solidFill>
                  <a:srgbClr val="A0A5AF"/>
                </a:solidFill>
                <a:latin typeface="Arial"/>
                <a:ea typeface="Arial"/>
                <a:cs typeface="Arial"/>
              </a:defRPr>
            </a:pPr>
            <a:r>
              <a:rPr sz="1650" b="0">
                <a:solidFill>
                  <a:srgbClr val="A0A5AF"/>
                </a:solidFill>
                <a:latin typeface="Arial"/>
                <a:ea typeface="Arial"/>
                <a:cs typeface="Arial"/>
              </a:rPr>
              <a:t>Recorded session: 2 hours. Each payment authorization: at most 5 minutes.</a:t>
            </a:r>
          </a:p>
        </p:txBody>
      </p:sp>
    </p:spTree>
    <p:extLst>
      <p:ext uri="{BB962C8B-B14F-4D97-AF65-F5344CB8AC3E}">
        <p14:creationId xmlns:p14="http://schemas.microsoft.com/office/powerpoint/2010/main" val="1783499649"/>
      </p:ext>
    </p:extLst>
  </p:cSld>
</p:sld>
</file>

<file path=ppt/slides/slide5.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6D89888-B766-4E46-9F0E-29BD9609CF41}"/>
              </a:ext>
            </a:extLst>
          </p:cNvPr>
          <p:cNvPicPr>
            <a:picLocks xmlns:a="http://schemas.openxmlformats.org/drawingml/2006/main" noChangeAspect="1"/>
          </p:cNvPicPr>
          <p:nvPr/>
        </p:nvPicPr>
        <p:blipFill>
          <a:blip xmlns:r="http://schemas.openxmlformats.org/officeDocument/2006/relationships" xmlns:a="http://schemas.openxmlformats.org/drawingml/2006/main" r:embed="R96d62438a5c64325">
            <a:extLst>
              <a:ext uri="{96DAC541-7B7A-43D3-8B79-37D633B846F1}">
                <asvg:svgBlip xmlns:asvg="http://schemas.microsoft.com/office/drawing/2016/SVG/main" r:embed="Ra02b918e22b14f4d"/>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Account preparation and Claude connection">
            <a:extLst xmlns:a="http://schemas.openxmlformats.org/drawingml/2006/main">
              <a:ext uri="{FF2B5EF4-FFF2-40B4-BE49-F238E27FC236}">
                <a16:creationId xmlns:a16="http://schemas.microsoft.com/office/drawing/2014/main" id="{1871A325-6458-4F53-8537-857CF880F612}"/>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Account preparation and Claude connection</a:t>
            </a:r>
          </a:p>
        </p:txBody>
      </p:sp>
      <p:sp>
        <p:nvSpPr>
          <p:cNvPr id="4" name="Mandate Labs">
            <a:extLst xmlns:a="http://schemas.openxmlformats.org/drawingml/2006/main">
              <a:ext uri="{FF2B5EF4-FFF2-40B4-BE49-F238E27FC236}">
                <a16:creationId xmlns:a16="http://schemas.microsoft.com/office/drawing/2014/main" id="{1FA80802-BCF0-4D27-85FD-7AF54B10439A}"/>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5">
            <a:extLst xmlns:a="http://schemas.openxmlformats.org/drawingml/2006/main">
              <a:ext uri="{FF2B5EF4-FFF2-40B4-BE49-F238E27FC236}">
                <a16:creationId xmlns:a16="http://schemas.microsoft.com/office/drawing/2014/main" id="{FB165D65-A004-4326-8F3B-D8F3B100EEDE}"/>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05</a:t>
            </a:r>
          </a:p>
        </p:txBody>
      </p:sp>
      <p:sp>
        <p:nvSpPr>
          <p:cNvPr id="6" name="Diagram: Owner wallet&#10;Rabby">
            <a:extLst xmlns:a="http://schemas.openxmlformats.org/drawingml/2006/main">
              <a:ext uri="{FF2B5EF4-FFF2-40B4-BE49-F238E27FC236}">
                <a16:creationId xmlns:a16="http://schemas.microsoft.com/office/drawing/2014/main" id="{44CCA1AD-9CC3-41BA-9E88-FF48FF965B42}"/>
              </a:ext>
            </a:extLst>
          </p:cNvPr>
          <p:cNvSpPr>
            <a:spLocks xmlns:a="http://schemas.openxmlformats.org/drawingml/2006/main" noGrp="1"/>
          </p:cNvSpPr>
          <p:nvPr/>
        </p:nvSpPr>
        <p:spPr>
          <a:xfrm xmlns:a="http://schemas.openxmlformats.org/drawingml/2006/main">
            <a:off x="447675" y="1885950"/>
            <a:ext cx="18097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650">
                <a:solidFill>
                  <a:srgbClr val="F5F6F8"/>
                </a:solidFill>
                <a:latin typeface="Arial"/>
                <a:ea typeface="Arial"/>
                <a:cs typeface="Arial"/>
              </a:defRPr>
            </a:defPPr>
            <a:lvl1pPr algn="ctr">
              <a:defRPr sz="1650">
                <a:solidFill>
                  <a:srgbClr val="F5F6F8"/>
                </a:solidFill>
                <a:latin typeface="Arial"/>
                <a:ea typeface="Arial"/>
                <a:cs typeface="Arial"/>
              </a:defRPr>
            </a:lvl1pPr>
            <a:lvl2pPr algn="ctr">
              <a:defRPr sz="1650">
                <a:solidFill>
                  <a:srgbClr val="F5F6F8"/>
                </a:solidFill>
                <a:latin typeface="Arial"/>
                <a:ea typeface="Arial"/>
                <a:cs typeface="Arial"/>
              </a:defRPr>
            </a:lvl2pPr>
            <a:lvl3pPr algn="ctr">
              <a:defRPr sz="1650">
                <a:solidFill>
                  <a:srgbClr val="F5F6F8"/>
                </a:solidFill>
                <a:latin typeface="Arial"/>
                <a:ea typeface="Arial"/>
                <a:cs typeface="Arial"/>
              </a:defRPr>
            </a:lvl3pPr>
            <a:lvl4pPr algn="ctr">
              <a:defRPr sz="1650">
                <a:solidFill>
                  <a:srgbClr val="F5F6F8"/>
                </a:solidFill>
                <a:latin typeface="Arial"/>
                <a:ea typeface="Arial"/>
                <a:cs typeface="Arial"/>
              </a:defRPr>
            </a:lvl4pPr>
            <a:lvl5pPr algn="ctr">
              <a:defRPr sz="1650">
                <a:solidFill>
                  <a:srgbClr val="F5F6F8"/>
                </a:solidFill>
                <a:latin typeface="Arial"/>
                <a:ea typeface="Arial"/>
                <a:cs typeface="Arial"/>
              </a:defRPr>
            </a:lvl5pPr>
            <a:lvl6pPr algn="ctr">
              <a:defRPr sz="1650">
                <a:solidFill>
                  <a:srgbClr val="F5F6F8"/>
                </a:solidFill>
                <a:latin typeface="Arial"/>
                <a:ea typeface="Arial"/>
                <a:cs typeface="Arial"/>
              </a:defRPr>
            </a:lvl6pPr>
            <a:lvl7pPr algn="ctr">
              <a:defRPr sz="1650">
                <a:solidFill>
                  <a:srgbClr val="F5F6F8"/>
                </a:solidFill>
                <a:latin typeface="Arial"/>
                <a:ea typeface="Arial"/>
                <a:cs typeface="Arial"/>
              </a:defRPr>
            </a:lvl7pPr>
            <a:lvl8pPr algn="ctr">
              <a:defRPr sz="1650">
                <a:solidFill>
                  <a:srgbClr val="F5F6F8"/>
                </a:solidFill>
                <a:latin typeface="Arial"/>
                <a:ea typeface="Arial"/>
                <a:cs typeface="Arial"/>
              </a:defRPr>
            </a:lvl8pPr>
            <a:lvl9pPr algn="ctr">
              <a:defRPr sz="1650">
                <a:solidFill>
                  <a:srgbClr val="F5F6F8"/>
                </a:solidFill>
                <a:latin typeface="Arial"/>
                <a:ea typeface="Arial"/>
                <a:cs typeface="Arial"/>
              </a:defRPr>
            </a:lvl9pPr>
          </a:lstStyle>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Owner wallet</a:t>
            </a:r>
          </a:p>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Rabby</a:t>
            </a:r>
          </a:p>
        </p:txBody>
      </p:sp>
      <p:cxnSp>
        <p:nvCxnSpPr>
          <p:cNvPr id="7" name="diagram line">
            <a:extLst xmlns:a="http://schemas.openxmlformats.org/drawingml/2006/main">
              <a:ext uri="{FF2B5EF4-FFF2-40B4-BE49-F238E27FC236}">
                <a16:creationId xmlns:a16="http://schemas.microsoft.com/office/drawing/2014/main" id="{9E0ECD44-2C1E-430D-AD42-DCE710C43905}"/>
              </a:ext>
            </a:extLst>
          </p:cNvPr>
          <p:cNvCxnSpPr/>
          <p:nvPr/>
        </p:nvCxnSpPr>
        <p:spPr>
          <a:xfrm xmlns:a="http://schemas.openxmlformats.org/drawingml/2006/main">
            <a:off x="1352550"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8" name="Diagram: Mandate&#10;workspace">
            <a:extLst xmlns:a="http://schemas.openxmlformats.org/drawingml/2006/main">
              <a:ext uri="{FF2B5EF4-FFF2-40B4-BE49-F238E27FC236}">
                <a16:creationId xmlns:a16="http://schemas.microsoft.com/office/drawing/2014/main" id="{D3D998DF-5D99-4954-AA48-9B3556121192}"/>
              </a:ext>
            </a:extLst>
          </p:cNvPr>
          <p:cNvSpPr>
            <a:spLocks xmlns:a="http://schemas.openxmlformats.org/drawingml/2006/main" noGrp="1"/>
          </p:cNvSpPr>
          <p:nvPr/>
        </p:nvSpPr>
        <p:spPr>
          <a:xfrm xmlns:a="http://schemas.openxmlformats.org/drawingml/2006/main">
            <a:off x="2819400" y="1885950"/>
            <a:ext cx="18097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650">
                <a:solidFill>
                  <a:srgbClr val="F5F6F8"/>
                </a:solidFill>
                <a:latin typeface="Arial"/>
                <a:ea typeface="Arial"/>
                <a:cs typeface="Arial"/>
              </a:defRPr>
            </a:defPPr>
            <a:lvl1pPr algn="ctr">
              <a:defRPr sz="1650">
                <a:solidFill>
                  <a:srgbClr val="F5F6F8"/>
                </a:solidFill>
                <a:latin typeface="Arial"/>
                <a:ea typeface="Arial"/>
                <a:cs typeface="Arial"/>
              </a:defRPr>
            </a:lvl1pPr>
            <a:lvl2pPr algn="ctr">
              <a:defRPr sz="1650">
                <a:solidFill>
                  <a:srgbClr val="F5F6F8"/>
                </a:solidFill>
                <a:latin typeface="Arial"/>
                <a:ea typeface="Arial"/>
                <a:cs typeface="Arial"/>
              </a:defRPr>
            </a:lvl2pPr>
            <a:lvl3pPr algn="ctr">
              <a:defRPr sz="1650">
                <a:solidFill>
                  <a:srgbClr val="F5F6F8"/>
                </a:solidFill>
                <a:latin typeface="Arial"/>
                <a:ea typeface="Arial"/>
                <a:cs typeface="Arial"/>
              </a:defRPr>
            </a:lvl3pPr>
            <a:lvl4pPr algn="ctr">
              <a:defRPr sz="1650">
                <a:solidFill>
                  <a:srgbClr val="F5F6F8"/>
                </a:solidFill>
                <a:latin typeface="Arial"/>
                <a:ea typeface="Arial"/>
                <a:cs typeface="Arial"/>
              </a:defRPr>
            </a:lvl4pPr>
            <a:lvl5pPr algn="ctr">
              <a:defRPr sz="1650">
                <a:solidFill>
                  <a:srgbClr val="F5F6F8"/>
                </a:solidFill>
                <a:latin typeface="Arial"/>
                <a:ea typeface="Arial"/>
                <a:cs typeface="Arial"/>
              </a:defRPr>
            </a:lvl5pPr>
            <a:lvl6pPr algn="ctr">
              <a:defRPr sz="1650">
                <a:solidFill>
                  <a:srgbClr val="F5F6F8"/>
                </a:solidFill>
                <a:latin typeface="Arial"/>
                <a:ea typeface="Arial"/>
                <a:cs typeface="Arial"/>
              </a:defRPr>
            </a:lvl6pPr>
            <a:lvl7pPr algn="ctr">
              <a:defRPr sz="1650">
                <a:solidFill>
                  <a:srgbClr val="F5F6F8"/>
                </a:solidFill>
                <a:latin typeface="Arial"/>
                <a:ea typeface="Arial"/>
                <a:cs typeface="Arial"/>
              </a:defRPr>
            </a:lvl7pPr>
            <a:lvl8pPr algn="ctr">
              <a:defRPr sz="1650">
                <a:solidFill>
                  <a:srgbClr val="F5F6F8"/>
                </a:solidFill>
                <a:latin typeface="Arial"/>
                <a:ea typeface="Arial"/>
                <a:cs typeface="Arial"/>
              </a:defRPr>
            </a:lvl8pPr>
            <a:lvl9pPr algn="ctr">
              <a:defRPr sz="1650">
                <a:solidFill>
                  <a:srgbClr val="F5F6F8"/>
                </a:solidFill>
                <a:latin typeface="Arial"/>
                <a:ea typeface="Arial"/>
                <a:cs typeface="Arial"/>
              </a:defRPr>
            </a:lvl9pPr>
          </a:lstStyle>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Mandate</a:t>
            </a:r>
          </a:p>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workspace</a:t>
            </a:r>
          </a:p>
        </p:txBody>
      </p:sp>
      <p:cxnSp>
        <p:nvCxnSpPr>
          <p:cNvPr id="9" name="diagram line">
            <a:extLst xmlns:a="http://schemas.openxmlformats.org/drawingml/2006/main">
              <a:ext uri="{FF2B5EF4-FFF2-40B4-BE49-F238E27FC236}">
                <a16:creationId xmlns:a16="http://schemas.microsoft.com/office/drawing/2014/main" id="{1372D4D9-49EA-47DB-9CC9-C6314CEA650C}"/>
              </a:ext>
            </a:extLst>
          </p:cNvPr>
          <p:cNvCxnSpPr/>
          <p:nvPr/>
        </p:nvCxnSpPr>
        <p:spPr>
          <a:xfrm xmlns:a="http://schemas.openxmlformats.org/drawingml/2006/main">
            <a:off x="3724275"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0" name="Diagram: Local&#10;gateway">
            <a:extLst xmlns:a="http://schemas.openxmlformats.org/drawingml/2006/main">
              <a:ext uri="{FF2B5EF4-FFF2-40B4-BE49-F238E27FC236}">
                <a16:creationId xmlns:a16="http://schemas.microsoft.com/office/drawing/2014/main" id="{90797BCE-A90E-4A33-8F02-DEDA264416A6}"/>
              </a:ext>
            </a:extLst>
          </p:cNvPr>
          <p:cNvSpPr>
            <a:spLocks xmlns:a="http://schemas.openxmlformats.org/drawingml/2006/main" noGrp="1"/>
          </p:cNvSpPr>
          <p:nvPr/>
        </p:nvSpPr>
        <p:spPr>
          <a:xfrm xmlns:a="http://schemas.openxmlformats.org/drawingml/2006/main">
            <a:off x="5191125" y="1885950"/>
            <a:ext cx="18097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650">
                <a:solidFill>
                  <a:srgbClr val="F5F6F8"/>
                </a:solidFill>
                <a:latin typeface="Arial"/>
                <a:ea typeface="Arial"/>
                <a:cs typeface="Arial"/>
              </a:defRPr>
            </a:defPPr>
            <a:lvl1pPr algn="ctr">
              <a:defRPr sz="1650">
                <a:solidFill>
                  <a:srgbClr val="F5F6F8"/>
                </a:solidFill>
                <a:latin typeface="Arial"/>
                <a:ea typeface="Arial"/>
                <a:cs typeface="Arial"/>
              </a:defRPr>
            </a:lvl1pPr>
            <a:lvl2pPr algn="ctr">
              <a:defRPr sz="1650">
                <a:solidFill>
                  <a:srgbClr val="F5F6F8"/>
                </a:solidFill>
                <a:latin typeface="Arial"/>
                <a:ea typeface="Arial"/>
                <a:cs typeface="Arial"/>
              </a:defRPr>
            </a:lvl2pPr>
            <a:lvl3pPr algn="ctr">
              <a:defRPr sz="1650">
                <a:solidFill>
                  <a:srgbClr val="F5F6F8"/>
                </a:solidFill>
                <a:latin typeface="Arial"/>
                <a:ea typeface="Arial"/>
                <a:cs typeface="Arial"/>
              </a:defRPr>
            </a:lvl3pPr>
            <a:lvl4pPr algn="ctr">
              <a:defRPr sz="1650">
                <a:solidFill>
                  <a:srgbClr val="F5F6F8"/>
                </a:solidFill>
                <a:latin typeface="Arial"/>
                <a:ea typeface="Arial"/>
                <a:cs typeface="Arial"/>
              </a:defRPr>
            </a:lvl4pPr>
            <a:lvl5pPr algn="ctr">
              <a:defRPr sz="1650">
                <a:solidFill>
                  <a:srgbClr val="F5F6F8"/>
                </a:solidFill>
                <a:latin typeface="Arial"/>
                <a:ea typeface="Arial"/>
                <a:cs typeface="Arial"/>
              </a:defRPr>
            </a:lvl5pPr>
            <a:lvl6pPr algn="ctr">
              <a:defRPr sz="1650">
                <a:solidFill>
                  <a:srgbClr val="F5F6F8"/>
                </a:solidFill>
                <a:latin typeface="Arial"/>
                <a:ea typeface="Arial"/>
                <a:cs typeface="Arial"/>
              </a:defRPr>
            </a:lvl6pPr>
            <a:lvl7pPr algn="ctr">
              <a:defRPr sz="1650">
                <a:solidFill>
                  <a:srgbClr val="F5F6F8"/>
                </a:solidFill>
                <a:latin typeface="Arial"/>
                <a:ea typeface="Arial"/>
                <a:cs typeface="Arial"/>
              </a:defRPr>
            </a:lvl7pPr>
            <a:lvl8pPr algn="ctr">
              <a:defRPr sz="1650">
                <a:solidFill>
                  <a:srgbClr val="F5F6F8"/>
                </a:solidFill>
                <a:latin typeface="Arial"/>
                <a:ea typeface="Arial"/>
                <a:cs typeface="Arial"/>
              </a:defRPr>
            </a:lvl8pPr>
            <a:lvl9pPr algn="ctr">
              <a:defRPr sz="1650">
                <a:solidFill>
                  <a:srgbClr val="F5F6F8"/>
                </a:solidFill>
                <a:latin typeface="Arial"/>
                <a:ea typeface="Arial"/>
                <a:cs typeface="Arial"/>
              </a:defRPr>
            </a:lvl9pPr>
          </a:lstStyle>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Local</a:t>
            </a:r>
          </a:p>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gateway</a:t>
            </a:r>
          </a:p>
        </p:txBody>
      </p:sp>
      <p:cxnSp>
        <p:nvCxnSpPr>
          <p:cNvPr id="11" name="diagram line">
            <a:extLst xmlns:a="http://schemas.openxmlformats.org/drawingml/2006/main">
              <a:ext uri="{FF2B5EF4-FFF2-40B4-BE49-F238E27FC236}">
                <a16:creationId xmlns:a16="http://schemas.microsoft.com/office/drawing/2014/main" id="{8D02CC87-02A6-4F0B-9B38-D080292522B1}"/>
              </a:ext>
            </a:extLst>
          </p:cNvPr>
          <p:cNvCxnSpPr/>
          <p:nvPr/>
        </p:nvCxnSpPr>
        <p:spPr>
          <a:xfrm xmlns:a="http://schemas.openxmlformats.org/drawingml/2006/main">
            <a:off x="6096000"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2" name="Diagram: Agent&#10;Claude Desktop">
            <a:extLst xmlns:a="http://schemas.openxmlformats.org/drawingml/2006/main">
              <a:ext uri="{FF2B5EF4-FFF2-40B4-BE49-F238E27FC236}">
                <a16:creationId xmlns:a16="http://schemas.microsoft.com/office/drawing/2014/main" id="{8ABADA36-9D53-494D-95A1-41A218C6051F}"/>
              </a:ext>
            </a:extLst>
          </p:cNvPr>
          <p:cNvSpPr>
            <a:spLocks xmlns:a="http://schemas.openxmlformats.org/drawingml/2006/main" noGrp="1"/>
          </p:cNvSpPr>
          <p:nvPr/>
        </p:nvSpPr>
        <p:spPr>
          <a:xfrm xmlns:a="http://schemas.openxmlformats.org/drawingml/2006/main">
            <a:off x="7562850" y="1885950"/>
            <a:ext cx="18097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650">
                <a:solidFill>
                  <a:srgbClr val="F5F6F8"/>
                </a:solidFill>
                <a:latin typeface="Arial"/>
                <a:ea typeface="Arial"/>
                <a:cs typeface="Arial"/>
              </a:defRPr>
            </a:defPPr>
            <a:lvl1pPr algn="ctr">
              <a:defRPr sz="1650">
                <a:solidFill>
                  <a:srgbClr val="F5F6F8"/>
                </a:solidFill>
                <a:latin typeface="Arial"/>
                <a:ea typeface="Arial"/>
                <a:cs typeface="Arial"/>
              </a:defRPr>
            </a:lvl1pPr>
            <a:lvl2pPr algn="ctr">
              <a:defRPr sz="1650">
                <a:solidFill>
                  <a:srgbClr val="F5F6F8"/>
                </a:solidFill>
                <a:latin typeface="Arial"/>
                <a:ea typeface="Arial"/>
                <a:cs typeface="Arial"/>
              </a:defRPr>
            </a:lvl2pPr>
            <a:lvl3pPr algn="ctr">
              <a:defRPr sz="1650">
                <a:solidFill>
                  <a:srgbClr val="F5F6F8"/>
                </a:solidFill>
                <a:latin typeface="Arial"/>
                <a:ea typeface="Arial"/>
                <a:cs typeface="Arial"/>
              </a:defRPr>
            </a:lvl3pPr>
            <a:lvl4pPr algn="ctr">
              <a:defRPr sz="1650">
                <a:solidFill>
                  <a:srgbClr val="F5F6F8"/>
                </a:solidFill>
                <a:latin typeface="Arial"/>
                <a:ea typeface="Arial"/>
                <a:cs typeface="Arial"/>
              </a:defRPr>
            </a:lvl4pPr>
            <a:lvl5pPr algn="ctr">
              <a:defRPr sz="1650">
                <a:solidFill>
                  <a:srgbClr val="F5F6F8"/>
                </a:solidFill>
                <a:latin typeface="Arial"/>
                <a:ea typeface="Arial"/>
                <a:cs typeface="Arial"/>
              </a:defRPr>
            </a:lvl5pPr>
            <a:lvl6pPr algn="ctr">
              <a:defRPr sz="1650">
                <a:solidFill>
                  <a:srgbClr val="F5F6F8"/>
                </a:solidFill>
                <a:latin typeface="Arial"/>
                <a:ea typeface="Arial"/>
                <a:cs typeface="Arial"/>
              </a:defRPr>
            </a:lvl6pPr>
            <a:lvl7pPr algn="ctr">
              <a:defRPr sz="1650">
                <a:solidFill>
                  <a:srgbClr val="F5F6F8"/>
                </a:solidFill>
                <a:latin typeface="Arial"/>
                <a:ea typeface="Arial"/>
                <a:cs typeface="Arial"/>
              </a:defRPr>
            </a:lvl7pPr>
            <a:lvl8pPr algn="ctr">
              <a:defRPr sz="1650">
                <a:solidFill>
                  <a:srgbClr val="F5F6F8"/>
                </a:solidFill>
                <a:latin typeface="Arial"/>
                <a:ea typeface="Arial"/>
                <a:cs typeface="Arial"/>
              </a:defRPr>
            </a:lvl8pPr>
            <a:lvl9pPr algn="ctr">
              <a:defRPr sz="1650">
                <a:solidFill>
                  <a:srgbClr val="F5F6F8"/>
                </a:solidFill>
                <a:latin typeface="Arial"/>
                <a:ea typeface="Arial"/>
                <a:cs typeface="Arial"/>
              </a:defRPr>
            </a:lvl9pPr>
          </a:lstStyle>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Agent</a:t>
            </a:r>
          </a:p>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Claude Desktop</a:t>
            </a:r>
          </a:p>
        </p:txBody>
      </p:sp>
      <p:cxnSp>
        <p:nvCxnSpPr>
          <p:cNvPr id="13" name="diagram line">
            <a:extLst xmlns:a="http://schemas.openxmlformats.org/drawingml/2006/main">
              <a:ext uri="{FF2B5EF4-FFF2-40B4-BE49-F238E27FC236}">
                <a16:creationId xmlns:a16="http://schemas.microsoft.com/office/drawing/2014/main" id="{3C5964FE-0C03-4721-A19E-E7BC7EDB5D20}"/>
              </a:ext>
            </a:extLst>
          </p:cNvPr>
          <p:cNvCxnSpPr/>
          <p:nvPr/>
        </p:nvCxnSpPr>
        <p:spPr>
          <a:xfrm xmlns:a="http://schemas.openxmlformats.org/drawingml/2006/main">
            <a:off x="8467725"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4" name="Diagram: Blockchain&#10;Base Sepolia">
            <a:extLst xmlns:a="http://schemas.openxmlformats.org/drawingml/2006/main">
              <a:ext uri="{FF2B5EF4-FFF2-40B4-BE49-F238E27FC236}">
                <a16:creationId xmlns:a16="http://schemas.microsoft.com/office/drawing/2014/main" id="{FC023154-A69B-4828-901D-CB0B469BF4A6}"/>
              </a:ext>
            </a:extLst>
          </p:cNvPr>
          <p:cNvSpPr>
            <a:spLocks xmlns:a="http://schemas.openxmlformats.org/drawingml/2006/main" noGrp="1"/>
          </p:cNvSpPr>
          <p:nvPr/>
        </p:nvSpPr>
        <p:spPr>
          <a:xfrm xmlns:a="http://schemas.openxmlformats.org/drawingml/2006/main">
            <a:off x="9934575" y="1885950"/>
            <a:ext cx="18097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650">
                <a:solidFill>
                  <a:srgbClr val="F5F6F8"/>
                </a:solidFill>
                <a:latin typeface="Arial"/>
                <a:ea typeface="Arial"/>
                <a:cs typeface="Arial"/>
              </a:defRPr>
            </a:defPPr>
            <a:lvl1pPr algn="ctr">
              <a:defRPr sz="1650">
                <a:solidFill>
                  <a:srgbClr val="F5F6F8"/>
                </a:solidFill>
                <a:latin typeface="Arial"/>
                <a:ea typeface="Arial"/>
                <a:cs typeface="Arial"/>
              </a:defRPr>
            </a:lvl1pPr>
            <a:lvl2pPr algn="ctr">
              <a:defRPr sz="1650">
                <a:solidFill>
                  <a:srgbClr val="F5F6F8"/>
                </a:solidFill>
                <a:latin typeface="Arial"/>
                <a:ea typeface="Arial"/>
                <a:cs typeface="Arial"/>
              </a:defRPr>
            </a:lvl2pPr>
            <a:lvl3pPr algn="ctr">
              <a:defRPr sz="1650">
                <a:solidFill>
                  <a:srgbClr val="F5F6F8"/>
                </a:solidFill>
                <a:latin typeface="Arial"/>
                <a:ea typeface="Arial"/>
                <a:cs typeface="Arial"/>
              </a:defRPr>
            </a:lvl3pPr>
            <a:lvl4pPr algn="ctr">
              <a:defRPr sz="1650">
                <a:solidFill>
                  <a:srgbClr val="F5F6F8"/>
                </a:solidFill>
                <a:latin typeface="Arial"/>
                <a:ea typeface="Arial"/>
                <a:cs typeface="Arial"/>
              </a:defRPr>
            </a:lvl4pPr>
            <a:lvl5pPr algn="ctr">
              <a:defRPr sz="1650">
                <a:solidFill>
                  <a:srgbClr val="F5F6F8"/>
                </a:solidFill>
                <a:latin typeface="Arial"/>
                <a:ea typeface="Arial"/>
                <a:cs typeface="Arial"/>
              </a:defRPr>
            </a:lvl5pPr>
            <a:lvl6pPr algn="ctr">
              <a:defRPr sz="1650">
                <a:solidFill>
                  <a:srgbClr val="F5F6F8"/>
                </a:solidFill>
                <a:latin typeface="Arial"/>
                <a:ea typeface="Arial"/>
                <a:cs typeface="Arial"/>
              </a:defRPr>
            </a:lvl6pPr>
            <a:lvl7pPr algn="ctr">
              <a:defRPr sz="1650">
                <a:solidFill>
                  <a:srgbClr val="F5F6F8"/>
                </a:solidFill>
                <a:latin typeface="Arial"/>
                <a:ea typeface="Arial"/>
                <a:cs typeface="Arial"/>
              </a:defRPr>
            </a:lvl7pPr>
            <a:lvl8pPr algn="ctr">
              <a:defRPr sz="1650">
                <a:solidFill>
                  <a:srgbClr val="F5F6F8"/>
                </a:solidFill>
                <a:latin typeface="Arial"/>
                <a:ea typeface="Arial"/>
                <a:cs typeface="Arial"/>
              </a:defRPr>
            </a:lvl8pPr>
            <a:lvl9pPr algn="ctr">
              <a:defRPr sz="1650">
                <a:solidFill>
                  <a:srgbClr val="F5F6F8"/>
                </a:solidFill>
                <a:latin typeface="Arial"/>
                <a:ea typeface="Arial"/>
                <a:cs typeface="Arial"/>
              </a:defRPr>
            </a:lvl9pPr>
          </a:lstStyle>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Blockchain</a:t>
            </a:r>
          </a:p>
          <a:p xmlns:a="http://schemas.openxmlformats.org/drawingml/2006/main">
            <a:pPr algn="ctr">
              <a:defRPr sz="1650">
                <a:solidFill>
                  <a:srgbClr val="F5F6F8"/>
                </a:solidFill>
                <a:latin typeface="Arial"/>
                <a:ea typeface="Arial"/>
                <a:cs typeface="Arial"/>
              </a:defRPr>
            </a:pPr>
            <a:r>
              <a:rPr sz="1650">
                <a:solidFill>
                  <a:srgbClr val="F5F6F8"/>
                </a:solidFill>
                <a:latin typeface="Arial"/>
                <a:ea typeface="Arial"/>
                <a:cs typeface="Arial"/>
              </a:rPr>
              <a:t>Base Sepolia</a:t>
            </a:r>
          </a:p>
        </p:txBody>
      </p:sp>
      <p:cxnSp>
        <p:nvCxnSpPr>
          <p:cNvPr id="15" name="diagram line">
            <a:extLst xmlns:a="http://schemas.openxmlformats.org/drawingml/2006/main">
              <a:ext uri="{FF2B5EF4-FFF2-40B4-BE49-F238E27FC236}">
                <a16:creationId xmlns:a16="http://schemas.microsoft.com/office/drawing/2014/main" id="{79F4864D-7F0D-4039-B70E-AFA03BE78C7A}"/>
              </a:ext>
            </a:extLst>
          </p:cNvPr>
          <p:cNvCxnSpPr/>
          <p:nvPr/>
        </p:nvCxnSpPr>
        <p:spPr>
          <a:xfrm xmlns:a="http://schemas.openxmlformats.org/drawingml/2006/main">
            <a:off x="10839450" y="2533650"/>
            <a:ext cx="0" cy="3581400"/>
          </a:xfrm>
          <a:prstGeom xmlns:a="http://schemas.openxmlformats.org/drawingml/2006/main" prst="straightConnector1">
            <a:avLst/>
          </a:prstGeom>
          <a:ln xmlns:a="http://schemas.openxmlformats.org/drawingml/2006/main" w="9525">
            <a:solidFill>
              <a:srgbClr val="354052"/>
            </a:solidFill>
            <a:prstDash val="dash"/>
          </a:ln>
        </p:spPr>
      </p:cxnSp>
      <p:cxnSp>
        <p:nvCxnSpPr>
          <p:cNvPr id="16" name="flow arrow">
            <a:extLst xmlns:a="http://schemas.openxmlformats.org/drawingml/2006/main">
              <a:ext uri="{FF2B5EF4-FFF2-40B4-BE49-F238E27FC236}">
                <a16:creationId xmlns:a16="http://schemas.microsoft.com/office/drawing/2014/main" id="{BBB1D90C-89D6-446B-890B-B474CAF5AB3D}"/>
              </a:ext>
            </a:extLst>
          </p:cNvPr>
          <p:cNvCxnSpPr/>
          <p:nvPr/>
        </p:nvCxnSpPr>
        <p:spPr>
          <a:xfrm xmlns:a="http://schemas.openxmlformats.org/drawingml/2006/main">
            <a:off x="1352550" y="2943225"/>
            <a:ext cx="2371725"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17" name="1  Review deployment and funding">
            <a:extLst xmlns:a="http://schemas.openxmlformats.org/drawingml/2006/main">
              <a:ext uri="{FF2B5EF4-FFF2-40B4-BE49-F238E27FC236}">
                <a16:creationId xmlns:a16="http://schemas.microsoft.com/office/drawing/2014/main" id="{9EB0D40D-E5CD-4805-9B3B-888AE0DDA8C8}"/>
              </a:ext>
            </a:extLst>
          </p:cNvPr>
          <p:cNvSpPr>
            <a:spLocks xmlns:a="http://schemas.openxmlformats.org/drawingml/2006/main" noGrp="1"/>
          </p:cNvSpPr>
          <p:nvPr/>
        </p:nvSpPr>
        <p:spPr>
          <a:xfrm xmlns:a="http://schemas.openxmlformats.org/drawingml/2006/main">
            <a:off x="966788" y="2714625"/>
            <a:ext cx="31432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1  Review deployment and funding</a:t>
            </a:r>
          </a:p>
        </p:txBody>
      </p:sp>
      <p:cxnSp>
        <p:nvCxnSpPr>
          <p:cNvPr id="18" name="flow arrow">
            <a:extLst xmlns:a="http://schemas.openxmlformats.org/drawingml/2006/main">
              <a:ext uri="{FF2B5EF4-FFF2-40B4-BE49-F238E27FC236}">
                <a16:creationId xmlns:a16="http://schemas.microsoft.com/office/drawing/2014/main" id="{AB9AA9C8-158C-4538-B604-9794761F6605}"/>
              </a:ext>
            </a:extLst>
          </p:cNvPr>
          <p:cNvCxnSpPr/>
          <p:nvPr/>
        </p:nvCxnSpPr>
        <p:spPr>
          <a:xfrm xmlns:a="http://schemas.openxmlformats.org/drawingml/2006/main">
            <a:off x="1352550" y="3352800"/>
            <a:ext cx="948690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9" name="2  Sign owner transactions">
            <a:extLst xmlns:a="http://schemas.openxmlformats.org/drawingml/2006/main">
              <a:ext uri="{FF2B5EF4-FFF2-40B4-BE49-F238E27FC236}">
                <a16:creationId xmlns:a16="http://schemas.microsoft.com/office/drawing/2014/main" id="{4DCA08F0-4796-45CD-AD8D-45F33053B54E}"/>
              </a:ext>
            </a:extLst>
          </p:cNvPr>
          <p:cNvSpPr>
            <a:spLocks xmlns:a="http://schemas.openxmlformats.org/drawingml/2006/main" noGrp="1"/>
          </p:cNvSpPr>
          <p:nvPr/>
        </p:nvSpPr>
        <p:spPr>
          <a:xfrm xmlns:a="http://schemas.openxmlformats.org/drawingml/2006/main">
            <a:off x="1428750" y="3124200"/>
            <a:ext cx="933450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2  Sign owner transactions</a:t>
            </a:r>
          </a:p>
        </p:txBody>
      </p:sp>
      <p:cxnSp>
        <p:nvCxnSpPr>
          <p:cNvPr id="20" name="flow arrow">
            <a:extLst xmlns:a="http://schemas.openxmlformats.org/drawingml/2006/main">
              <a:ext uri="{FF2B5EF4-FFF2-40B4-BE49-F238E27FC236}">
                <a16:creationId xmlns:a16="http://schemas.microsoft.com/office/drawing/2014/main" id="{554DCD16-95D6-4EAF-BDFF-11CF3A9D562E}"/>
              </a:ext>
            </a:extLst>
          </p:cNvPr>
          <p:cNvCxnSpPr/>
          <p:nvPr/>
        </p:nvCxnSpPr>
        <p:spPr>
          <a:xfrm xmlns:a="http://schemas.openxmlformats.org/drawingml/2006/main">
            <a:off x="1352550" y="3762375"/>
            <a:ext cx="2371725"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21" name="3  Review task and session scope">
            <a:extLst xmlns:a="http://schemas.openxmlformats.org/drawingml/2006/main">
              <a:ext uri="{FF2B5EF4-FFF2-40B4-BE49-F238E27FC236}">
                <a16:creationId xmlns:a16="http://schemas.microsoft.com/office/drawing/2014/main" id="{1BE9D0D1-EC1C-4B72-94AB-DF25ED9C30A3}"/>
              </a:ext>
            </a:extLst>
          </p:cNvPr>
          <p:cNvSpPr>
            <a:spLocks xmlns:a="http://schemas.openxmlformats.org/drawingml/2006/main" noGrp="1"/>
          </p:cNvSpPr>
          <p:nvPr/>
        </p:nvSpPr>
        <p:spPr>
          <a:xfrm xmlns:a="http://schemas.openxmlformats.org/drawingml/2006/main">
            <a:off x="966788" y="3533775"/>
            <a:ext cx="31432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3  Review task and session scope</a:t>
            </a:r>
          </a:p>
        </p:txBody>
      </p:sp>
      <p:cxnSp>
        <p:nvCxnSpPr>
          <p:cNvPr id="22" name="flow arrow">
            <a:extLst xmlns:a="http://schemas.openxmlformats.org/drawingml/2006/main">
              <a:ext uri="{FF2B5EF4-FFF2-40B4-BE49-F238E27FC236}">
                <a16:creationId xmlns:a16="http://schemas.microsoft.com/office/drawing/2014/main" id="{45B7C0D8-F340-459B-9F75-B26D64160560}"/>
              </a:ext>
            </a:extLst>
          </p:cNvPr>
          <p:cNvCxnSpPr/>
          <p:nvPr/>
        </p:nvCxnSpPr>
        <p:spPr>
          <a:xfrm xmlns:a="http://schemas.openxmlformats.org/drawingml/2006/main">
            <a:off x="1352550" y="4171950"/>
            <a:ext cx="948690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3" name="4  Create policy and finite session">
            <a:extLst xmlns:a="http://schemas.openxmlformats.org/drawingml/2006/main">
              <a:ext uri="{FF2B5EF4-FFF2-40B4-BE49-F238E27FC236}">
                <a16:creationId xmlns:a16="http://schemas.microsoft.com/office/drawing/2014/main" id="{05E9F988-58A1-450F-BC63-A542CE685578}"/>
              </a:ext>
            </a:extLst>
          </p:cNvPr>
          <p:cNvSpPr>
            <a:spLocks xmlns:a="http://schemas.openxmlformats.org/drawingml/2006/main" noGrp="1"/>
          </p:cNvSpPr>
          <p:nvPr/>
        </p:nvSpPr>
        <p:spPr>
          <a:xfrm xmlns:a="http://schemas.openxmlformats.org/drawingml/2006/main">
            <a:off x="1428750" y="3943350"/>
            <a:ext cx="933450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4  Create policy and finite session</a:t>
            </a:r>
          </a:p>
        </p:txBody>
      </p:sp>
      <p:cxnSp>
        <p:nvCxnSpPr>
          <p:cNvPr id="24" name="flow arrow">
            <a:extLst xmlns:a="http://schemas.openxmlformats.org/drawingml/2006/main">
              <a:ext uri="{FF2B5EF4-FFF2-40B4-BE49-F238E27FC236}">
                <a16:creationId xmlns:a16="http://schemas.microsoft.com/office/drawing/2014/main" id="{E6FCABA4-B7FF-4725-8878-5C55A39B612E}"/>
              </a:ext>
            </a:extLst>
          </p:cNvPr>
          <p:cNvCxnSpPr/>
          <p:nvPr/>
        </p:nvCxnSpPr>
        <p:spPr>
          <a:xfrm xmlns:a="http://schemas.openxmlformats.org/drawingml/2006/main">
            <a:off x="3724275" y="4581525"/>
            <a:ext cx="4743450" cy="0"/>
          </a:xfrm>
          <a:prstGeom xmlns:a="http://schemas.openxmlformats.org/drawingml/2006/main" prst="straightConnector1">
            <a:avLst/>
          </a:prstGeom>
          <a:ln xmlns:a="http://schemas.openxmlformats.org/drawingml/2006/main" w="19050">
            <a:solidFill>
              <a:srgbClr val="62ACFF"/>
            </a:solidFill>
            <a:prstDash val="dash"/>
            <a:tailEnd type="triangle" w="med" len="med"/>
          </a:ln>
        </p:spPr>
      </p:cxnSp>
      <p:sp>
        <p:nvSpPr>
          <p:cNvPr id="25" name="5  User imports Guided extension">
            <a:extLst xmlns:a="http://schemas.openxmlformats.org/drawingml/2006/main">
              <a:ext uri="{FF2B5EF4-FFF2-40B4-BE49-F238E27FC236}">
                <a16:creationId xmlns:a16="http://schemas.microsoft.com/office/drawing/2014/main" id="{A25CDEEF-77C8-493D-823D-DAC03B2361B2}"/>
              </a:ext>
            </a:extLst>
          </p:cNvPr>
          <p:cNvSpPr>
            <a:spLocks xmlns:a="http://schemas.openxmlformats.org/drawingml/2006/main" noGrp="1"/>
          </p:cNvSpPr>
          <p:nvPr/>
        </p:nvSpPr>
        <p:spPr>
          <a:xfrm xmlns:a="http://schemas.openxmlformats.org/drawingml/2006/main">
            <a:off x="3800475" y="4352925"/>
            <a:ext cx="45910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5  User imports Guided extension</a:t>
            </a:r>
          </a:p>
        </p:txBody>
      </p:sp>
      <p:cxnSp>
        <p:nvCxnSpPr>
          <p:cNvPr id="26" name="flow arrow">
            <a:extLst xmlns:a="http://schemas.openxmlformats.org/drawingml/2006/main">
              <a:ext uri="{FF2B5EF4-FFF2-40B4-BE49-F238E27FC236}">
                <a16:creationId xmlns:a16="http://schemas.microsoft.com/office/drawing/2014/main" id="{0405A917-4EEE-40D6-81F4-5621EF272A0E}"/>
              </a:ext>
            </a:extLst>
          </p:cNvPr>
          <p:cNvCxnSpPr/>
          <p:nvPr/>
        </p:nvCxnSpPr>
        <p:spPr>
          <a:xfrm xmlns:a="http://schemas.openxmlformats.org/drawingml/2006/main">
            <a:off x="6096000" y="4991100"/>
            <a:ext cx="2371725"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27" name="6  Read account context">
            <a:extLst xmlns:a="http://schemas.openxmlformats.org/drawingml/2006/main">
              <a:ext uri="{FF2B5EF4-FFF2-40B4-BE49-F238E27FC236}">
                <a16:creationId xmlns:a16="http://schemas.microsoft.com/office/drawing/2014/main" id="{CF18EBB1-2F1B-4C6F-8F34-DDAF461EB382}"/>
              </a:ext>
            </a:extLst>
          </p:cNvPr>
          <p:cNvSpPr>
            <a:spLocks xmlns:a="http://schemas.openxmlformats.org/drawingml/2006/main" noGrp="1"/>
          </p:cNvSpPr>
          <p:nvPr/>
        </p:nvSpPr>
        <p:spPr>
          <a:xfrm xmlns:a="http://schemas.openxmlformats.org/drawingml/2006/main">
            <a:off x="5710238" y="4762500"/>
            <a:ext cx="31432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6  Read account context</a:t>
            </a:r>
          </a:p>
        </p:txBody>
      </p:sp>
      <p:cxnSp>
        <p:nvCxnSpPr>
          <p:cNvPr id="28" name="flow arrow">
            <a:extLst xmlns:a="http://schemas.openxmlformats.org/drawingml/2006/main">
              <a:ext uri="{FF2B5EF4-FFF2-40B4-BE49-F238E27FC236}">
                <a16:creationId xmlns:a16="http://schemas.microsoft.com/office/drawing/2014/main" id="{A4CF4367-B5C1-4315-998A-90FF7B187388}"/>
              </a:ext>
            </a:extLst>
          </p:cNvPr>
          <p:cNvCxnSpPr/>
          <p:nvPr/>
        </p:nvCxnSpPr>
        <p:spPr>
          <a:xfrm xmlns:a="http://schemas.openxmlformats.org/drawingml/2006/main">
            <a:off x="6096000" y="5400675"/>
            <a:ext cx="474345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9" name="7  Check current account and grant">
            <a:extLst xmlns:a="http://schemas.openxmlformats.org/drawingml/2006/main">
              <a:ext uri="{FF2B5EF4-FFF2-40B4-BE49-F238E27FC236}">
                <a16:creationId xmlns:a16="http://schemas.microsoft.com/office/drawing/2014/main" id="{7F6B6235-B873-4C8F-932B-CEA6C089A830}"/>
              </a:ext>
            </a:extLst>
          </p:cNvPr>
          <p:cNvSpPr>
            <a:spLocks xmlns:a="http://schemas.openxmlformats.org/drawingml/2006/main" noGrp="1"/>
          </p:cNvSpPr>
          <p:nvPr/>
        </p:nvSpPr>
        <p:spPr>
          <a:xfrm xmlns:a="http://schemas.openxmlformats.org/drawingml/2006/main">
            <a:off x="6172200" y="5172075"/>
            <a:ext cx="45910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7  Check current account and grant</a:t>
            </a:r>
          </a:p>
        </p:txBody>
      </p:sp>
      <p:cxnSp>
        <p:nvCxnSpPr>
          <p:cNvPr id="30" name="flow arrow">
            <a:extLst xmlns:a="http://schemas.openxmlformats.org/drawingml/2006/main">
              <a:ext uri="{FF2B5EF4-FFF2-40B4-BE49-F238E27FC236}">
                <a16:creationId xmlns:a16="http://schemas.microsoft.com/office/drawing/2014/main" id="{BFFDFD77-61DF-4957-9A65-8A614BE86DFB}"/>
              </a:ext>
            </a:extLst>
          </p:cNvPr>
          <p:cNvCxnSpPr/>
          <p:nvPr/>
        </p:nvCxnSpPr>
        <p:spPr>
          <a:xfrm xmlns:a="http://schemas.openxmlformats.org/drawingml/2006/main">
            <a:off x="6096000" y="5810250"/>
            <a:ext cx="2371725" cy="0"/>
          </a:xfrm>
          <a:prstGeom xmlns:a="http://schemas.openxmlformats.org/drawingml/2006/main" prst="straightConnector1">
            <a:avLst/>
          </a:prstGeom>
          <a:ln xmlns:a="http://schemas.openxmlformats.org/drawingml/2006/main" w="19050">
            <a:solidFill>
              <a:srgbClr val="62ACFF"/>
            </a:solidFill>
            <a:prstDash val="dash"/>
            <a:tailEnd type="triangle" w="med" len="med"/>
          </a:ln>
        </p:spPr>
      </p:cxnSp>
      <p:sp>
        <p:nvSpPr>
          <p:cNvPr id="31" name="8  Return current task context">
            <a:extLst xmlns:a="http://schemas.openxmlformats.org/drawingml/2006/main">
              <a:ext uri="{FF2B5EF4-FFF2-40B4-BE49-F238E27FC236}">
                <a16:creationId xmlns:a16="http://schemas.microsoft.com/office/drawing/2014/main" id="{D09EA912-9F6D-42AF-AC5D-59D1F1A90CA4}"/>
              </a:ext>
            </a:extLst>
          </p:cNvPr>
          <p:cNvSpPr>
            <a:spLocks xmlns:a="http://schemas.openxmlformats.org/drawingml/2006/main" noGrp="1"/>
          </p:cNvSpPr>
          <p:nvPr/>
        </p:nvSpPr>
        <p:spPr>
          <a:xfrm xmlns:a="http://schemas.openxmlformats.org/drawingml/2006/main">
            <a:off x="5710238" y="5581650"/>
            <a:ext cx="31432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5F6F8"/>
                </a:solidFill>
                <a:latin typeface="Arial"/>
                <a:ea typeface="Arial"/>
                <a:cs typeface="Arial"/>
              </a:defRPr>
            </a:defPPr>
            <a:lvl1pPr algn="ctr">
              <a:defRPr sz="1500" b="0">
                <a:solidFill>
                  <a:srgbClr val="F5F6F8"/>
                </a:solidFill>
                <a:latin typeface="Arial"/>
                <a:ea typeface="Arial"/>
                <a:cs typeface="Arial"/>
              </a:defRPr>
            </a:lvl1pPr>
            <a:lvl2pPr algn="ctr">
              <a:defRPr sz="1500" b="0">
                <a:solidFill>
                  <a:srgbClr val="F5F6F8"/>
                </a:solidFill>
                <a:latin typeface="Arial"/>
                <a:ea typeface="Arial"/>
                <a:cs typeface="Arial"/>
              </a:defRPr>
            </a:lvl2pPr>
            <a:lvl3pPr algn="ctr">
              <a:defRPr sz="1500" b="0">
                <a:solidFill>
                  <a:srgbClr val="F5F6F8"/>
                </a:solidFill>
                <a:latin typeface="Arial"/>
                <a:ea typeface="Arial"/>
                <a:cs typeface="Arial"/>
              </a:defRPr>
            </a:lvl3pPr>
            <a:lvl4pPr algn="ctr">
              <a:defRPr sz="1500" b="0">
                <a:solidFill>
                  <a:srgbClr val="F5F6F8"/>
                </a:solidFill>
                <a:latin typeface="Arial"/>
                <a:ea typeface="Arial"/>
                <a:cs typeface="Arial"/>
              </a:defRPr>
            </a:lvl4pPr>
            <a:lvl5pPr algn="ctr">
              <a:defRPr sz="1500" b="0">
                <a:solidFill>
                  <a:srgbClr val="F5F6F8"/>
                </a:solidFill>
                <a:latin typeface="Arial"/>
                <a:ea typeface="Arial"/>
                <a:cs typeface="Arial"/>
              </a:defRPr>
            </a:lvl5pPr>
            <a:lvl6pPr algn="ctr">
              <a:defRPr sz="1500" b="0">
                <a:solidFill>
                  <a:srgbClr val="F5F6F8"/>
                </a:solidFill>
                <a:latin typeface="Arial"/>
                <a:ea typeface="Arial"/>
                <a:cs typeface="Arial"/>
              </a:defRPr>
            </a:lvl6pPr>
            <a:lvl7pPr algn="ctr">
              <a:defRPr sz="1500" b="0">
                <a:solidFill>
                  <a:srgbClr val="F5F6F8"/>
                </a:solidFill>
                <a:latin typeface="Arial"/>
                <a:ea typeface="Arial"/>
                <a:cs typeface="Arial"/>
              </a:defRPr>
            </a:lvl7pPr>
            <a:lvl8pPr algn="ctr">
              <a:defRPr sz="1500" b="0">
                <a:solidFill>
                  <a:srgbClr val="F5F6F8"/>
                </a:solidFill>
                <a:latin typeface="Arial"/>
                <a:ea typeface="Arial"/>
                <a:cs typeface="Arial"/>
              </a:defRPr>
            </a:lvl8pPr>
            <a:lvl9pPr algn="ctr">
              <a:defRPr sz="1500" b="0">
                <a:solidFill>
                  <a:srgbClr val="F5F6F8"/>
                </a:solidFill>
                <a:latin typeface="Arial"/>
                <a:ea typeface="Arial"/>
                <a:cs typeface="Arial"/>
              </a:defRPr>
            </a:lvl9pPr>
          </a:lstStyle>
          <a:p xmlns:a="http://schemas.openxmlformats.org/drawingml/2006/main">
            <a:pPr algn="ctr">
              <a:defRPr sz="1500" b="0">
                <a:solidFill>
                  <a:srgbClr val="F5F6F8"/>
                </a:solidFill>
                <a:latin typeface="Arial"/>
                <a:ea typeface="Arial"/>
                <a:cs typeface="Arial"/>
              </a:defRPr>
            </a:pPr>
            <a:r>
              <a:rPr sz="1500" b="0">
                <a:solidFill>
                  <a:srgbClr val="F5F6F8"/>
                </a:solidFill>
                <a:latin typeface="Arial"/>
                <a:ea typeface="Arial"/>
                <a:cs typeface="Arial"/>
              </a:rPr>
              <a:t>8  Return current task context</a:t>
            </a:r>
          </a:p>
        </p:txBody>
      </p:sp>
    </p:spTree>
    <p:extLst>
      <p:ext uri="{BB962C8B-B14F-4D97-AF65-F5344CB8AC3E}">
        <p14:creationId xmlns:p14="http://schemas.microsoft.com/office/powerpoint/2010/main" val="57109772"/>
      </p:ext>
    </p:extLst>
  </p:cSld>
</p:sld>
</file>

<file path=ppt/slides/slide6.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8C6E998-0373-4CF9-BA2F-30D6C2770C2D}"/>
              </a:ext>
            </a:extLst>
          </p:cNvPr>
          <p:cNvPicPr>
            <a:picLocks xmlns:a="http://schemas.openxmlformats.org/drawingml/2006/main" noChangeAspect="1"/>
          </p:cNvPicPr>
          <p:nvPr/>
        </p:nvPicPr>
        <p:blipFill>
          <a:blip xmlns:r="http://schemas.openxmlformats.org/officeDocument/2006/relationships" xmlns:a="http://schemas.openxmlformats.org/drawingml/2006/main" r:embed="R56d19e12c8fc4d13">
            <a:extLst>
              <a:ext uri="{96DAC541-7B7A-43D3-8B79-37D633B846F1}">
                <asvg:svgBlip xmlns:asvg="http://schemas.microsoft.com/office/drawing/2016/SVG/main" r:embed="R6062e211ec624944"/>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x402 payment registration and settlement">
            <a:extLst xmlns:a="http://schemas.openxmlformats.org/drawingml/2006/main">
              <a:ext uri="{FF2B5EF4-FFF2-40B4-BE49-F238E27FC236}">
                <a16:creationId xmlns:a16="http://schemas.microsoft.com/office/drawing/2014/main" id="{A634CA28-E6B3-41F2-AC9D-12E837B437B1}"/>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x402 payment registration and settlement</a:t>
            </a:r>
          </a:p>
        </p:txBody>
      </p:sp>
      <p:sp>
        <p:nvSpPr>
          <p:cNvPr id="4" name="Mandate Labs">
            <a:extLst xmlns:a="http://schemas.openxmlformats.org/drawingml/2006/main">
              <a:ext uri="{FF2B5EF4-FFF2-40B4-BE49-F238E27FC236}">
                <a16:creationId xmlns:a16="http://schemas.microsoft.com/office/drawing/2014/main" id="{E8A44800-C66D-4820-8318-EF8DF4F33F2B}"/>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6">
            <a:extLst xmlns:a="http://schemas.openxmlformats.org/drawingml/2006/main">
              <a:ext uri="{FF2B5EF4-FFF2-40B4-BE49-F238E27FC236}">
                <a16:creationId xmlns:a16="http://schemas.microsoft.com/office/drawing/2014/main" id="{22C7A4A5-94D4-4C90-B5F2-1E7AF916EF2D}"/>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06</a:t>
            </a:r>
          </a:p>
        </p:txBody>
      </p:sp>
      <p:sp>
        <p:nvSpPr>
          <p:cNvPr id="6" name="Diagram: Claude&#10;agent">
            <a:extLst xmlns:a="http://schemas.openxmlformats.org/drawingml/2006/main">
              <a:ext uri="{FF2B5EF4-FFF2-40B4-BE49-F238E27FC236}">
                <a16:creationId xmlns:a16="http://schemas.microsoft.com/office/drawing/2014/main" id="{25A1D51E-4BF1-43A9-A92E-D86F03ED9F4F}"/>
              </a:ext>
            </a:extLst>
          </p:cNvPr>
          <p:cNvSpPr>
            <a:spLocks xmlns:a="http://schemas.openxmlformats.org/drawingml/2006/main" noGrp="1"/>
          </p:cNvSpPr>
          <p:nvPr/>
        </p:nvSpPr>
        <p:spPr>
          <a:xfrm xmlns:a="http://schemas.openxmlformats.org/drawingml/2006/main">
            <a:off x="581025"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Claude</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agent</a:t>
            </a:r>
          </a:p>
        </p:txBody>
      </p:sp>
      <p:cxnSp>
        <p:nvCxnSpPr>
          <p:cNvPr id="7" name="diagram line">
            <a:extLst xmlns:a="http://schemas.openxmlformats.org/drawingml/2006/main">
              <a:ext uri="{FF2B5EF4-FFF2-40B4-BE49-F238E27FC236}">
                <a16:creationId xmlns:a16="http://schemas.microsoft.com/office/drawing/2014/main" id="{6E266DAF-0025-438E-9DD5-02EE60D7C3B8}"/>
              </a:ext>
            </a:extLst>
          </p:cNvPr>
          <p:cNvCxnSpPr/>
          <p:nvPr/>
        </p:nvCxnSpPr>
        <p:spPr>
          <a:xfrm xmlns:a="http://schemas.openxmlformats.org/drawingml/2006/main">
            <a:off x="1409700"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8" name="Diagram: Gateway&#10;session signer">
            <a:extLst xmlns:a="http://schemas.openxmlformats.org/drawingml/2006/main">
              <a:ext uri="{FF2B5EF4-FFF2-40B4-BE49-F238E27FC236}">
                <a16:creationId xmlns:a16="http://schemas.microsoft.com/office/drawing/2014/main" id="{1615026E-27A2-4DE4-A9D0-AFFDF7136850}"/>
              </a:ext>
            </a:extLst>
          </p:cNvPr>
          <p:cNvSpPr>
            <a:spLocks xmlns:a="http://schemas.openxmlformats.org/drawingml/2006/main" noGrp="1"/>
          </p:cNvSpPr>
          <p:nvPr/>
        </p:nvSpPr>
        <p:spPr>
          <a:xfrm xmlns:a="http://schemas.openxmlformats.org/drawingml/2006/main">
            <a:off x="2457450"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Gateway</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session signer</a:t>
            </a:r>
          </a:p>
        </p:txBody>
      </p:sp>
      <p:cxnSp>
        <p:nvCxnSpPr>
          <p:cNvPr id="9" name="diagram line">
            <a:extLst xmlns:a="http://schemas.openxmlformats.org/drawingml/2006/main">
              <a:ext uri="{FF2B5EF4-FFF2-40B4-BE49-F238E27FC236}">
                <a16:creationId xmlns:a16="http://schemas.microsoft.com/office/drawing/2014/main" id="{C0356EF8-03BA-4867-8228-A8CF301C2FAA}"/>
              </a:ext>
            </a:extLst>
          </p:cNvPr>
          <p:cNvCxnSpPr/>
          <p:nvPr/>
        </p:nvCxnSpPr>
        <p:spPr>
          <a:xfrm xmlns:a="http://schemas.openxmlformats.org/drawingml/2006/main">
            <a:off x="3286125"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0" name="Diagram: API&#10;merchant">
            <a:extLst xmlns:a="http://schemas.openxmlformats.org/drawingml/2006/main">
              <a:ext uri="{FF2B5EF4-FFF2-40B4-BE49-F238E27FC236}">
                <a16:creationId xmlns:a16="http://schemas.microsoft.com/office/drawing/2014/main" id="{F277E9D3-4E0D-493B-B88D-78ED58469A5F}"/>
              </a:ext>
            </a:extLst>
          </p:cNvPr>
          <p:cNvSpPr>
            <a:spLocks xmlns:a="http://schemas.openxmlformats.org/drawingml/2006/main" noGrp="1"/>
          </p:cNvSpPr>
          <p:nvPr/>
        </p:nvSpPr>
        <p:spPr>
          <a:xfrm xmlns:a="http://schemas.openxmlformats.org/drawingml/2006/main">
            <a:off x="4333875"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API</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merchant</a:t>
            </a:r>
          </a:p>
        </p:txBody>
      </p:sp>
      <p:cxnSp>
        <p:nvCxnSpPr>
          <p:cNvPr id="11" name="diagram line">
            <a:extLst xmlns:a="http://schemas.openxmlformats.org/drawingml/2006/main">
              <a:ext uri="{FF2B5EF4-FFF2-40B4-BE49-F238E27FC236}">
                <a16:creationId xmlns:a16="http://schemas.microsoft.com/office/drawing/2014/main" id="{74588B05-3300-4547-B7D0-2D869B43F052}"/>
              </a:ext>
            </a:extLst>
          </p:cNvPr>
          <p:cNvCxnSpPr/>
          <p:nvPr/>
        </p:nvCxnSpPr>
        <p:spPr>
          <a:xfrm xmlns:a="http://schemas.openxmlformats.org/drawingml/2006/main">
            <a:off x="5162550"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2" name="Diagram: Payment&#10;facilitator">
            <a:extLst xmlns:a="http://schemas.openxmlformats.org/drawingml/2006/main">
              <a:ext uri="{FF2B5EF4-FFF2-40B4-BE49-F238E27FC236}">
                <a16:creationId xmlns:a16="http://schemas.microsoft.com/office/drawing/2014/main" id="{8CC7DA1D-EAAE-4FFF-83F4-BF661B59AFBA}"/>
              </a:ext>
            </a:extLst>
          </p:cNvPr>
          <p:cNvSpPr>
            <a:spLocks xmlns:a="http://schemas.openxmlformats.org/drawingml/2006/main" noGrp="1"/>
          </p:cNvSpPr>
          <p:nvPr/>
        </p:nvSpPr>
        <p:spPr>
          <a:xfrm xmlns:a="http://schemas.openxmlformats.org/drawingml/2006/main">
            <a:off x="6210300"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Payment</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facilitator</a:t>
            </a:r>
          </a:p>
        </p:txBody>
      </p:sp>
      <p:cxnSp>
        <p:nvCxnSpPr>
          <p:cNvPr id="13" name="diagram line">
            <a:extLst xmlns:a="http://schemas.openxmlformats.org/drawingml/2006/main">
              <a:ext uri="{FF2B5EF4-FFF2-40B4-BE49-F238E27FC236}">
                <a16:creationId xmlns:a16="http://schemas.microsoft.com/office/drawing/2014/main" id="{CBB18CCC-9072-46F4-87FC-C41488CBE8F8}"/>
              </a:ext>
            </a:extLst>
          </p:cNvPr>
          <p:cNvCxnSpPr/>
          <p:nvPr/>
        </p:nvCxnSpPr>
        <p:spPr>
          <a:xfrm xmlns:a="http://schemas.openxmlformats.org/drawingml/2006/main">
            <a:off x="7038975"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4" name="Diagram: Mandate&#10;account">
            <a:extLst xmlns:a="http://schemas.openxmlformats.org/drawingml/2006/main">
              <a:ext uri="{FF2B5EF4-FFF2-40B4-BE49-F238E27FC236}">
                <a16:creationId xmlns:a16="http://schemas.microsoft.com/office/drawing/2014/main" id="{6F8657E0-7CC9-48EA-B7A4-EB1206F03018}"/>
              </a:ext>
            </a:extLst>
          </p:cNvPr>
          <p:cNvSpPr>
            <a:spLocks xmlns:a="http://schemas.openxmlformats.org/drawingml/2006/main" noGrp="1"/>
          </p:cNvSpPr>
          <p:nvPr/>
        </p:nvSpPr>
        <p:spPr>
          <a:xfrm xmlns:a="http://schemas.openxmlformats.org/drawingml/2006/main">
            <a:off x="8086725"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Mandate</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account</a:t>
            </a:r>
          </a:p>
        </p:txBody>
      </p:sp>
      <p:cxnSp>
        <p:nvCxnSpPr>
          <p:cNvPr id="15" name="diagram line">
            <a:extLst xmlns:a="http://schemas.openxmlformats.org/drawingml/2006/main">
              <a:ext uri="{FF2B5EF4-FFF2-40B4-BE49-F238E27FC236}">
                <a16:creationId xmlns:a16="http://schemas.microsoft.com/office/drawing/2014/main" id="{963825F9-5070-40FB-906C-BF6256675736}"/>
              </a:ext>
            </a:extLst>
          </p:cNvPr>
          <p:cNvCxnSpPr/>
          <p:nvPr/>
        </p:nvCxnSpPr>
        <p:spPr>
          <a:xfrm xmlns:a="http://schemas.openxmlformats.org/drawingml/2006/main">
            <a:off x="8915400" y="2533650"/>
            <a:ext cx="0" cy="3581400"/>
          </a:xfrm>
          <a:prstGeom xmlns:a="http://schemas.openxmlformats.org/drawingml/2006/main" prst="straightConnector1">
            <a:avLst/>
          </a:prstGeom>
          <a:ln xmlns:a="http://schemas.openxmlformats.org/drawingml/2006/main" w="9525">
            <a:solidFill>
              <a:srgbClr val="354052"/>
            </a:solidFill>
            <a:prstDash val="dash"/>
          </a:ln>
        </p:spPr>
      </p:cxnSp>
      <p:sp>
        <p:nvSpPr>
          <p:cNvPr id="16" name="Diagram: USDC&#10;token">
            <a:extLst xmlns:a="http://schemas.openxmlformats.org/drawingml/2006/main">
              <a:ext uri="{FF2B5EF4-FFF2-40B4-BE49-F238E27FC236}">
                <a16:creationId xmlns:a16="http://schemas.microsoft.com/office/drawing/2014/main" id="{2F185124-938D-488E-BF76-F2A52E3B97BE}"/>
              </a:ext>
            </a:extLst>
          </p:cNvPr>
          <p:cNvSpPr>
            <a:spLocks xmlns:a="http://schemas.openxmlformats.org/drawingml/2006/main" noGrp="1"/>
          </p:cNvSpPr>
          <p:nvPr/>
        </p:nvSpPr>
        <p:spPr>
          <a:xfrm xmlns:a="http://schemas.openxmlformats.org/drawingml/2006/main">
            <a:off x="9963150" y="1885950"/>
            <a:ext cx="1657350" cy="6381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575">
                <a:solidFill>
                  <a:srgbClr val="F5F6F8"/>
                </a:solidFill>
                <a:latin typeface="Arial"/>
                <a:ea typeface="Arial"/>
                <a:cs typeface="Arial"/>
              </a:defRPr>
            </a:defPPr>
            <a:lvl1pPr algn="ctr">
              <a:defRPr sz="1575">
                <a:solidFill>
                  <a:srgbClr val="F5F6F8"/>
                </a:solidFill>
                <a:latin typeface="Arial"/>
                <a:ea typeface="Arial"/>
                <a:cs typeface="Arial"/>
              </a:defRPr>
            </a:lvl1pPr>
            <a:lvl2pPr algn="ctr">
              <a:defRPr sz="1575">
                <a:solidFill>
                  <a:srgbClr val="F5F6F8"/>
                </a:solidFill>
                <a:latin typeface="Arial"/>
                <a:ea typeface="Arial"/>
                <a:cs typeface="Arial"/>
              </a:defRPr>
            </a:lvl2pPr>
            <a:lvl3pPr algn="ctr">
              <a:defRPr sz="1575">
                <a:solidFill>
                  <a:srgbClr val="F5F6F8"/>
                </a:solidFill>
                <a:latin typeface="Arial"/>
                <a:ea typeface="Arial"/>
                <a:cs typeface="Arial"/>
              </a:defRPr>
            </a:lvl3pPr>
            <a:lvl4pPr algn="ctr">
              <a:defRPr sz="1575">
                <a:solidFill>
                  <a:srgbClr val="F5F6F8"/>
                </a:solidFill>
                <a:latin typeface="Arial"/>
                <a:ea typeface="Arial"/>
                <a:cs typeface="Arial"/>
              </a:defRPr>
            </a:lvl4pPr>
            <a:lvl5pPr algn="ctr">
              <a:defRPr sz="1575">
                <a:solidFill>
                  <a:srgbClr val="F5F6F8"/>
                </a:solidFill>
                <a:latin typeface="Arial"/>
                <a:ea typeface="Arial"/>
                <a:cs typeface="Arial"/>
              </a:defRPr>
            </a:lvl5pPr>
            <a:lvl6pPr algn="ctr">
              <a:defRPr sz="1575">
                <a:solidFill>
                  <a:srgbClr val="F5F6F8"/>
                </a:solidFill>
                <a:latin typeface="Arial"/>
                <a:ea typeface="Arial"/>
                <a:cs typeface="Arial"/>
              </a:defRPr>
            </a:lvl6pPr>
            <a:lvl7pPr algn="ctr">
              <a:defRPr sz="1575">
                <a:solidFill>
                  <a:srgbClr val="F5F6F8"/>
                </a:solidFill>
                <a:latin typeface="Arial"/>
                <a:ea typeface="Arial"/>
                <a:cs typeface="Arial"/>
              </a:defRPr>
            </a:lvl7pPr>
            <a:lvl8pPr algn="ctr">
              <a:defRPr sz="1575">
                <a:solidFill>
                  <a:srgbClr val="F5F6F8"/>
                </a:solidFill>
                <a:latin typeface="Arial"/>
                <a:ea typeface="Arial"/>
                <a:cs typeface="Arial"/>
              </a:defRPr>
            </a:lvl8pPr>
            <a:lvl9pPr algn="ctr">
              <a:defRPr sz="1575">
                <a:solidFill>
                  <a:srgbClr val="F5F6F8"/>
                </a:solidFill>
                <a:latin typeface="Arial"/>
                <a:ea typeface="Arial"/>
                <a:cs typeface="Arial"/>
              </a:defRPr>
            </a:lvl9pPr>
          </a:lstStyle>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USDC</a:t>
            </a:r>
          </a:p>
          <a:p xmlns:a="http://schemas.openxmlformats.org/drawingml/2006/main">
            <a:pPr algn="ctr">
              <a:defRPr sz="1575">
                <a:solidFill>
                  <a:srgbClr val="F5F6F8"/>
                </a:solidFill>
                <a:latin typeface="Arial"/>
                <a:ea typeface="Arial"/>
                <a:cs typeface="Arial"/>
              </a:defRPr>
            </a:pPr>
            <a:r>
              <a:rPr sz="1575">
                <a:solidFill>
                  <a:srgbClr val="F5F6F8"/>
                </a:solidFill>
                <a:latin typeface="Arial"/>
                <a:ea typeface="Arial"/>
                <a:cs typeface="Arial"/>
              </a:rPr>
              <a:t>token</a:t>
            </a:r>
          </a:p>
        </p:txBody>
      </p:sp>
      <p:cxnSp>
        <p:nvCxnSpPr>
          <p:cNvPr id="17" name="diagram line">
            <a:extLst xmlns:a="http://schemas.openxmlformats.org/drawingml/2006/main">
              <a:ext uri="{FF2B5EF4-FFF2-40B4-BE49-F238E27FC236}">
                <a16:creationId xmlns:a16="http://schemas.microsoft.com/office/drawing/2014/main" id="{5A1496EA-97DC-4437-A415-476C88ECC0FE}"/>
              </a:ext>
            </a:extLst>
          </p:cNvPr>
          <p:cNvCxnSpPr/>
          <p:nvPr/>
        </p:nvCxnSpPr>
        <p:spPr>
          <a:xfrm xmlns:a="http://schemas.openxmlformats.org/drawingml/2006/main">
            <a:off x="10791825" y="2533650"/>
            <a:ext cx="0" cy="3581400"/>
          </a:xfrm>
          <a:prstGeom xmlns:a="http://schemas.openxmlformats.org/drawingml/2006/main" prst="straightConnector1">
            <a:avLst/>
          </a:prstGeom>
          <a:ln xmlns:a="http://schemas.openxmlformats.org/drawingml/2006/main" w="9525">
            <a:solidFill>
              <a:srgbClr val="354052"/>
            </a:solidFill>
            <a:prstDash val="dash"/>
          </a:ln>
        </p:spPr>
      </p:cxnSp>
      <p:cxnSp>
        <p:nvCxnSpPr>
          <p:cNvPr id="18" name="flow arrow">
            <a:extLst xmlns:a="http://schemas.openxmlformats.org/drawingml/2006/main">
              <a:ext uri="{FF2B5EF4-FFF2-40B4-BE49-F238E27FC236}">
                <a16:creationId xmlns:a16="http://schemas.microsoft.com/office/drawing/2014/main" id="{9779338F-776B-4A89-A0B3-C198F2B7D690}"/>
              </a:ext>
            </a:extLst>
          </p:cNvPr>
          <p:cNvCxnSpPr/>
          <p:nvPr/>
        </p:nvCxnSpPr>
        <p:spPr>
          <a:xfrm xmlns:a="http://schemas.openxmlformats.org/drawingml/2006/main">
            <a:off x="1409700" y="2809875"/>
            <a:ext cx="18764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9" name="1  Call approved step">
            <a:extLst xmlns:a="http://schemas.openxmlformats.org/drawingml/2006/main">
              <a:ext uri="{FF2B5EF4-FFF2-40B4-BE49-F238E27FC236}">
                <a16:creationId xmlns:a16="http://schemas.microsoft.com/office/drawing/2014/main" id="{0F72E358-D0C3-4C91-B13C-184071B5EFAC}"/>
              </a:ext>
            </a:extLst>
          </p:cNvPr>
          <p:cNvSpPr>
            <a:spLocks xmlns:a="http://schemas.openxmlformats.org/drawingml/2006/main" noGrp="1"/>
          </p:cNvSpPr>
          <p:nvPr/>
        </p:nvSpPr>
        <p:spPr>
          <a:xfrm xmlns:a="http://schemas.openxmlformats.org/drawingml/2006/main">
            <a:off x="1181100" y="2581275"/>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1  Call approved step</a:t>
            </a:r>
          </a:p>
        </p:txBody>
      </p:sp>
      <p:cxnSp>
        <p:nvCxnSpPr>
          <p:cNvPr id="20" name="flow arrow">
            <a:extLst xmlns:a="http://schemas.openxmlformats.org/drawingml/2006/main">
              <a:ext uri="{FF2B5EF4-FFF2-40B4-BE49-F238E27FC236}">
                <a16:creationId xmlns:a16="http://schemas.microsoft.com/office/drawing/2014/main" id="{1D70159C-1FE0-4C4C-BB32-DD6565F06F20}"/>
              </a:ext>
            </a:extLst>
          </p:cNvPr>
          <p:cNvCxnSpPr/>
          <p:nvPr/>
        </p:nvCxnSpPr>
        <p:spPr>
          <a:xfrm xmlns:a="http://schemas.openxmlformats.org/drawingml/2006/main">
            <a:off x="3286125" y="3086100"/>
            <a:ext cx="18764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1" name="2  Request quote">
            <a:extLst xmlns:a="http://schemas.openxmlformats.org/drawingml/2006/main">
              <a:ext uri="{FF2B5EF4-FFF2-40B4-BE49-F238E27FC236}">
                <a16:creationId xmlns:a16="http://schemas.microsoft.com/office/drawing/2014/main" id="{2CF9250F-9B9D-43C5-8465-4499259522C7}"/>
              </a:ext>
            </a:extLst>
          </p:cNvPr>
          <p:cNvSpPr>
            <a:spLocks xmlns:a="http://schemas.openxmlformats.org/drawingml/2006/main" noGrp="1"/>
          </p:cNvSpPr>
          <p:nvPr/>
        </p:nvSpPr>
        <p:spPr>
          <a:xfrm xmlns:a="http://schemas.openxmlformats.org/drawingml/2006/main">
            <a:off x="3057525" y="2857500"/>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2  Request quote</a:t>
            </a:r>
          </a:p>
        </p:txBody>
      </p:sp>
      <p:cxnSp>
        <p:nvCxnSpPr>
          <p:cNvPr id="22" name="flow arrow">
            <a:extLst xmlns:a="http://schemas.openxmlformats.org/drawingml/2006/main">
              <a:ext uri="{FF2B5EF4-FFF2-40B4-BE49-F238E27FC236}">
                <a16:creationId xmlns:a16="http://schemas.microsoft.com/office/drawing/2014/main" id="{AAC791FA-FAB4-4BD1-A527-18F1C952F37F}"/>
              </a:ext>
            </a:extLst>
          </p:cNvPr>
          <p:cNvCxnSpPr/>
          <p:nvPr/>
        </p:nvCxnSpPr>
        <p:spPr>
          <a:xfrm xmlns:a="http://schemas.openxmlformats.org/drawingml/2006/main">
            <a:off x="3286125" y="3362325"/>
            <a:ext cx="1876425" cy="0"/>
          </a:xfrm>
          <a:prstGeom xmlns:a="http://schemas.openxmlformats.org/drawingml/2006/main" prst="straightConnector1">
            <a:avLst/>
          </a:prstGeom>
          <a:ln xmlns:a="http://schemas.openxmlformats.org/drawingml/2006/main" w="19050">
            <a:solidFill>
              <a:srgbClr val="62ACFF"/>
            </a:solidFill>
            <a:prstDash val="dash"/>
            <a:headEnd type="triangle" w="med" len="med"/>
          </a:ln>
        </p:spPr>
      </p:cxnSp>
      <p:sp>
        <p:nvSpPr>
          <p:cNvPr id="23" name="3  HTTP 402 terms">
            <a:extLst xmlns:a="http://schemas.openxmlformats.org/drawingml/2006/main">
              <a:ext uri="{FF2B5EF4-FFF2-40B4-BE49-F238E27FC236}">
                <a16:creationId xmlns:a16="http://schemas.microsoft.com/office/drawing/2014/main" id="{53A42C0D-19FB-4C07-8126-0D967BED50C9}"/>
              </a:ext>
            </a:extLst>
          </p:cNvPr>
          <p:cNvSpPr>
            <a:spLocks xmlns:a="http://schemas.openxmlformats.org/drawingml/2006/main" noGrp="1"/>
          </p:cNvSpPr>
          <p:nvPr/>
        </p:nvSpPr>
        <p:spPr>
          <a:xfrm xmlns:a="http://schemas.openxmlformats.org/drawingml/2006/main">
            <a:off x="3057525" y="3133725"/>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3  HTTP 402 terms</a:t>
            </a:r>
          </a:p>
        </p:txBody>
      </p:sp>
      <p:cxnSp>
        <p:nvCxnSpPr>
          <p:cNvPr id="24" name="flow arrow">
            <a:extLst xmlns:a="http://schemas.openxmlformats.org/drawingml/2006/main">
              <a:ext uri="{FF2B5EF4-FFF2-40B4-BE49-F238E27FC236}">
                <a16:creationId xmlns:a16="http://schemas.microsoft.com/office/drawing/2014/main" id="{1021F9B0-FA83-427C-A883-1ACD3FFDB217}"/>
              </a:ext>
            </a:extLst>
          </p:cNvPr>
          <p:cNvCxnSpPr/>
          <p:nvPr/>
        </p:nvCxnSpPr>
        <p:spPr>
          <a:xfrm xmlns:a="http://schemas.openxmlformats.org/drawingml/2006/main">
            <a:off x="3286125" y="3638550"/>
            <a:ext cx="562927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5" name="4  Persist intent and register payment">
            <a:extLst xmlns:a="http://schemas.openxmlformats.org/drawingml/2006/main">
              <a:ext uri="{FF2B5EF4-FFF2-40B4-BE49-F238E27FC236}">
                <a16:creationId xmlns:a16="http://schemas.microsoft.com/office/drawing/2014/main" id="{C58A3581-F8B1-4051-BB03-75BD52A4835B}"/>
              </a:ext>
            </a:extLst>
          </p:cNvPr>
          <p:cNvSpPr>
            <a:spLocks xmlns:a="http://schemas.openxmlformats.org/drawingml/2006/main" noGrp="1"/>
          </p:cNvSpPr>
          <p:nvPr/>
        </p:nvSpPr>
        <p:spPr>
          <a:xfrm xmlns:a="http://schemas.openxmlformats.org/drawingml/2006/main">
            <a:off x="3362325" y="3409950"/>
            <a:ext cx="547687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4  Persist intent and register payment</a:t>
            </a:r>
          </a:p>
        </p:txBody>
      </p:sp>
      <p:cxnSp>
        <p:nvCxnSpPr>
          <p:cNvPr id="26" name="flow arrow">
            <a:extLst xmlns:a="http://schemas.openxmlformats.org/drawingml/2006/main">
              <a:ext uri="{FF2B5EF4-FFF2-40B4-BE49-F238E27FC236}">
                <a16:creationId xmlns:a16="http://schemas.microsoft.com/office/drawing/2014/main" id="{32C5FA5C-D187-497B-A883-8C086679B6E9}"/>
              </a:ext>
            </a:extLst>
          </p:cNvPr>
          <p:cNvCxnSpPr/>
          <p:nvPr/>
        </p:nvCxnSpPr>
        <p:spPr>
          <a:xfrm xmlns:a="http://schemas.openxmlformats.org/drawingml/2006/main">
            <a:off x="3286125" y="3914775"/>
            <a:ext cx="5629275" cy="0"/>
          </a:xfrm>
          <a:prstGeom xmlns:a="http://schemas.openxmlformats.org/drawingml/2006/main" prst="straightConnector1">
            <a:avLst/>
          </a:prstGeom>
          <a:ln xmlns:a="http://schemas.openxmlformats.org/drawingml/2006/main" w="19050">
            <a:solidFill>
              <a:srgbClr val="62ACFF"/>
            </a:solidFill>
            <a:prstDash val="dash"/>
            <a:headEnd type="triangle" w="med" len="med"/>
          </a:ln>
        </p:spPr>
      </p:cxnSp>
      <p:sp>
        <p:nvSpPr>
          <p:cNvPr id="27" name="5  Confirm budget reservation">
            <a:extLst xmlns:a="http://schemas.openxmlformats.org/drawingml/2006/main">
              <a:ext uri="{FF2B5EF4-FFF2-40B4-BE49-F238E27FC236}">
                <a16:creationId xmlns:a16="http://schemas.microsoft.com/office/drawing/2014/main" id="{EAB6C2F8-B54C-4169-B0C4-5C2A98C2FE92}"/>
              </a:ext>
            </a:extLst>
          </p:cNvPr>
          <p:cNvSpPr>
            <a:spLocks xmlns:a="http://schemas.openxmlformats.org/drawingml/2006/main" noGrp="1"/>
          </p:cNvSpPr>
          <p:nvPr/>
        </p:nvSpPr>
        <p:spPr>
          <a:xfrm xmlns:a="http://schemas.openxmlformats.org/drawingml/2006/main">
            <a:off x="3362325" y="3686175"/>
            <a:ext cx="547687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5  Confirm budget reservation</a:t>
            </a:r>
          </a:p>
        </p:txBody>
      </p:sp>
      <p:cxnSp>
        <p:nvCxnSpPr>
          <p:cNvPr id="28" name="flow arrow">
            <a:extLst xmlns:a="http://schemas.openxmlformats.org/drawingml/2006/main">
              <a:ext uri="{FF2B5EF4-FFF2-40B4-BE49-F238E27FC236}">
                <a16:creationId xmlns:a16="http://schemas.microsoft.com/office/drawing/2014/main" id="{328A24ED-4C53-49AF-9780-267EAD647838}"/>
              </a:ext>
            </a:extLst>
          </p:cNvPr>
          <p:cNvCxnSpPr/>
          <p:nvPr/>
        </p:nvCxnSpPr>
        <p:spPr>
          <a:xfrm xmlns:a="http://schemas.openxmlformats.org/drawingml/2006/main">
            <a:off x="3286125" y="4191000"/>
            <a:ext cx="18764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9" name="6  Send payment payload">
            <a:extLst xmlns:a="http://schemas.openxmlformats.org/drawingml/2006/main">
              <a:ext uri="{FF2B5EF4-FFF2-40B4-BE49-F238E27FC236}">
                <a16:creationId xmlns:a16="http://schemas.microsoft.com/office/drawing/2014/main" id="{46A2648B-B20E-4C7E-AE67-3819FFD28289}"/>
              </a:ext>
            </a:extLst>
          </p:cNvPr>
          <p:cNvSpPr>
            <a:spLocks xmlns:a="http://schemas.openxmlformats.org/drawingml/2006/main" noGrp="1"/>
          </p:cNvSpPr>
          <p:nvPr/>
        </p:nvSpPr>
        <p:spPr>
          <a:xfrm xmlns:a="http://schemas.openxmlformats.org/drawingml/2006/main">
            <a:off x="3057525" y="3962400"/>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6  Send payment payload</a:t>
            </a:r>
          </a:p>
        </p:txBody>
      </p:sp>
      <p:cxnSp>
        <p:nvCxnSpPr>
          <p:cNvPr id="30" name="flow arrow">
            <a:extLst xmlns:a="http://schemas.openxmlformats.org/drawingml/2006/main">
              <a:ext uri="{FF2B5EF4-FFF2-40B4-BE49-F238E27FC236}">
                <a16:creationId xmlns:a16="http://schemas.microsoft.com/office/drawing/2014/main" id="{31AEBAF5-FB2B-4405-8E5F-B379963BA87C}"/>
              </a:ext>
            </a:extLst>
          </p:cNvPr>
          <p:cNvCxnSpPr/>
          <p:nvPr/>
        </p:nvCxnSpPr>
        <p:spPr>
          <a:xfrm xmlns:a="http://schemas.openxmlformats.org/drawingml/2006/main">
            <a:off x="5162550" y="4467225"/>
            <a:ext cx="18764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31" name="7  Verify and settle">
            <a:extLst xmlns:a="http://schemas.openxmlformats.org/drawingml/2006/main">
              <a:ext uri="{FF2B5EF4-FFF2-40B4-BE49-F238E27FC236}">
                <a16:creationId xmlns:a16="http://schemas.microsoft.com/office/drawing/2014/main" id="{3B63405F-3AAE-45BF-A29D-A17B780DC635}"/>
              </a:ext>
            </a:extLst>
          </p:cNvPr>
          <p:cNvSpPr>
            <a:spLocks xmlns:a="http://schemas.openxmlformats.org/drawingml/2006/main" noGrp="1"/>
          </p:cNvSpPr>
          <p:nvPr/>
        </p:nvSpPr>
        <p:spPr>
          <a:xfrm xmlns:a="http://schemas.openxmlformats.org/drawingml/2006/main">
            <a:off x="4933950" y="4238625"/>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7  Verify and settle</a:t>
            </a:r>
          </a:p>
        </p:txBody>
      </p:sp>
      <p:cxnSp>
        <p:nvCxnSpPr>
          <p:cNvPr id="32" name="flow arrow">
            <a:extLst xmlns:a="http://schemas.openxmlformats.org/drawingml/2006/main">
              <a:ext uri="{FF2B5EF4-FFF2-40B4-BE49-F238E27FC236}">
                <a16:creationId xmlns:a16="http://schemas.microsoft.com/office/drawing/2014/main" id="{79B532FF-1CDE-47A9-9F9E-D7FFDB6CCFBA}"/>
              </a:ext>
            </a:extLst>
          </p:cNvPr>
          <p:cNvCxnSpPr/>
          <p:nvPr/>
        </p:nvCxnSpPr>
        <p:spPr>
          <a:xfrm xmlns:a="http://schemas.openxmlformats.org/drawingml/2006/main">
            <a:off x="7038975" y="4743450"/>
            <a:ext cx="375285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33" name="8  Submit token authorization">
            <a:extLst xmlns:a="http://schemas.openxmlformats.org/drawingml/2006/main">
              <a:ext uri="{FF2B5EF4-FFF2-40B4-BE49-F238E27FC236}">
                <a16:creationId xmlns:a16="http://schemas.microsoft.com/office/drawing/2014/main" id="{60941E6E-A7C5-4334-A6B2-4165202D65DC}"/>
              </a:ext>
            </a:extLst>
          </p:cNvPr>
          <p:cNvSpPr>
            <a:spLocks xmlns:a="http://schemas.openxmlformats.org/drawingml/2006/main" noGrp="1"/>
          </p:cNvSpPr>
          <p:nvPr/>
        </p:nvSpPr>
        <p:spPr>
          <a:xfrm xmlns:a="http://schemas.openxmlformats.org/drawingml/2006/main">
            <a:off x="7115175" y="4514850"/>
            <a:ext cx="3600450"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8  Submit token authorization</a:t>
            </a:r>
          </a:p>
        </p:txBody>
      </p:sp>
      <p:cxnSp>
        <p:nvCxnSpPr>
          <p:cNvPr id="34" name="flow arrow">
            <a:extLst xmlns:a="http://schemas.openxmlformats.org/drawingml/2006/main">
              <a:ext uri="{FF2B5EF4-FFF2-40B4-BE49-F238E27FC236}">
                <a16:creationId xmlns:a16="http://schemas.microsoft.com/office/drawing/2014/main" id="{81B04772-E321-4763-8D1C-EE99AD1B2FC9}"/>
              </a:ext>
            </a:extLst>
          </p:cNvPr>
          <p:cNvCxnSpPr/>
          <p:nvPr/>
        </p:nvCxnSpPr>
        <p:spPr>
          <a:xfrm xmlns:a="http://schemas.openxmlformats.org/drawingml/2006/main">
            <a:off x="8915400" y="5019675"/>
            <a:ext cx="1876425"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sp>
        <p:nvSpPr>
          <p:cNvPr id="35" name="9  ERC-1271 check">
            <a:extLst xmlns:a="http://schemas.openxmlformats.org/drawingml/2006/main">
              <a:ext uri="{FF2B5EF4-FFF2-40B4-BE49-F238E27FC236}">
                <a16:creationId xmlns:a16="http://schemas.microsoft.com/office/drawing/2014/main" id="{65B1BB79-391E-48D3-8882-7D98B94423A4}"/>
              </a:ext>
            </a:extLst>
          </p:cNvPr>
          <p:cNvSpPr>
            <a:spLocks xmlns:a="http://schemas.openxmlformats.org/drawingml/2006/main" noGrp="1"/>
          </p:cNvSpPr>
          <p:nvPr/>
        </p:nvSpPr>
        <p:spPr>
          <a:xfrm xmlns:a="http://schemas.openxmlformats.org/drawingml/2006/main">
            <a:off x="8686800" y="4791075"/>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9  ERC-1271 check</a:t>
            </a:r>
          </a:p>
        </p:txBody>
      </p:sp>
      <p:cxnSp>
        <p:nvCxnSpPr>
          <p:cNvPr id="36" name="flow arrow">
            <a:extLst xmlns:a="http://schemas.openxmlformats.org/drawingml/2006/main">
              <a:ext uri="{FF2B5EF4-FFF2-40B4-BE49-F238E27FC236}">
                <a16:creationId xmlns:a16="http://schemas.microsoft.com/office/drawing/2014/main" id="{02D60A34-E1F9-4B93-B362-308B4004E6DB}"/>
              </a:ext>
            </a:extLst>
          </p:cNvPr>
          <p:cNvCxnSpPr/>
          <p:nvPr/>
        </p:nvCxnSpPr>
        <p:spPr>
          <a:xfrm xmlns:a="http://schemas.openxmlformats.org/drawingml/2006/main">
            <a:off x="8915400" y="5295900"/>
            <a:ext cx="1876425" cy="0"/>
          </a:xfrm>
          <a:prstGeom xmlns:a="http://schemas.openxmlformats.org/drawingml/2006/main" prst="straightConnector1">
            <a:avLst/>
          </a:prstGeom>
          <a:ln xmlns:a="http://schemas.openxmlformats.org/drawingml/2006/main" w="19050">
            <a:solidFill>
              <a:srgbClr val="62ACFF"/>
            </a:solidFill>
            <a:prstDash val="dash"/>
            <a:tailEnd type="triangle" w="med" len="med"/>
          </a:ln>
        </p:spPr>
      </p:cxnSp>
      <p:sp>
        <p:nvSpPr>
          <p:cNvPr id="37" name="10  Current authority">
            <a:extLst xmlns:a="http://schemas.openxmlformats.org/drawingml/2006/main">
              <a:ext uri="{FF2B5EF4-FFF2-40B4-BE49-F238E27FC236}">
                <a16:creationId xmlns:a16="http://schemas.microsoft.com/office/drawing/2014/main" id="{92F268D3-F8A4-4BEA-890A-0AF32E2460F4}"/>
              </a:ext>
            </a:extLst>
          </p:cNvPr>
          <p:cNvSpPr>
            <a:spLocks xmlns:a="http://schemas.openxmlformats.org/drawingml/2006/main" noGrp="1"/>
          </p:cNvSpPr>
          <p:nvPr/>
        </p:nvSpPr>
        <p:spPr>
          <a:xfrm xmlns:a="http://schemas.openxmlformats.org/drawingml/2006/main">
            <a:off x="8686800" y="5067300"/>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10  Current authority</a:t>
            </a:r>
          </a:p>
        </p:txBody>
      </p:sp>
      <p:cxnSp>
        <p:nvCxnSpPr>
          <p:cNvPr id="38" name="flow arrow">
            <a:extLst xmlns:a="http://schemas.openxmlformats.org/drawingml/2006/main">
              <a:ext uri="{FF2B5EF4-FFF2-40B4-BE49-F238E27FC236}">
                <a16:creationId xmlns:a16="http://schemas.microsoft.com/office/drawing/2014/main" id="{2946F0D1-2FA1-4E74-96FE-2BE4C96F0BE4}"/>
              </a:ext>
            </a:extLst>
          </p:cNvPr>
          <p:cNvCxnSpPr/>
          <p:nvPr/>
        </p:nvCxnSpPr>
        <p:spPr>
          <a:xfrm xmlns:a="http://schemas.openxmlformats.org/drawingml/2006/main">
            <a:off x="3286125" y="5572125"/>
            <a:ext cx="1876425" cy="0"/>
          </a:xfrm>
          <a:prstGeom xmlns:a="http://schemas.openxmlformats.org/drawingml/2006/main" prst="straightConnector1">
            <a:avLst/>
          </a:prstGeom>
          <a:ln xmlns:a="http://schemas.openxmlformats.org/drawingml/2006/main" w="19050">
            <a:solidFill>
              <a:srgbClr val="62ACFF"/>
            </a:solidFill>
            <a:prstDash val="dash"/>
            <a:headEnd type="triangle" w="med" len="med"/>
          </a:ln>
        </p:spPr>
      </p:cxnSp>
      <p:sp>
        <p:nvSpPr>
          <p:cNvPr id="39" name="11  Data and receipt">
            <a:extLst xmlns:a="http://schemas.openxmlformats.org/drawingml/2006/main">
              <a:ext uri="{FF2B5EF4-FFF2-40B4-BE49-F238E27FC236}">
                <a16:creationId xmlns:a16="http://schemas.microsoft.com/office/drawing/2014/main" id="{B78F2CC5-A03D-4C67-93BA-88D0B0BB6D93}"/>
              </a:ext>
            </a:extLst>
          </p:cNvPr>
          <p:cNvSpPr>
            <a:spLocks xmlns:a="http://schemas.openxmlformats.org/drawingml/2006/main" noGrp="1"/>
          </p:cNvSpPr>
          <p:nvPr/>
        </p:nvSpPr>
        <p:spPr>
          <a:xfrm xmlns:a="http://schemas.openxmlformats.org/drawingml/2006/main">
            <a:off x="3057525" y="5343525"/>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11  Data and receipt</a:t>
            </a:r>
          </a:p>
        </p:txBody>
      </p:sp>
      <p:cxnSp>
        <p:nvCxnSpPr>
          <p:cNvPr id="40" name="flow arrow">
            <a:extLst xmlns:a="http://schemas.openxmlformats.org/drawingml/2006/main">
              <a:ext uri="{FF2B5EF4-FFF2-40B4-BE49-F238E27FC236}">
                <a16:creationId xmlns:a16="http://schemas.microsoft.com/office/drawing/2014/main" id="{23F4115B-1A36-44D1-B504-4CAE342E8B20}"/>
              </a:ext>
            </a:extLst>
          </p:cNvPr>
          <p:cNvCxnSpPr/>
          <p:nvPr/>
        </p:nvCxnSpPr>
        <p:spPr>
          <a:xfrm xmlns:a="http://schemas.openxmlformats.org/drawingml/2006/main">
            <a:off x="1409700" y="5848350"/>
            <a:ext cx="1876425" cy="0"/>
          </a:xfrm>
          <a:prstGeom xmlns:a="http://schemas.openxmlformats.org/drawingml/2006/main" prst="straightConnector1">
            <a:avLst/>
          </a:prstGeom>
          <a:ln xmlns:a="http://schemas.openxmlformats.org/drawingml/2006/main" w="19050">
            <a:solidFill>
              <a:srgbClr val="62ACFF"/>
            </a:solidFill>
            <a:prstDash val="dash"/>
            <a:headEnd type="triangle" w="med" len="med"/>
          </a:ln>
        </p:spPr>
      </p:cxnSp>
      <p:sp>
        <p:nvSpPr>
          <p:cNvPr id="41" name="12  Separate outcomes">
            <a:extLst xmlns:a="http://schemas.openxmlformats.org/drawingml/2006/main">
              <a:ext uri="{FF2B5EF4-FFF2-40B4-BE49-F238E27FC236}">
                <a16:creationId xmlns:a16="http://schemas.microsoft.com/office/drawing/2014/main" id="{1115F4CF-044B-400B-BF70-97B7717E56B4}"/>
              </a:ext>
            </a:extLst>
          </p:cNvPr>
          <p:cNvSpPr>
            <a:spLocks xmlns:a="http://schemas.openxmlformats.org/drawingml/2006/main" noGrp="1"/>
          </p:cNvSpPr>
          <p:nvPr/>
        </p:nvSpPr>
        <p:spPr>
          <a:xfrm xmlns:a="http://schemas.openxmlformats.org/drawingml/2006/main">
            <a:off x="1181100" y="5619750"/>
            <a:ext cx="2333625" cy="219075"/>
          </a:xfrm>
          <a:prstGeom xmlns:a="http://schemas.openxmlformats.org/drawingml/2006/main" prst="rect">
            <a:avLst/>
          </a:prstGeom>
          <a:solidFill xmlns:a="http://schemas.openxmlformats.org/drawingml/2006/main">
            <a:srgbClr val="08090B"/>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63" b="0">
                <a:solidFill>
                  <a:srgbClr val="F5F6F8"/>
                </a:solidFill>
                <a:latin typeface="Arial"/>
                <a:ea typeface="Arial"/>
                <a:cs typeface="Arial"/>
              </a:defRPr>
            </a:defPPr>
            <a:lvl1pPr algn="ctr">
              <a:defRPr sz="1463" b="0">
                <a:solidFill>
                  <a:srgbClr val="F5F6F8"/>
                </a:solidFill>
                <a:latin typeface="Arial"/>
                <a:ea typeface="Arial"/>
                <a:cs typeface="Arial"/>
              </a:defRPr>
            </a:lvl1pPr>
            <a:lvl2pPr algn="ctr">
              <a:defRPr sz="1463" b="0">
                <a:solidFill>
                  <a:srgbClr val="F5F6F8"/>
                </a:solidFill>
                <a:latin typeface="Arial"/>
                <a:ea typeface="Arial"/>
                <a:cs typeface="Arial"/>
              </a:defRPr>
            </a:lvl2pPr>
            <a:lvl3pPr algn="ctr">
              <a:defRPr sz="1463" b="0">
                <a:solidFill>
                  <a:srgbClr val="F5F6F8"/>
                </a:solidFill>
                <a:latin typeface="Arial"/>
                <a:ea typeface="Arial"/>
                <a:cs typeface="Arial"/>
              </a:defRPr>
            </a:lvl3pPr>
            <a:lvl4pPr algn="ctr">
              <a:defRPr sz="1463" b="0">
                <a:solidFill>
                  <a:srgbClr val="F5F6F8"/>
                </a:solidFill>
                <a:latin typeface="Arial"/>
                <a:ea typeface="Arial"/>
                <a:cs typeface="Arial"/>
              </a:defRPr>
            </a:lvl4pPr>
            <a:lvl5pPr algn="ctr">
              <a:defRPr sz="1463" b="0">
                <a:solidFill>
                  <a:srgbClr val="F5F6F8"/>
                </a:solidFill>
                <a:latin typeface="Arial"/>
                <a:ea typeface="Arial"/>
                <a:cs typeface="Arial"/>
              </a:defRPr>
            </a:lvl5pPr>
            <a:lvl6pPr algn="ctr">
              <a:defRPr sz="1463" b="0">
                <a:solidFill>
                  <a:srgbClr val="F5F6F8"/>
                </a:solidFill>
                <a:latin typeface="Arial"/>
                <a:ea typeface="Arial"/>
                <a:cs typeface="Arial"/>
              </a:defRPr>
            </a:lvl6pPr>
            <a:lvl7pPr algn="ctr">
              <a:defRPr sz="1463" b="0">
                <a:solidFill>
                  <a:srgbClr val="F5F6F8"/>
                </a:solidFill>
                <a:latin typeface="Arial"/>
                <a:ea typeface="Arial"/>
                <a:cs typeface="Arial"/>
              </a:defRPr>
            </a:lvl7pPr>
            <a:lvl8pPr algn="ctr">
              <a:defRPr sz="1463" b="0">
                <a:solidFill>
                  <a:srgbClr val="F5F6F8"/>
                </a:solidFill>
                <a:latin typeface="Arial"/>
                <a:ea typeface="Arial"/>
                <a:cs typeface="Arial"/>
              </a:defRPr>
            </a:lvl8pPr>
            <a:lvl9pPr algn="ctr">
              <a:defRPr sz="1463" b="0">
                <a:solidFill>
                  <a:srgbClr val="F5F6F8"/>
                </a:solidFill>
                <a:latin typeface="Arial"/>
                <a:ea typeface="Arial"/>
                <a:cs typeface="Arial"/>
              </a:defRPr>
            </a:lvl9pPr>
          </a:lstStyle>
          <a:p xmlns:a="http://schemas.openxmlformats.org/drawingml/2006/main">
            <a:pPr algn="ctr">
              <a:defRPr sz="1463" b="0">
                <a:solidFill>
                  <a:srgbClr val="F5F6F8"/>
                </a:solidFill>
                <a:latin typeface="Arial"/>
                <a:ea typeface="Arial"/>
                <a:cs typeface="Arial"/>
              </a:defRPr>
            </a:pPr>
            <a:r>
              <a:rPr sz="1463" b="0">
                <a:solidFill>
                  <a:srgbClr val="F5F6F8"/>
                </a:solidFill>
                <a:latin typeface="Arial"/>
                <a:ea typeface="Arial"/>
                <a:cs typeface="Arial"/>
              </a:rPr>
              <a:t>12  Separate outcomes</a:t>
            </a:r>
          </a:p>
        </p:txBody>
      </p:sp>
    </p:spTree>
    <p:extLst>
      <p:ext uri="{BB962C8B-B14F-4D97-AF65-F5344CB8AC3E}">
        <p14:creationId xmlns:p14="http://schemas.microsoft.com/office/powerpoint/2010/main" val="328679669"/>
      </p:ext>
    </p:extLst>
  </p:cSld>
</p:sld>
</file>

<file path=ppt/slides/slide7.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36299B6-F32E-4A2E-A437-AF82C5E73760}"/>
              </a:ext>
            </a:extLst>
          </p:cNvPr>
          <p:cNvPicPr>
            <a:picLocks xmlns:a="http://schemas.openxmlformats.org/drawingml/2006/main" noChangeAspect="1"/>
          </p:cNvPicPr>
          <p:nvPr/>
        </p:nvPicPr>
        <p:blipFill>
          <a:blip xmlns:r="http://schemas.openxmlformats.org/officeDocument/2006/relationships" xmlns:a="http://schemas.openxmlformats.org/drawingml/2006/main" r:embed="R9c1f29f5baba42ab">
            <a:extLst>
              <a:ext uri="{96DAC541-7B7A-43D3-8B79-37D633B846F1}">
                <asvg:svgBlip xmlns:asvg="http://schemas.microsoft.com/office/drawing/2016/SVG/main" r:embed="R8932f213c6bc496b"/>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Shared budgets and payment identity">
            <a:extLst xmlns:a="http://schemas.openxmlformats.org/drawingml/2006/main">
              <a:ext uri="{FF2B5EF4-FFF2-40B4-BE49-F238E27FC236}">
                <a16:creationId xmlns:a16="http://schemas.microsoft.com/office/drawing/2014/main" id="{070ADDBB-6159-49A5-9044-074CE5411439}"/>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Shared budgets and payment identity</a:t>
            </a:r>
          </a:p>
        </p:txBody>
      </p:sp>
      <p:sp>
        <p:nvSpPr>
          <p:cNvPr id="4" name="Mandate Labs">
            <a:extLst xmlns:a="http://schemas.openxmlformats.org/drawingml/2006/main">
              <a:ext uri="{FF2B5EF4-FFF2-40B4-BE49-F238E27FC236}">
                <a16:creationId xmlns:a16="http://schemas.microsoft.com/office/drawing/2014/main" id="{EB2BEABE-3D54-4013-AA43-A56B9B54303A}"/>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7">
            <a:extLst xmlns:a="http://schemas.openxmlformats.org/drawingml/2006/main">
              <a:ext uri="{FF2B5EF4-FFF2-40B4-BE49-F238E27FC236}">
                <a16:creationId xmlns:a16="http://schemas.microsoft.com/office/drawing/2014/main" id="{463551C8-9C1E-420C-AED6-EE7193DBAE4B}"/>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07</a:t>
            </a:r>
          </a:p>
        </p:txBody>
      </p:sp>
      <p:sp>
        <p:nvSpPr>
          <p:cNvPr id="6" name="occupied(root) ≤ budget(root)    occupied(session) ≤ budget(session)">
            <a:extLst xmlns:a="http://schemas.openxmlformats.org/drawingml/2006/main">
              <a:ext uri="{FF2B5EF4-FFF2-40B4-BE49-F238E27FC236}">
                <a16:creationId xmlns:a16="http://schemas.microsoft.com/office/drawing/2014/main" id="{12CAE34D-4C0B-4DB8-A32D-4002D8B939D7}"/>
              </a:ext>
            </a:extLst>
          </p:cNvPr>
          <p:cNvSpPr>
            <a:spLocks xmlns:a="http://schemas.openxmlformats.org/drawingml/2006/main" noGrp="1"/>
          </p:cNvSpPr>
          <p:nvPr/>
        </p:nvSpPr>
        <p:spPr>
          <a:xfrm xmlns:a="http://schemas.openxmlformats.org/drawingml/2006/main">
            <a:off x="609600" y="1990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2ACFF"/>
                </a:solidFill>
                <a:latin typeface="Arial"/>
                <a:ea typeface="Arial"/>
                <a:cs typeface="Arial"/>
              </a:defRPr>
            </a:defPPr>
            <a:lvl1pPr algn="l">
              <a:defRPr sz="2250" b="1">
                <a:solidFill>
                  <a:srgbClr val="62ACFF"/>
                </a:solidFill>
                <a:latin typeface="Arial"/>
                <a:ea typeface="Arial"/>
                <a:cs typeface="Arial"/>
              </a:defRPr>
            </a:lvl1pPr>
            <a:lvl2pPr algn="l">
              <a:defRPr sz="2250" b="1">
                <a:solidFill>
                  <a:srgbClr val="62ACFF"/>
                </a:solidFill>
                <a:latin typeface="Arial"/>
                <a:ea typeface="Arial"/>
                <a:cs typeface="Arial"/>
              </a:defRPr>
            </a:lvl2pPr>
            <a:lvl3pPr algn="l">
              <a:defRPr sz="2250" b="1">
                <a:solidFill>
                  <a:srgbClr val="62ACFF"/>
                </a:solidFill>
                <a:latin typeface="Arial"/>
                <a:ea typeface="Arial"/>
                <a:cs typeface="Arial"/>
              </a:defRPr>
            </a:lvl3pPr>
            <a:lvl4pPr algn="l">
              <a:defRPr sz="2250" b="1">
                <a:solidFill>
                  <a:srgbClr val="62ACFF"/>
                </a:solidFill>
                <a:latin typeface="Arial"/>
                <a:ea typeface="Arial"/>
                <a:cs typeface="Arial"/>
              </a:defRPr>
            </a:lvl4pPr>
            <a:lvl5pPr algn="l">
              <a:defRPr sz="2250" b="1">
                <a:solidFill>
                  <a:srgbClr val="62ACFF"/>
                </a:solidFill>
                <a:latin typeface="Arial"/>
                <a:ea typeface="Arial"/>
                <a:cs typeface="Arial"/>
              </a:defRPr>
            </a:lvl5pPr>
            <a:lvl6pPr algn="l">
              <a:defRPr sz="2250" b="1">
                <a:solidFill>
                  <a:srgbClr val="62ACFF"/>
                </a:solidFill>
                <a:latin typeface="Arial"/>
                <a:ea typeface="Arial"/>
                <a:cs typeface="Arial"/>
              </a:defRPr>
            </a:lvl6pPr>
            <a:lvl7pPr algn="l">
              <a:defRPr sz="2250" b="1">
                <a:solidFill>
                  <a:srgbClr val="62ACFF"/>
                </a:solidFill>
                <a:latin typeface="Arial"/>
                <a:ea typeface="Arial"/>
                <a:cs typeface="Arial"/>
              </a:defRPr>
            </a:lvl7pPr>
            <a:lvl8pPr algn="l">
              <a:defRPr sz="2250" b="1">
                <a:solidFill>
                  <a:srgbClr val="62ACFF"/>
                </a:solidFill>
                <a:latin typeface="Arial"/>
                <a:ea typeface="Arial"/>
                <a:cs typeface="Arial"/>
              </a:defRPr>
            </a:lvl8pPr>
            <a:lvl9pPr algn="l">
              <a:defRPr sz="2250" b="1">
                <a:solidFill>
                  <a:srgbClr val="62ACFF"/>
                </a:solidFill>
                <a:latin typeface="Arial"/>
                <a:ea typeface="Arial"/>
                <a:cs typeface="Arial"/>
              </a:defRPr>
            </a:lvl9pPr>
          </a:lstStyle>
          <a:p xmlns:a="http://schemas.openxmlformats.org/drawingml/2006/main">
            <a:pPr algn="l">
              <a:defRPr sz="2250" b="1">
                <a:solidFill>
                  <a:srgbClr val="62ACFF"/>
                </a:solidFill>
                <a:latin typeface="Arial"/>
                <a:ea typeface="Arial"/>
                <a:cs typeface="Arial"/>
              </a:defRPr>
            </a:pPr>
            <a:r>
              <a:rPr sz="2250" b="1">
                <a:solidFill>
                  <a:srgbClr val="62ACFF"/>
                </a:solidFill>
                <a:latin typeface="Arial"/>
                <a:ea typeface="Arial"/>
                <a:cs typeface="Arial"/>
              </a:rPr>
              <a:t>occupied(root) ≤ budget(root)    occupied(session) ≤ budget(session)</a:t>
            </a:r>
          </a:p>
        </p:txBody>
      </p:sp>
      <p:graphicFrame>
        <p:nvGraphicFramePr>
          <p:cNvPr id="7" name="">
            <a:extLst xmlns:a="http://schemas.openxmlformats.org/drawingml/2006/main">
              <a:ext uri="{FF2B5EF4-FFF2-40B4-BE49-F238E27FC236}">
                <a16:creationId xmlns:a16="http://schemas.microsoft.com/office/drawing/2014/main" id="{B9877821-249D-4058-8F43-FABD7E7F3103}"/>
              </a:ext>
            </a:extLst>
          </p:cNvPr>
          <p:cNvGraphicFramePr/>
          <p:nvPr/>
        </p:nvGraphicFramePr>
        <p:xfrm>
          <a:off xmlns:a="http://schemas.openxmlformats.org/drawingml/2006/main" x="609600" y="2657475"/>
          <a:ext xmlns:a="http://schemas.openxmlformats.org/drawingml/2006/main" cx="10972800" cy="3086100"/>
        </p:xfrm>
        <a:graphic xmlns:a="http://schemas.openxmlformats.org/drawingml/2006/main">
          <a:graphicData uri="http://schemas.openxmlformats.org/drawingml/2006/table">
            <a:tbl>
              <a:tblPr firstRow="1" bandRow="0"/>
              <a:tblGrid>
                <a:gridCol w="2857500"/>
                <a:gridCol w="8115300"/>
              </a:tblGrid>
              <a:tr h="514350">
                <a:tc>
                  <a:txBody>
                    <a:bodyPr wrap="square" lIns="123825" tIns="123825" rIns="123825" bIns="123825">
                      <a:noAutofit/>
                    </a:bodyPr>
                    <a:lstStyle/>
                    <a:p>
                      <a:r>
                        <a:rPr sz="1800" b="1">
                          <a:solidFill>
                            <a:srgbClr val="62ACFF"/>
                          </a:solidFill>
                          <a:latin typeface="Arial"/>
                          <a:ea typeface="Arial"/>
                          <a:cs typeface="Arial"/>
                        </a:rPr>
                        <a:t>Constraint</a:t>
                      </a:r>
                    </a:p>
                  </a:txBody>
                  <a:tcPr marL="91440" marR="91440" marT="45720" marB="45720" anchor="ctr">
                    <a:lnL w="9525">
                      <a:solidFill>
                        <a:srgbClr val="354052"/>
                      </a:solidFill>
                      <a:prstDash val="solid"/>
                    </a:lnL>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c>
                  <a:txBody>
                    <a:bodyPr wrap="square" lIns="123825" tIns="123825" rIns="123825" bIns="123825">
                      <a:noAutofit/>
                    </a:bodyPr>
                    <a:lstStyle/>
                    <a:p>
                      <a:r>
                        <a:rPr sz="1800" b="1">
                          <a:solidFill>
                            <a:srgbClr val="62ACFF"/>
                          </a:solidFill>
                          <a:latin typeface="Arial"/>
                          <a:ea typeface="Arial"/>
                          <a:cs typeface="Arial"/>
                        </a:rPr>
                        <a:t>Implemented rule</a:t>
                      </a:r>
                    </a:p>
                  </a:txBody>
                  <a:tcPr marL="91440" marR="91440" marT="45720" marB="45720" anchor="ctr">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r>
              <a:tr h="514350">
                <a:tc>
                  <a:txBody>
                    <a:bodyPr wrap="square" lIns="123825" tIns="123825" rIns="123825" bIns="123825">
                      <a:noAutofit/>
                    </a:bodyPr>
                    <a:lstStyle/>
                    <a:p>
                      <a:r>
                        <a:rPr sz="1800" b="0">
                          <a:solidFill>
                            <a:srgbClr val="F5F6F8"/>
                          </a:solidFill>
                          <a:latin typeface="Arial"/>
                          <a:ea typeface="Arial"/>
                          <a:cs typeface="Arial"/>
                        </a:rPr>
                        <a:t>Registration</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00" b="0">
                          <a:solidFill>
                            <a:srgbClr val="F5F6F8"/>
                          </a:solidFill>
                          <a:latin typeface="Arial"/>
                          <a:ea typeface="Arial"/>
                          <a:cs typeface="Arial"/>
                        </a:rPr>
                        <a:t>EIP-712 binds chain, wallet, policy, session and payment</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r h="514350">
                <a:tc>
                  <a:txBody>
                    <a:bodyPr wrap="square" lIns="123825" tIns="123825" rIns="123825" bIns="123825">
                      <a:noAutofit/>
                    </a:bodyPr>
                    <a:lstStyle/>
                    <a:p>
                      <a:r>
                        <a:rPr sz="1800" b="0">
                          <a:solidFill>
                            <a:srgbClr val="F5F6F8"/>
                          </a:solidFill>
                          <a:latin typeface="Arial"/>
                          <a:ea typeface="Arial"/>
                          <a:cs typeface="Arial"/>
                        </a:rPr>
                        <a:t>Shared budget</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00" b="0">
                          <a:solidFill>
                            <a:srgbClr val="F5F6F8"/>
                          </a:solidFill>
                          <a:latin typeface="Arial"/>
                          <a:ea typeface="Arial"/>
                          <a:cs typeface="Arial"/>
                        </a:rPr>
                        <a:t>Atomic root and session reservations</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r h="514350">
                <a:tc>
                  <a:txBody>
                    <a:bodyPr wrap="square" lIns="123825" tIns="123825" rIns="123825" bIns="123825">
                      <a:noAutofit/>
                    </a:bodyPr>
                    <a:lstStyle/>
                    <a:p>
                      <a:r>
                        <a:rPr sz="1800" b="0">
                          <a:solidFill>
                            <a:srgbClr val="F5F6F8"/>
                          </a:solidFill>
                          <a:latin typeface="Arial"/>
                          <a:ea typeface="Arial"/>
                          <a:cs typeface="Arial"/>
                        </a:rPr>
                        <a:t>Business retry</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00" b="0">
                          <a:solidFill>
                            <a:srgbClr val="F5F6F8"/>
                          </a:solidFill>
                          <a:latin typeface="Arial"/>
                          <a:ea typeface="Arial"/>
                          <a:cs typeface="Arial"/>
                        </a:rPr>
                        <a:t>Permanent used step and deterministic nonce</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r h="514350">
                <a:tc>
                  <a:txBody>
                    <a:bodyPr wrap="square" lIns="123825" tIns="123825" rIns="123825" bIns="123825">
                      <a:noAutofit/>
                    </a:bodyPr>
                    <a:lstStyle/>
                    <a:p>
                      <a:r>
                        <a:rPr sz="1800" b="0">
                          <a:solidFill>
                            <a:srgbClr val="F5F6F8"/>
                          </a:solidFill>
                          <a:latin typeface="Arial"/>
                          <a:ea typeface="Arial"/>
                          <a:cs typeface="Arial"/>
                        </a:rPr>
                        <a:t>Settlement</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00" b="0">
                          <a:solidFill>
                            <a:srgbClr val="F5F6F8"/>
                          </a:solidFill>
                          <a:latin typeface="Arial"/>
                          <a:ea typeface="Arial"/>
                          <a:cs typeface="Arial"/>
                        </a:rPr>
                        <a:t>Registered digest with live version and epoch</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r h="514350">
                <a:tc>
                  <a:txBody>
                    <a:bodyPr wrap="square" lIns="123825" tIns="123825" rIns="123825" bIns="123825">
                      <a:noAutofit/>
                    </a:bodyPr>
                    <a:lstStyle/>
                    <a:p>
                      <a:r>
                        <a:rPr sz="1800" b="0">
                          <a:solidFill>
                            <a:srgbClr val="F5F6F8"/>
                          </a:solidFill>
                          <a:latin typeface="Arial"/>
                          <a:ea typeface="Arial"/>
                          <a:cs typeface="Arial"/>
                        </a:rPr>
                        <a:t>Safe release</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00" b="0">
                          <a:solidFill>
                            <a:srgbClr val="F5F6F8"/>
                          </a:solidFill>
                          <a:latin typeface="Arial"/>
                          <a:ea typeface="Arial"/>
                          <a:cs typeface="Arial"/>
                        </a:rPr>
                        <a:t>Strict expiry and unused token nonce</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bl>
          </a:graphicData>
        </a:graphic>
      </p:graphicFrame>
      <p:sp>
        <p:nvSpPr>
          <p:cNvPr id="8" name="Concurrent 0.10 requests against 0.15: at most one reserves before rel">
            <a:extLst xmlns:a="http://schemas.openxmlformats.org/drawingml/2006/main">
              <a:ext uri="{FF2B5EF4-FFF2-40B4-BE49-F238E27FC236}">
                <a16:creationId xmlns:a16="http://schemas.microsoft.com/office/drawing/2014/main" id="{D0D174EE-E5E1-40EE-BAB4-286232189761}"/>
              </a:ext>
            </a:extLst>
          </p:cNvPr>
          <p:cNvSpPr>
            <a:spLocks xmlns:a="http://schemas.openxmlformats.org/drawingml/2006/main" noGrp="1"/>
          </p:cNvSpPr>
          <p:nvPr/>
        </p:nvSpPr>
        <p:spPr>
          <a:xfrm xmlns:a="http://schemas.openxmlformats.org/drawingml/2006/main">
            <a:off x="609600" y="586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0A5AF"/>
                </a:solidFill>
                <a:latin typeface="Arial"/>
                <a:ea typeface="Arial"/>
                <a:cs typeface="Arial"/>
              </a:defRPr>
            </a:defPPr>
            <a:lvl1pPr algn="l">
              <a:defRPr sz="1875" b="0">
                <a:solidFill>
                  <a:srgbClr val="A0A5AF"/>
                </a:solidFill>
                <a:latin typeface="Arial"/>
                <a:ea typeface="Arial"/>
                <a:cs typeface="Arial"/>
              </a:defRPr>
            </a:lvl1pPr>
            <a:lvl2pPr algn="l">
              <a:defRPr sz="1875" b="0">
                <a:solidFill>
                  <a:srgbClr val="A0A5AF"/>
                </a:solidFill>
                <a:latin typeface="Arial"/>
                <a:ea typeface="Arial"/>
                <a:cs typeface="Arial"/>
              </a:defRPr>
            </a:lvl2pPr>
            <a:lvl3pPr algn="l">
              <a:defRPr sz="1875" b="0">
                <a:solidFill>
                  <a:srgbClr val="A0A5AF"/>
                </a:solidFill>
                <a:latin typeface="Arial"/>
                <a:ea typeface="Arial"/>
                <a:cs typeface="Arial"/>
              </a:defRPr>
            </a:lvl3pPr>
            <a:lvl4pPr algn="l">
              <a:defRPr sz="1875" b="0">
                <a:solidFill>
                  <a:srgbClr val="A0A5AF"/>
                </a:solidFill>
                <a:latin typeface="Arial"/>
                <a:ea typeface="Arial"/>
                <a:cs typeface="Arial"/>
              </a:defRPr>
            </a:lvl4pPr>
            <a:lvl5pPr algn="l">
              <a:defRPr sz="1875" b="0">
                <a:solidFill>
                  <a:srgbClr val="A0A5AF"/>
                </a:solidFill>
                <a:latin typeface="Arial"/>
                <a:ea typeface="Arial"/>
                <a:cs typeface="Arial"/>
              </a:defRPr>
            </a:lvl5pPr>
            <a:lvl6pPr algn="l">
              <a:defRPr sz="1875" b="0">
                <a:solidFill>
                  <a:srgbClr val="A0A5AF"/>
                </a:solidFill>
                <a:latin typeface="Arial"/>
                <a:ea typeface="Arial"/>
                <a:cs typeface="Arial"/>
              </a:defRPr>
            </a:lvl6pPr>
            <a:lvl7pPr algn="l">
              <a:defRPr sz="1875" b="0">
                <a:solidFill>
                  <a:srgbClr val="A0A5AF"/>
                </a:solidFill>
                <a:latin typeface="Arial"/>
                <a:ea typeface="Arial"/>
                <a:cs typeface="Arial"/>
              </a:defRPr>
            </a:lvl7pPr>
            <a:lvl8pPr algn="l">
              <a:defRPr sz="1875" b="0">
                <a:solidFill>
                  <a:srgbClr val="A0A5AF"/>
                </a:solidFill>
                <a:latin typeface="Arial"/>
                <a:ea typeface="Arial"/>
                <a:cs typeface="Arial"/>
              </a:defRPr>
            </a:lvl8pPr>
            <a:lvl9pPr algn="l">
              <a:defRPr sz="1875" b="0">
                <a:solidFill>
                  <a:srgbClr val="A0A5AF"/>
                </a:solidFill>
                <a:latin typeface="Arial"/>
                <a:ea typeface="Arial"/>
                <a:cs typeface="Arial"/>
              </a:defRPr>
            </a:lvl9pPr>
          </a:lstStyle>
          <a:p xmlns:a="http://schemas.openxmlformats.org/drawingml/2006/main">
            <a:pPr algn="l">
              <a:defRPr sz="1875" b="0">
                <a:solidFill>
                  <a:srgbClr val="A0A5AF"/>
                </a:solidFill>
                <a:latin typeface="Arial"/>
                <a:ea typeface="Arial"/>
                <a:cs typeface="Arial"/>
              </a:defRPr>
            </a:pPr>
            <a:r>
              <a:rPr sz="1875" b="0">
                <a:solidFill>
                  <a:srgbClr val="A0A5AF"/>
                </a:solidFill>
                <a:latin typeface="Arial"/>
                <a:ea typeface="Arial"/>
                <a:cs typeface="Arial"/>
              </a:rPr>
              <a:t>Concurrent 0.10 requests against 0.15: at most one reserves before release.</a:t>
            </a:r>
          </a:p>
        </p:txBody>
      </p:sp>
    </p:spTree>
    <p:extLst>
      <p:ext uri="{BB962C8B-B14F-4D97-AF65-F5344CB8AC3E}">
        <p14:creationId xmlns:p14="http://schemas.microsoft.com/office/powerpoint/2010/main" val="1743430125"/>
      </p:ext>
    </p:extLst>
  </p:cSld>
</p:sld>
</file>

<file path=ppt/slides/slide8.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A7A4568-5662-44C5-B6A8-82483C4DA8C0}"/>
              </a:ext>
            </a:extLst>
          </p:cNvPr>
          <p:cNvPicPr>
            <a:picLocks xmlns:a="http://schemas.openxmlformats.org/drawingml/2006/main" noChangeAspect="1"/>
          </p:cNvPicPr>
          <p:nvPr/>
        </p:nvPicPr>
        <p:blipFill>
          <a:blip xmlns:r="http://schemas.openxmlformats.org/officeDocument/2006/relationships" xmlns:a="http://schemas.openxmlformats.org/drawingml/2006/main" r:embed="R69e06650a01c45b5">
            <a:extLst>
              <a:ext uri="{96DAC541-7B7A-43D3-8B79-37D633B846F1}">
                <asvg:svgBlip xmlns:asvg="http://schemas.microsoft.com/office/drawing/2016/SVG/main" r:embed="R50d90028d6d14ebf"/>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Recovery preserves the original payment">
            <a:extLst xmlns:a="http://schemas.openxmlformats.org/drawingml/2006/main">
              <a:ext uri="{FF2B5EF4-FFF2-40B4-BE49-F238E27FC236}">
                <a16:creationId xmlns:a16="http://schemas.microsoft.com/office/drawing/2014/main" id="{0ED830A2-CA97-4DE7-AE16-4A597674F914}"/>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Recovery preserves the original payment</a:t>
            </a:r>
          </a:p>
        </p:txBody>
      </p:sp>
      <p:sp>
        <p:nvSpPr>
          <p:cNvPr id="4" name="Mandate Labs">
            <a:extLst xmlns:a="http://schemas.openxmlformats.org/drawingml/2006/main">
              <a:ext uri="{FF2B5EF4-FFF2-40B4-BE49-F238E27FC236}">
                <a16:creationId xmlns:a16="http://schemas.microsoft.com/office/drawing/2014/main" id="{E13B5231-F7E5-4879-8782-1BE646CCF1C3}"/>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8">
            <a:extLst xmlns:a="http://schemas.openxmlformats.org/drawingml/2006/main">
              <a:ext uri="{FF2B5EF4-FFF2-40B4-BE49-F238E27FC236}">
                <a16:creationId xmlns:a16="http://schemas.microsoft.com/office/drawing/2014/main" id="{6C351E3F-DCF5-4ABB-BB67-2A8677D0883D}"/>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513E4091-6753-4623-9D89-7A77203F3BB3}"/>
              </a:ext>
            </a:extLst>
          </p:cNvPr>
          <p:cNvGraphicFramePr/>
          <p:nvPr/>
        </p:nvGraphicFramePr>
        <p:xfrm>
          <a:off xmlns:a="http://schemas.openxmlformats.org/drawingml/2006/main" x="609600" y="2238375"/>
          <a:ext xmlns:a="http://schemas.openxmlformats.org/drawingml/2006/main" cx="10972800" cy="2247900"/>
        </p:xfrm>
        <a:graphic xmlns:a="http://schemas.openxmlformats.org/drawingml/2006/main">
          <a:graphicData uri="http://schemas.openxmlformats.org/drawingml/2006/table">
            <a:tbl>
              <a:tblPr firstRow="1" bandRow="0"/>
              <a:tblGrid>
                <a:gridCol w="4286250"/>
                <a:gridCol w="2000250"/>
                <a:gridCol w="2190750"/>
                <a:gridCol w="2495550"/>
              </a:tblGrid>
              <a:tr h="749300">
                <a:tc>
                  <a:txBody>
                    <a:bodyPr wrap="square" lIns="123825" tIns="123825" rIns="123825" bIns="123825">
                      <a:noAutofit/>
                    </a:bodyPr>
                    <a:lstStyle/>
                    <a:p>
                      <a:r>
                        <a:rPr sz="1875" b="1">
                          <a:solidFill>
                            <a:srgbClr val="62ACFF"/>
                          </a:solidFill>
                          <a:latin typeface="Arial"/>
                          <a:ea typeface="Arial"/>
                          <a:cs typeface="Arial"/>
                        </a:rPr>
                        <a:t>Observation</a:t>
                      </a:r>
                    </a:p>
                  </a:txBody>
                  <a:tcPr marL="91440" marR="91440" marT="45720" marB="45720" anchor="ctr">
                    <a:lnL w="9525">
                      <a:solidFill>
                        <a:srgbClr val="354052"/>
                      </a:solidFill>
                      <a:prstDash val="solid"/>
                    </a:lnL>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c>
                  <a:txBody>
                    <a:bodyPr wrap="square" lIns="123825" tIns="123825" rIns="123825" bIns="123825">
                      <a:noAutofit/>
                    </a:bodyPr>
                    <a:lstStyle/>
                    <a:p>
                      <a:r>
                        <a:rPr sz="1875" b="1">
                          <a:solidFill>
                            <a:srgbClr val="62ACFF"/>
                          </a:solidFill>
                          <a:latin typeface="Arial"/>
                          <a:ea typeface="Arial"/>
                          <a:cs typeface="Arial"/>
                        </a:rPr>
                        <a:t>Payment</a:t>
                      </a:r>
                    </a:p>
                  </a:txBody>
                  <a:tcPr marL="91440" marR="91440" marT="45720" marB="45720" anchor="ctr">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c>
                  <a:txBody>
                    <a:bodyPr wrap="square" lIns="123825" tIns="123825" rIns="123825" bIns="123825">
                      <a:noAutofit/>
                    </a:bodyPr>
                    <a:lstStyle/>
                    <a:p>
                      <a:r>
                        <a:rPr sz="1875" b="1">
                          <a:solidFill>
                            <a:srgbClr val="62ACFF"/>
                          </a:solidFill>
                          <a:latin typeface="Arial"/>
                          <a:ea typeface="Arial"/>
                          <a:cs typeface="Arial"/>
                        </a:rPr>
                        <a:t>Delivery</a:t>
                      </a:r>
                    </a:p>
                  </a:txBody>
                  <a:tcPr marL="91440" marR="91440" marT="45720" marB="45720" anchor="ctr">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c>
                  <a:txBody>
                    <a:bodyPr wrap="square" lIns="123825" tIns="123825" rIns="123825" bIns="123825">
                      <a:noAutofit/>
                    </a:bodyPr>
                    <a:lstStyle/>
                    <a:p>
                      <a:r>
                        <a:rPr sz="1875" b="1">
                          <a:solidFill>
                            <a:srgbClr val="62ACFF"/>
                          </a:solidFill>
                          <a:latin typeface="Arial"/>
                          <a:ea typeface="Arial"/>
                          <a:cs typeface="Arial"/>
                        </a:rPr>
                        <a:t>Result</a:t>
                      </a:r>
                    </a:p>
                  </a:txBody>
                  <a:tcPr marL="91440" marR="91440" marT="45720" marB="45720" anchor="ctr">
                    <a:lnR w="9525">
                      <a:solidFill>
                        <a:srgbClr val="354052"/>
                      </a:solidFill>
                      <a:prstDash val="solid"/>
                    </a:lnR>
                    <a:lnT w="9525">
                      <a:solidFill>
                        <a:srgbClr val="354052"/>
                      </a:solidFill>
                      <a:prstDash val="solid"/>
                    </a:lnT>
                    <a:lnB w="9525">
                      <a:solidFill>
                        <a:srgbClr val="354052"/>
                      </a:solidFill>
                      <a:prstDash val="solid"/>
                    </a:lnB>
                    <a:solidFill>
                      <a:srgbClr val="192B43"/>
                    </a:solidFill>
                  </a:tcPr>
                </a:tc>
              </a:tr>
              <a:tr h="749300">
                <a:tc>
                  <a:txBody>
                    <a:bodyPr wrap="square" lIns="123825" tIns="123825" rIns="123825" bIns="123825">
                      <a:noAutofit/>
                    </a:bodyPr>
                    <a:lstStyle/>
                    <a:p>
                      <a:r>
                        <a:rPr sz="1875" b="0">
                          <a:solidFill>
                            <a:srgbClr val="F5F6F8"/>
                          </a:solidFill>
                          <a:latin typeface="Arial"/>
                          <a:ea typeface="Arial"/>
                          <a:cs typeface="Arial"/>
                        </a:rPr>
                        <a:t>First response: HTTP 500</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paid</a:t>
                      </a:r>
                    </a:p>
                  </a:txBody>
                  <a:tcPr marL="91440" marR="91440" marT="45720" marB="45720" anchor="ctr">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failed</a:t>
                      </a:r>
                    </a:p>
                  </a:txBody>
                  <a:tcPr marL="91440" marR="91440" marT="45720" marB="45720" anchor="ctr">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unchecked</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r h="749300">
                <a:tc>
                  <a:txBody>
                    <a:bodyPr wrap="square" lIns="123825" tIns="123825" rIns="123825" bIns="123825">
                      <a:noAutofit/>
                    </a:bodyPr>
                    <a:lstStyle/>
                    <a:p>
                      <a:r>
                        <a:rPr sz="1875" b="0">
                          <a:solidFill>
                            <a:srgbClr val="F5F6F8"/>
                          </a:solidFill>
                          <a:latin typeface="Arial"/>
                          <a:ea typeface="Arial"/>
                          <a:cs typeface="Arial"/>
                        </a:rPr>
                        <a:t>Original-order recovery</a:t>
                      </a:r>
                    </a:p>
                  </a:txBody>
                  <a:tcPr marL="91440" marR="91440" marT="45720" marB="45720" anchor="ctr">
                    <a:lnL w="9525">
                      <a:solidFill>
                        <a:srgbClr val="354052"/>
                      </a:solidFill>
                      <a:prstDash val="solid"/>
                    </a:lnL>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paid</a:t>
                      </a:r>
                    </a:p>
                  </a:txBody>
                  <a:tcPr marL="91440" marR="91440" marT="45720" marB="45720" anchor="ctr">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returned</a:t>
                      </a:r>
                    </a:p>
                  </a:txBody>
                  <a:tcPr marL="91440" marR="91440" marT="45720" marB="45720" anchor="ctr">
                    <a:lnR w="9525">
                      <a:solidFill>
                        <a:srgbClr val="354052"/>
                      </a:solidFill>
                      <a:prstDash val="solid"/>
                    </a:lnR>
                    <a:lnB w="9525">
                      <a:solidFill>
                        <a:srgbClr val="354052"/>
                      </a:solidFill>
                      <a:prstDash val="solid"/>
                    </a:lnB>
                    <a:solidFill>
                      <a:srgbClr val="08090B"/>
                    </a:solidFill>
                  </a:tcPr>
                </a:tc>
                <a:tc>
                  <a:txBody>
                    <a:bodyPr wrap="square" lIns="123825" tIns="123825" rIns="123825" bIns="123825">
                      <a:noAutofit/>
                    </a:bodyPr>
                    <a:lstStyle/>
                    <a:p>
                      <a:r>
                        <a:rPr sz="1875" b="0">
                          <a:solidFill>
                            <a:srgbClr val="F5F6F8"/>
                          </a:solidFill>
                          <a:latin typeface="Arial"/>
                          <a:ea typeface="Arial"/>
                          <a:cs typeface="Arial"/>
                        </a:rPr>
                        <a:t>valid</a:t>
                      </a:r>
                    </a:p>
                  </a:txBody>
                  <a:tcPr marL="91440" marR="91440" marT="45720" marB="45720" anchor="ctr">
                    <a:lnR w="9525">
                      <a:solidFill>
                        <a:srgbClr val="354052"/>
                      </a:solidFill>
                      <a:prstDash val="solid"/>
                    </a:lnR>
                    <a:lnB w="9525">
                      <a:solidFill>
                        <a:srgbClr val="354052"/>
                      </a:solidFill>
                      <a:prstDash val="solid"/>
                    </a:lnB>
                    <a:solidFill>
                      <a:srgbClr val="08090B"/>
                    </a:solidFill>
                  </a:tcPr>
                </a:tc>
              </a:tr>
            </a:tbl>
          </a:graphicData>
        </a:graphic>
      </p:graphicFrame>
      <p:sp>
        <p:nvSpPr>
          <p:cNvPr id="7" name="One 0.01 USDC settlement">
            <a:extLst xmlns:a="http://schemas.openxmlformats.org/drawingml/2006/main">
              <a:ext uri="{FF2B5EF4-FFF2-40B4-BE49-F238E27FC236}">
                <a16:creationId xmlns:a16="http://schemas.microsoft.com/office/drawing/2014/main" id="{9BF2682C-CE3B-481D-9CEC-5FEF4328EE7F}"/>
              </a:ext>
            </a:extLst>
          </p:cNvPr>
          <p:cNvSpPr>
            <a:spLocks xmlns:a="http://schemas.openxmlformats.org/drawingml/2006/main" noGrp="1"/>
          </p:cNvSpPr>
          <p:nvPr/>
        </p:nvSpPr>
        <p:spPr>
          <a:xfrm xmlns:a="http://schemas.openxmlformats.org/drawingml/2006/main">
            <a:off x="609600" y="4972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62ACFF"/>
                </a:solidFill>
                <a:latin typeface="Arial"/>
                <a:ea typeface="Arial"/>
                <a:cs typeface="Arial"/>
              </a:defRPr>
            </a:defPPr>
            <a:lvl1pPr algn="l">
              <a:defRPr sz="3525" b="1">
                <a:solidFill>
                  <a:srgbClr val="62ACFF"/>
                </a:solidFill>
                <a:latin typeface="Arial"/>
                <a:ea typeface="Arial"/>
                <a:cs typeface="Arial"/>
              </a:defRPr>
            </a:lvl1pPr>
            <a:lvl2pPr algn="l">
              <a:defRPr sz="3525" b="1">
                <a:solidFill>
                  <a:srgbClr val="62ACFF"/>
                </a:solidFill>
                <a:latin typeface="Arial"/>
                <a:ea typeface="Arial"/>
                <a:cs typeface="Arial"/>
              </a:defRPr>
            </a:lvl2pPr>
            <a:lvl3pPr algn="l">
              <a:defRPr sz="3525" b="1">
                <a:solidFill>
                  <a:srgbClr val="62ACFF"/>
                </a:solidFill>
                <a:latin typeface="Arial"/>
                <a:ea typeface="Arial"/>
                <a:cs typeface="Arial"/>
              </a:defRPr>
            </a:lvl3pPr>
            <a:lvl4pPr algn="l">
              <a:defRPr sz="3525" b="1">
                <a:solidFill>
                  <a:srgbClr val="62ACFF"/>
                </a:solidFill>
                <a:latin typeface="Arial"/>
                <a:ea typeface="Arial"/>
                <a:cs typeface="Arial"/>
              </a:defRPr>
            </a:lvl4pPr>
            <a:lvl5pPr algn="l">
              <a:defRPr sz="3525" b="1">
                <a:solidFill>
                  <a:srgbClr val="62ACFF"/>
                </a:solidFill>
                <a:latin typeface="Arial"/>
                <a:ea typeface="Arial"/>
                <a:cs typeface="Arial"/>
              </a:defRPr>
            </a:lvl5pPr>
            <a:lvl6pPr algn="l">
              <a:defRPr sz="3525" b="1">
                <a:solidFill>
                  <a:srgbClr val="62ACFF"/>
                </a:solidFill>
                <a:latin typeface="Arial"/>
                <a:ea typeface="Arial"/>
                <a:cs typeface="Arial"/>
              </a:defRPr>
            </a:lvl6pPr>
            <a:lvl7pPr algn="l">
              <a:defRPr sz="3525" b="1">
                <a:solidFill>
                  <a:srgbClr val="62ACFF"/>
                </a:solidFill>
                <a:latin typeface="Arial"/>
                <a:ea typeface="Arial"/>
                <a:cs typeface="Arial"/>
              </a:defRPr>
            </a:lvl7pPr>
            <a:lvl8pPr algn="l">
              <a:defRPr sz="3525" b="1">
                <a:solidFill>
                  <a:srgbClr val="62ACFF"/>
                </a:solidFill>
                <a:latin typeface="Arial"/>
                <a:ea typeface="Arial"/>
                <a:cs typeface="Arial"/>
              </a:defRPr>
            </a:lvl8pPr>
            <a:lvl9pPr algn="l">
              <a:defRPr sz="3525" b="1">
                <a:solidFill>
                  <a:srgbClr val="62ACFF"/>
                </a:solidFill>
                <a:latin typeface="Arial"/>
                <a:ea typeface="Arial"/>
                <a:cs typeface="Arial"/>
              </a:defRPr>
            </a:lvl9pPr>
          </a:lstStyle>
          <a:p xmlns:a="http://schemas.openxmlformats.org/drawingml/2006/main">
            <a:pPr algn="l">
              <a:defRPr sz="3525" b="1">
                <a:solidFill>
                  <a:srgbClr val="62ACFF"/>
                </a:solidFill>
                <a:latin typeface="Arial"/>
                <a:ea typeface="Arial"/>
                <a:cs typeface="Arial"/>
              </a:defRPr>
            </a:pPr>
            <a:r>
              <a:rPr sz="3525" b="1">
                <a:solidFill>
                  <a:srgbClr val="62ACFF"/>
                </a:solidFill>
                <a:latin typeface="Arial"/>
                <a:ea typeface="Arial"/>
                <a:cs typeface="Arial"/>
              </a:rPr>
              <a:t>One 0.01 USDC settlement</a:t>
            </a:r>
          </a:p>
        </p:txBody>
      </p:sp>
      <p:sp>
        <p:nvSpPr>
          <p:cNvPr id="8" name="Same order, business nonce and transaction hash throughout recovery.">
            <a:extLst xmlns:a="http://schemas.openxmlformats.org/drawingml/2006/main">
              <a:ext uri="{FF2B5EF4-FFF2-40B4-BE49-F238E27FC236}">
                <a16:creationId xmlns:a16="http://schemas.microsoft.com/office/drawing/2014/main" id="{5D5B32A1-9F7F-435C-9CBB-B45B651B25B4}"/>
              </a:ext>
            </a:extLst>
          </p:cNvPr>
          <p:cNvSpPr>
            <a:spLocks xmlns:a="http://schemas.openxmlformats.org/drawingml/2006/main" noGrp="1"/>
          </p:cNvSpPr>
          <p:nvPr/>
        </p:nvSpPr>
        <p:spPr>
          <a:xfrm xmlns:a="http://schemas.openxmlformats.org/drawingml/2006/main">
            <a:off x="609600" y="58102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0A5AF"/>
                </a:solidFill>
                <a:latin typeface="Arial"/>
                <a:ea typeface="Arial"/>
                <a:cs typeface="Arial"/>
              </a:defRPr>
            </a:defPPr>
            <a:lvl1pPr algn="l">
              <a:defRPr sz="2025" b="0">
                <a:solidFill>
                  <a:srgbClr val="A0A5AF"/>
                </a:solidFill>
                <a:latin typeface="Arial"/>
                <a:ea typeface="Arial"/>
                <a:cs typeface="Arial"/>
              </a:defRPr>
            </a:lvl1pPr>
            <a:lvl2pPr algn="l">
              <a:defRPr sz="2025" b="0">
                <a:solidFill>
                  <a:srgbClr val="A0A5AF"/>
                </a:solidFill>
                <a:latin typeface="Arial"/>
                <a:ea typeface="Arial"/>
                <a:cs typeface="Arial"/>
              </a:defRPr>
            </a:lvl2pPr>
            <a:lvl3pPr algn="l">
              <a:defRPr sz="2025" b="0">
                <a:solidFill>
                  <a:srgbClr val="A0A5AF"/>
                </a:solidFill>
                <a:latin typeface="Arial"/>
                <a:ea typeface="Arial"/>
                <a:cs typeface="Arial"/>
              </a:defRPr>
            </a:lvl3pPr>
            <a:lvl4pPr algn="l">
              <a:defRPr sz="2025" b="0">
                <a:solidFill>
                  <a:srgbClr val="A0A5AF"/>
                </a:solidFill>
                <a:latin typeface="Arial"/>
                <a:ea typeface="Arial"/>
                <a:cs typeface="Arial"/>
              </a:defRPr>
            </a:lvl4pPr>
            <a:lvl5pPr algn="l">
              <a:defRPr sz="2025" b="0">
                <a:solidFill>
                  <a:srgbClr val="A0A5AF"/>
                </a:solidFill>
                <a:latin typeface="Arial"/>
                <a:ea typeface="Arial"/>
                <a:cs typeface="Arial"/>
              </a:defRPr>
            </a:lvl5pPr>
            <a:lvl6pPr algn="l">
              <a:defRPr sz="2025" b="0">
                <a:solidFill>
                  <a:srgbClr val="A0A5AF"/>
                </a:solidFill>
                <a:latin typeface="Arial"/>
                <a:ea typeface="Arial"/>
                <a:cs typeface="Arial"/>
              </a:defRPr>
            </a:lvl6pPr>
            <a:lvl7pPr algn="l">
              <a:defRPr sz="2025" b="0">
                <a:solidFill>
                  <a:srgbClr val="A0A5AF"/>
                </a:solidFill>
                <a:latin typeface="Arial"/>
                <a:ea typeface="Arial"/>
                <a:cs typeface="Arial"/>
              </a:defRPr>
            </a:lvl7pPr>
            <a:lvl8pPr algn="l">
              <a:defRPr sz="2025" b="0">
                <a:solidFill>
                  <a:srgbClr val="A0A5AF"/>
                </a:solidFill>
                <a:latin typeface="Arial"/>
                <a:ea typeface="Arial"/>
                <a:cs typeface="Arial"/>
              </a:defRPr>
            </a:lvl8pPr>
            <a:lvl9pPr algn="l">
              <a:defRPr sz="2025" b="0">
                <a:solidFill>
                  <a:srgbClr val="A0A5AF"/>
                </a:solidFill>
                <a:latin typeface="Arial"/>
                <a:ea typeface="Arial"/>
                <a:cs typeface="Arial"/>
              </a:defRPr>
            </a:lvl9pPr>
          </a:lstStyle>
          <a:p xmlns:a="http://schemas.openxmlformats.org/drawingml/2006/main">
            <a:pPr algn="l">
              <a:defRPr sz="2025" b="0">
                <a:solidFill>
                  <a:srgbClr val="A0A5AF"/>
                </a:solidFill>
                <a:latin typeface="Arial"/>
                <a:ea typeface="Arial"/>
                <a:cs typeface="Arial"/>
              </a:defRPr>
            </a:pPr>
            <a:r>
              <a:rPr sz="2025" b="0">
                <a:solidFill>
                  <a:srgbClr val="A0A5AF"/>
                </a:solidFill>
                <a:latin typeface="Arial"/>
                <a:ea typeface="Arial"/>
                <a:cs typeface="Arial"/>
              </a:rPr>
              <a:t>Same order, business nonce and transaction hash throughout recovery.</a:t>
            </a:r>
          </a:p>
        </p:txBody>
      </p:sp>
    </p:spTree>
    <p:extLst>
      <p:ext uri="{BB962C8B-B14F-4D97-AF65-F5344CB8AC3E}">
        <p14:creationId xmlns:p14="http://schemas.microsoft.com/office/powerpoint/2010/main" val="1024538258"/>
      </p:ext>
    </p:extLst>
  </p:cSld>
</p:sld>
</file>

<file path=ppt/slides/slide9.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D37FF08-BF47-48BD-B3F2-54E4C7448A4C}"/>
              </a:ext>
            </a:extLst>
          </p:cNvPr>
          <p:cNvPicPr>
            <a:picLocks xmlns:a="http://schemas.openxmlformats.org/drawingml/2006/main" noChangeAspect="1"/>
          </p:cNvPicPr>
          <p:nvPr/>
        </p:nvPicPr>
        <p:blipFill>
          <a:blip xmlns:r="http://schemas.openxmlformats.org/officeDocument/2006/relationships" xmlns:a="http://schemas.openxmlformats.org/drawingml/2006/main" r:embed="Rf6c220bf4120417d">
            <a:extLst>
              <a:ext uri="{96DAC541-7B7A-43D3-8B79-37D633B846F1}">
                <asvg:svgBlip xmlns:asvg="http://schemas.microsoft.com/office/drawing/2016/SVG/main" r:embed="Rca4be4598f874cc1"/>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Research questions and implemented mechanisms">
            <a:extLst xmlns:a="http://schemas.openxmlformats.org/drawingml/2006/main">
              <a:ext uri="{FF2B5EF4-FFF2-40B4-BE49-F238E27FC236}">
                <a16:creationId xmlns:a16="http://schemas.microsoft.com/office/drawing/2014/main" id="{37E19711-25A3-480A-ACEA-E04C0ADFE497}"/>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Research questions and implemented mechanisms</a:t>
            </a:r>
          </a:p>
        </p:txBody>
      </p:sp>
      <p:sp>
        <p:nvSpPr>
          <p:cNvPr id="4" name="Mandate Labs">
            <a:extLst xmlns:a="http://schemas.openxmlformats.org/drawingml/2006/main">
              <a:ext uri="{FF2B5EF4-FFF2-40B4-BE49-F238E27FC236}">
                <a16:creationId xmlns:a16="http://schemas.microsoft.com/office/drawing/2014/main" id="{9E1CCC52-2081-4137-A7B2-330BDDD3283B}"/>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09">
            <a:extLst xmlns:a="http://schemas.openxmlformats.org/drawingml/2006/main">
              <a:ext uri="{FF2B5EF4-FFF2-40B4-BE49-F238E27FC236}">
                <a16:creationId xmlns:a16="http://schemas.microsoft.com/office/drawing/2014/main" id="{13A5277C-F23B-4B94-B8F6-5A419194AAF8}"/>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09</a:t>
            </a:r>
          </a:p>
        </p:txBody>
      </p:sp>
      <p:sp>
        <p:nvSpPr>
          <p:cNvPr id="6" name="01">
            <a:extLst xmlns:a="http://schemas.openxmlformats.org/drawingml/2006/main">
              <a:ext uri="{FF2B5EF4-FFF2-40B4-BE49-F238E27FC236}">
                <a16:creationId xmlns:a16="http://schemas.microsoft.com/office/drawing/2014/main" id="{D55041FB-BF94-4E6D-93AD-84583547DEE4}"/>
              </a:ext>
            </a:extLst>
          </p:cNvPr>
          <p:cNvSpPr>
            <a:spLocks xmlns:a="http://schemas.openxmlformats.org/drawingml/2006/main" noGrp="1"/>
          </p:cNvSpPr>
          <p:nvPr/>
        </p:nvSpPr>
        <p:spPr>
          <a:xfrm xmlns:a="http://schemas.openxmlformats.org/drawingml/2006/main">
            <a:off x="609600" y="2133600"/>
            <a:ext cx="76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62ACFF"/>
                </a:solidFill>
                <a:latin typeface="Arial"/>
                <a:ea typeface="Arial"/>
                <a:cs typeface="Arial"/>
              </a:defRPr>
            </a:defPPr>
            <a:lvl1pPr algn="l">
              <a:defRPr sz="3450" b="1">
                <a:solidFill>
                  <a:srgbClr val="62ACFF"/>
                </a:solidFill>
                <a:latin typeface="Arial"/>
                <a:ea typeface="Arial"/>
                <a:cs typeface="Arial"/>
              </a:defRPr>
            </a:lvl1pPr>
            <a:lvl2pPr algn="l">
              <a:defRPr sz="3450" b="1">
                <a:solidFill>
                  <a:srgbClr val="62ACFF"/>
                </a:solidFill>
                <a:latin typeface="Arial"/>
                <a:ea typeface="Arial"/>
                <a:cs typeface="Arial"/>
              </a:defRPr>
            </a:lvl2pPr>
            <a:lvl3pPr algn="l">
              <a:defRPr sz="3450" b="1">
                <a:solidFill>
                  <a:srgbClr val="62ACFF"/>
                </a:solidFill>
                <a:latin typeface="Arial"/>
                <a:ea typeface="Arial"/>
                <a:cs typeface="Arial"/>
              </a:defRPr>
            </a:lvl3pPr>
            <a:lvl4pPr algn="l">
              <a:defRPr sz="3450" b="1">
                <a:solidFill>
                  <a:srgbClr val="62ACFF"/>
                </a:solidFill>
                <a:latin typeface="Arial"/>
                <a:ea typeface="Arial"/>
                <a:cs typeface="Arial"/>
              </a:defRPr>
            </a:lvl4pPr>
            <a:lvl5pPr algn="l">
              <a:defRPr sz="3450" b="1">
                <a:solidFill>
                  <a:srgbClr val="62ACFF"/>
                </a:solidFill>
                <a:latin typeface="Arial"/>
                <a:ea typeface="Arial"/>
                <a:cs typeface="Arial"/>
              </a:defRPr>
            </a:lvl5pPr>
            <a:lvl6pPr algn="l">
              <a:defRPr sz="3450" b="1">
                <a:solidFill>
                  <a:srgbClr val="62ACFF"/>
                </a:solidFill>
                <a:latin typeface="Arial"/>
                <a:ea typeface="Arial"/>
                <a:cs typeface="Arial"/>
              </a:defRPr>
            </a:lvl6pPr>
            <a:lvl7pPr algn="l">
              <a:defRPr sz="3450" b="1">
                <a:solidFill>
                  <a:srgbClr val="62ACFF"/>
                </a:solidFill>
                <a:latin typeface="Arial"/>
                <a:ea typeface="Arial"/>
                <a:cs typeface="Arial"/>
              </a:defRPr>
            </a:lvl7pPr>
            <a:lvl8pPr algn="l">
              <a:defRPr sz="3450" b="1">
                <a:solidFill>
                  <a:srgbClr val="62ACFF"/>
                </a:solidFill>
                <a:latin typeface="Arial"/>
                <a:ea typeface="Arial"/>
                <a:cs typeface="Arial"/>
              </a:defRPr>
            </a:lvl8pPr>
            <a:lvl9pPr algn="l">
              <a:defRPr sz="3450" b="1">
                <a:solidFill>
                  <a:srgbClr val="62ACFF"/>
                </a:solidFill>
                <a:latin typeface="Arial"/>
                <a:ea typeface="Arial"/>
                <a:cs typeface="Arial"/>
              </a:defRPr>
            </a:lvl9pPr>
          </a:lstStyle>
          <a:p xmlns:a="http://schemas.openxmlformats.org/drawingml/2006/main">
            <a:pPr algn="l">
              <a:defRPr sz="3450" b="1">
                <a:solidFill>
                  <a:srgbClr val="62ACFF"/>
                </a:solidFill>
                <a:latin typeface="Arial"/>
                <a:ea typeface="Arial"/>
                <a:cs typeface="Arial"/>
              </a:defRPr>
            </a:pPr>
            <a:r>
              <a:rPr sz="3450" b="1">
                <a:solidFill>
                  <a:srgbClr val="62ACFF"/>
                </a:solidFill>
                <a:latin typeface="Arial"/>
                <a:ea typeface="Arial"/>
                <a:cs typeface="Arial"/>
              </a:rPr>
              <a:t>01</a:t>
            </a:r>
          </a:p>
        </p:txBody>
      </p:sp>
      <p:sp>
        <p:nvSpPr>
          <p:cNvPr id="7" name="Policy-bound actions">
            <a:extLst xmlns:a="http://schemas.openxmlformats.org/drawingml/2006/main">
              <a:ext uri="{FF2B5EF4-FFF2-40B4-BE49-F238E27FC236}">
                <a16:creationId xmlns:a16="http://schemas.microsoft.com/office/drawing/2014/main" id="{26801297-6141-40A3-9366-AFE13430E32E}"/>
              </a:ext>
            </a:extLst>
          </p:cNvPr>
          <p:cNvSpPr>
            <a:spLocks xmlns:a="http://schemas.openxmlformats.org/drawingml/2006/main" noGrp="1"/>
          </p:cNvSpPr>
          <p:nvPr/>
        </p:nvSpPr>
        <p:spPr>
          <a:xfrm xmlns:a="http://schemas.openxmlformats.org/drawingml/2006/main">
            <a:off x="1685925" y="2162175"/>
            <a:ext cx="98964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5F6F8"/>
                </a:solidFill>
                <a:latin typeface="Arial"/>
                <a:ea typeface="Arial"/>
                <a:cs typeface="Arial"/>
              </a:defRPr>
            </a:defPPr>
            <a:lvl1pPr algn="l">
              <a:defRPr sz="2475" b="1">
                <a:solidFill>
                  <a:srgbClr val="F5F6F8"/>
                </a:solidFill>
                <a:latin typeface="Arial"/>
                <a:ea typeface="Arial"/>
                <a:cs typeface="Arial"/>
              </a:defRPr>
            </a:lvl1pPr>
            <a:lvl2pPr algn="l">
              <a:defRPr sz="2475" b="1">
                <a:solidFill>
                  <a:srgbClr val="F5F6F8"/>
                </a:solidFill>
                <a:latin typeface="Arial"/>
                <a:ea typeface="Arial"/>
                <a:cs typeface="Arial"/>
              </a:defRPr>
            </a:lvl2pPr>
            <a:lvl3pPr algn="l">
              <a:defRPr sz="2475" b="1">
                <a:solidFill>
                  <a:srgbClr val="F5F6F8"/>
                </a:solidFill>
                <a:latin typeface="Arial"/>
                <a:ea typeface="Arial"/>
                <a:cs typeface="Arial"/>
              </a:defRPr>
            </a:lvl3pPr>
            <a:lvl4pPr algn="l">
              <a:defRPr sz="2475" b="1">
                <a:solidFill>
                  <a:srgbClr val="F5F6F8"/>
                </a:solidFill>
                <a:latin typeface="Arial"/>
                <a:ea typeface="Arial"/>
                <a:cs typeface="Arial"/>
              </a:defRPr>
            </a:lvl4pPr>
            <a:lvl5pPr algn="l">
              <a:defRPr sz="2475" b="1">
                <a:solidFill>
                  <a:srgbClr val="F5F6F8"/>
                </a:solidFill>
                <a:latin typeface="Arial"/>
                <a:ea typeface="Arial"/>
                <a:cs typeface="Arial"/>
              </a:defRPr>
            </a:lvl5pPr>
            <a:lvl6pPr algn="l">
              <a:defRPr sz="2475" b="1">
                <a:solidFill>
                  <a:srgbClr val="F5F6F8"/>
                </a:solidFill>
                <a:latin typeface="Arial"/>
                <a:ea typeface="Arial"/>
                <a:cs typeface="Arial"/>
              </a:defRPr>
            </a:lvl6pPr>
            <a:lvl7pPr algn="l">
              <a:defRPr sz="2475" b="1">
                <a:solidFill>
                  <a:srgbClr val="F5F6F8"/>
                </a:solidFill>
                <a:latin typeface="Arial"/>
                <a:ea typeface="Arial"/>
                <a:cs typeface="Arial"/>
              </a:defRPr>
            </a:lvl7pPr>
            <a:lvl8pPr algn="l">
              <a:defRPr sz="2475" b="1">
                <a:solidFill>
                  <a:srgbClr val="F5F6F8"/>
                </a:solidFill>
                <a:latin typeface="Arial"/>
                <a:ea typeface="Arial"/>
                <a:cs typeface="Arial"/>
              </a:defRPr>
            </a:lvl8pPr>
            <a:lvl9pPr algn="l">
              <a:defRPr sz="2475" b="1">
                <a:solidFill>
                  <a:srgbClr val="F5F6F8"/>
                </a:solidFill>
                <a:latin typeface="Arial"/>
                <a:ea typeface="Arial"/>
                <a:cs typeface="Arial"/>
              </a:defRPr>
            </a:lvl9pPr>
          </a:lstStyle>
          <a:p xmlns:a="http://schemas.openxmlformats.org/drawingml/2006/main">
            <a:pPr algn="l">
              <a:defRPr sz="2475" b="1">
                <a:solidFill>
                  <a:srgbClr val="F5F6F8"/>
                </a:solidFill>
                <a:latin typeface="Arial"/>
                <a:ea typeface="Arial"/>
                <a:cs typeface="Arial"/>
              </a:defRPr>
            </a:pPr>
            <a:r>
              <a:rPr sz="2475" b="1">
                <a:solidFill>
                  <a:srgbClr val="F5F6F8"/>
                </a:solidFill>
                <a:latin typeface="Arial"/>
                <a:ea typeface="Arial"/>
                <a:cs typeface="Arial"/>
              </a:rPr>
              <a:t>Policy-bound actions</a:t>
            </a:r>
          </a:p>
        </p:txBody>
      </p:sp>
      <p:sp>
        <p:nvSpPr>
          <p:cNvPr id="8" name="Typed registration and shared reservations">
            <a:extLst xmlns:a="http://schemas.openxmlformats.org/drawingml/2006/main">
              <a:ext uri="{FF2B5EF4-FFF2-40B4-BE49-F238E27FC236}">
                <a16:creationId xmlns:a16="http://schemas.microsoft.com/office/drawing/2014/main" id="{470A8AF0-35B9-42E8-9FBA-500AD09B678B}"/>
              </a:ext>
            </a:extLst>
          </p:cNvPr>
          <p:cNvSpPr>
            <a:spLocks xmlns:a="http://schemas.openxmlformats.org/drawingml/2006/main" noGrp="1"/>
          </p:cNvSpPr>
          <p:nvPr/>
        </p:nvSpPr>
        <p:spPr>
          <a:xfrm xmlns:a="http://schemas.openxmlformats.org/drawingml/2006/main">
            <a:off x="1685925" y="2714625"/>
            <a:ext cx="9896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0A5AF"/>
                </a:solidFill>
                <a:latin typeface="Arial"/>
                <a:ea typeface="Arial"/>
                <a:cs typeface="Arial"/>
              </a:defRPr>
            </a:defPPr>
            <a:lvl1pPr algn="l">
              <a:defRPr sz="2100" b="0">
                <a:solidFill>
                  <a:srgbClr val="A0A5AF"/>
                </a:solidFill>
                <a:latin typeface="Arial"/>
                <a:ea typeface="Arial"/>
                <a:cs typeface="Arial"/>
              </a:defRPr>
            </a:lvl1pPr>
            <a:lvl2pPr algn="l">
              <a:defRPr sz="2100" b="0">
                <a:solidFill>
                  <a:srgbClr val="A0A5AF"/>
                </a:solidFill>
                <a:latin typeface="Arial"/>
                <a:ea typeface="Arial"/>
                <a:cs typeface="Arial"/>
              </a:defRPr>
            </a:lvl2pPr>
            <a:lvl3pPr algn="l">
              <a:defRPr sz="2100" b="0">
                <a:solidFill>
                  <a:srgbClr val="A0A5AF"/>
                </a:solidFill>
                <a:latin typeface="Arial"/>
                <a:ea typeface="Arial"/>
                <a:cs typeface="Arial"/>
              </a:defRPr>
            </a:lvl3pPr>
            <a:lvl4pPr algn="l">
              <a:defRPr sz="2100" b="0">
                <a:solidFill>
                  <a:srgbClr val="A0A5AF"/>
                </a:solidFill>
                <a:latin typeface="Arial"/>
                <a:ea typeface="Arial"/>
                <a:cs typeface="Arial"/>
              </a:defRPr>
            </a:lvl4pPr>
            <a:lvl5pPr algn="l">
              <a:defRPr sz="2100" b="0">
                <a:solidFill>
                  <a:srgbClr val="A0A5AF"/>
                </a:solidFill>
                <a:latin typeface="Arial"/>
                <a:ea typeface="Arial"/>
                <a:cs typeface="Arial"/>
              </a:defRPr>
            </a:lvl5pPr>
            <a:lvl6pPr algn="l">
              <a:defRPr sz="2100" b="0">
                <a:solidFill>
                  <a:srgbClr val="A0A5AF"/>
                </a:solidFill>
                <a:latin typeface="Arial"/>
                <a:ea typeface="Arial"/>
                <a:cs typeface="Arial"/>
              </a:defRPr>
            </a:lvl6pPr>
            <a:lvl7pPr algn="l">
              <a:defRPr sz="2100" b="0">
                <a:solidFill>
                  <a:srgbClr val="A0A5AF"/>
                </a:solidFill>
                <a:latin typeface="Arial"/>
                <a:ea typeface="Arial"/>
                <a:cs typeface="Arial"/>
              </a:defRPr>
            </a:lvl7pPr>
            <a:lvl8pPr algn="l">
              <a:defRPr sz="2100" b="0">
                <a:solidFill>
                  <a:srgbClr val="A0A5AF"/>
                </a:solidFill>
                <a:latin typeface="Arial"/>
                <a:ea typeface="Arial"/>
                <a:cs typeface="Arial"/>
              </a:defRPr>
            </a:lvl8pPr>
            <a:lvl9pPr algn="l">
              <a:defRPr sz="2100" b="0">
                <a:solidFill>
                  <a:srgbClr val="A0A5AF"/>
                </a:solidFill>
                <a:latin typeface="Arial"/>
                <a:ea typeface="Arial"/>
                <a:cs typeface="Arial"/>
              </a:defRPr>
            </a:lvl9pPr>
          </a:lstStyle>
          <a:p xmlns:a="http://schemas.openxmlformats.org/drawingml/2006/main">
            <a:pPr algn="l">
              <a:defRPr sz="2100" b="0">
                <a:solidFill>
                  <a:srgbClr val="A0A5AF"/>
                </a:solidFill>
                <a:latin typeface="Arial"/>
                <a:ea typeface="Arial"/>
                <a:cs typeface="Arial"/>
              </a:defRPr>
            </a:pPr>
            <a:r>
              <a:rPr sz="2100" b="0">
                <a:solidFill>
                  <a:srgbClr val="A0A5AF"/>
                </a:solidFill>
                <a:latin typeface="Arial"/>
                <a:ea typeface="Arial"/>
                <a:cs typeface="Arial"/>
              </a:rPr>
              <a:t>Typed registration and shared reservations</a:t>
            </a:r>
          </a:p>
        </p:txBody>
      </p:sp>
      <p:sp>
        <p:nvSpPr>
          <p:cNvPr id="9" name="02">
            <a:extLst xmlns:a="http://schemas.openxmlformats.org/drawingml/2006/main">
              <a:ext uri="{FF2B5EF4-FFF2-40B4-BE49-F238E27FC236}">
                <a16:creationId xmlns:a16="http://schemas.microsoft.com/office/drawing/2014/main" id="{E4235E7E-7945-4455-9C4D-69604E989267}"/>
              </a:ext>
            </a:extLst>
          </p:cNvPr>
          <p:cNvSpPr>
            <a:spLocks xmlns:a="http://schemas.openxmlformats.org/drawingml/2006/main" noGrp="1"/>
          </p:cNvSpPr>
          <p:nvPr/>
        </p:nvSpPr>
        <p:spPr>
          <a:xfrm xmlns:a="http://schemas.openxmlformats.org/drawingml/2006/main">
            <a:off x="609600" y="3371850"/>
            <a:ext cx="76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62ACFF"/>
                </a:solidFill>
                <a:latin typeface="Arial"/>
                <a:ea typeface="Arial"/>
                <a:cs typeface="Arial"/>
              </a:defRPr>
            </a:defPPr>
            <a:lvl1pPr algn="l">
              <a:defRPr sz="3450" b="1">
                <a:solidFill>
                  <a:srgbClr val="62ACFF"/>
                </a:solidFill>
                <a:latin typeface="Arial"/>
                <a:ea typeface="Arial"/>
                <a:cs typeface="Arial"/>
              </a:defRPr>
            </a:lvl1pPr>
            <a:lvl2pPr algn="l">
              <a:defRPr sz="3450" b="1">
                <a:solidFill>
                  <a:srgbClr val="62ACFF"/>
                </a:solidFill>
                <a:latin typeface="Arial"/>
                <a:ea typeface="Arial"/>
                <a:cs typeface="Arial"/>
              </a:defRPr>
            </a:lvl2pPr>
            <a:lvl3pPr algn="l">
              <a:defRPr sz="3450" b="1">
                <a:solidFill>
                  <a:srgbClr val="62ACFF"/>
                </a:solidFill>
                <a:latin typeface="Arial"/>
                <a:ea typeface="Arial"/>
                <a:cs typeface="Arial"/>
              </a:defRPr>
            </a:lvl3pPr>
            <a:lvl4pPr algn="l">
              <a:defRPr sz="3450" b="1">
                <a:solidFill>
                  <a:srgbClr val="62ACFF"/>
                </a:solidFill>
                <a:latin typeface="Arial"/>
                <a:ea typeface="Arial"/>
                <a:cs typeface="Arial"/>
              </a:defRPr>
            </a:lvl4pPr>
            <a:lvl5pPr algn="l">
              <a:defRPr sz="3450" b="1">
                <a:solidFill>
                  <a:srgbClr val="62ACFF"/>
                </a:solidFill>
                <a:latin typeface="Arial"/>
                <a:ea typeface="Arial"/>
                <a:cs typeface="Arial"/>
              </a:defRPr>
            </a:lvl5pPr>
            <a:lvl6pPr algn="l">
              <a:defRPr sz="3450" b="1">
                <a:solidFill>
                  <a:srgbClr val="62ACFF"/>
                </a:solidFill>
                <a:latin typeface="Arial"/>
                <a:ea typeface="Arial"/>
                <a:cs typeface="Arial"/>
              </a:defRPr>
            </a:lvl6pPr>
            <a:lvl7pPr algn="l">
              <a:defRPr sz="3450" b="1">
                <a:solidFill>
                  <a:srgbClr val="62ACFF"/>
                </a:solidFill>
                <a:latin typeface="Arial"/>
                <a:ea typeface="Arial"/>
                <a:cs typeface="Arial"/>
              </a:defRPr>
            </a:lvl7pPr>
            <a:lvl8pPr algn="l">
              <a:defRPr sz="3450" b="1">
                <a:solidFill>
                  <a:srgbClr val="62ACFF"/>
                </a:solidFill>
                <a:latin typeface="Arial"/>
                <a:ea typeface="Arial"/>
                <a:cs typeface="Arial"/>
              </a:defRPr>
            </a:lvl8pPr>
            <a:lvl9pPr algn="l">
              <a:defRPr sz="3450" b="1">
                <a:solidFill>
                  <a:srgbClr val="62ACFF"/>
                </a:solidFill>
                <a:latin typeface="Arial"/>
                <a:ea typeface="Arial"/>
                <a:cs typeface="Arial"/>
              </a:defRPr>
            </a:lvl9pPr>
          </a:lstStyle>
          <a:p xmlns:a="http://schemas.openxmlformats.org/drawingml/2006/main">
            <a:pPr algn="l">
              <a:defRPr sz="3450" b="1">
                <a:solidFill>
                  <a:srgbClr val="62ACFF"/>
                </a:solidFill>
                <a:latin typeface="Arial"/>
                <a:ea typeface="Arial"/>
                <a:cs typeface="Arial"/>
              </a:defRPr>
            </a:pPr>
            <a:r>
              <a:rPr sz="3450" b="1">
                <a:solidFill>
                  <a:srgbClr val="62ACFF"/>
                </a:solidFill>
                <a:latin typeface="Arial"/>
                <a:ea typeface="Arial"/>
                <a:cs typeface="Arial"/>
              </a:rPr>
              <a:t>02</a:t>
            </a:r>
          </a:p>
        </p:txBody>
      </p:sp>
      <p:sp>
        <p:nvSpPr>
          <p:cNvPr id="10" name="Delegated-session evidence">
            <a:extLst xmlns:a="http://schemas.openxmlformats.org/drawingml/2006/main">
              <a:ext uri="{FF2B5EF4-FFF2-40B4-BE49-F238E27FC236}">
                <a16:creationId xmlns:a16="http://schemas.microsoft.com/office/drawing/2014/main" id="{8849AF82-AC30-4EB6-A379-3336B3E61E71}"/>
              </a:ext>
            </a:extLst>
          </p:cNvPr>
          <p:cNvSpPr>
            <a:spLocks xmlns:a="http://schemas.openxmlformats.org/drawingml/2006/main" noGrp="1"/>
          </p:cNvSpPr>
          <p:nvPr/>
        </p:nvSpPr>
        <p:spPr>
          <a:xfrm xmlns:a="http://schemas.openxmlformats.org/drawingml/2006/main">
            <a:off x="1685925" y="3400425"/>
            <a:ext cx="98964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5F6F8"/>
                </a:solidFill>
                <a:latin typeface="Arial"/>
                <a:ea typeface="Arial"/>
                <a:cs typeface="Arial"/>
              </a:defRPr>
            </a:defPPr>
            <a:lvl1pPr algn="l">
              <a:defRPr sz="2475" b="1">
                <a:solidFill>
                  <a:srgbClr val="F5F6F8"/>
                </a:solidFill>
                <a:latin typeface="Arial"/>
                <a:ea typeface="Arial"/>
                <a:cs typeface="Arial"/>
              </a:defRPr>
            </a:lvl1pPr>
            <a:lvl2pPr algn="l">
              <a:defRPr sz="2475" b="1">
                <a:solidFill>
                  <a:srgbClr val="F5F6F8"/>
                </a:solidFill>
                <a:latin typeface="Arial"/>
                <a:ea typeface="Arial"/>
                <a:cs typeface="Arial"/>
              </a:defRPr>
            </a:lvl2pPr>
            <a:lvl3pPr algn="l">
              <a:defRPr sz="2475" b="1">
                <a:solidFill>
                  <a:srgbClr val="F5F6F8"/>
                </a:solidFill>
                <a:latin typeface="Arial"/>
                <a:ea typeface="Arial"/>
                <a:cs typeface="Arial"/>
              </a:defRPr>
            </a:lvl3pPr>
            <a:lvl4pPr algn="l">
              <a:defRPr sz="2475" b="1">
                <a:solidFill>
                  <a:srgbClr val="F5F6F8"/>
                </a:solidFill>
                <a:latin typeface="Arial"/>
                <a:ea typeface="Arial"/>
                <a:cs typeface="Arial"/>
              </a:defRPr>
            </a:lvl4pPr>
            <a:lvl5pPr algn="l">
              <a:defRPr sz="2475" b="1">
                <a:solidFill>
                  <a:srgbClr val="F5F6F8"/>
                </a:solidFill>
                <a:latin typeface="Arial"/>
                <a:ea typeface="Arial"/>
                <a:cs typeface="Arial"/>
              </a:defRPr>
            </a:lvl5pPr>
            <a:lvl6pPr algn="l">
              <a:defRPr sz="2475" b="1">
                <a:solidFill>
                  <a:srgbClr val="F5F6F8"/>
                </a:solidFill>
                <a:latin typeface="Arial"/>
                <a:ea typeface="Arial"/>
                <a:cs typeface="Arial"/>
              </a:defRPr>
            </a:lvl6pPr>
            <a:lvl7pPr algn="l">
              <a:defRPr sz="2475" b="1">
                <a:solidFill>
                  <a:srgbClr val="F5F6F8"/>
                </a:solidFill>
                <a:latin typeface="Arial"/>
                <a:ea typeface="Arial"/>
                <a:cs typeface="Arial"/>
              </a:defRPr>
            </a:lvl7pPr>
            <a:lvl8pPr algn="l">
              <a:defRPr sz="2475" b="1">
                <a:solidFill>
                  <a:srgbClr val="F5F6F8"/>
                </a:solidFill>
                <a:latin typeface="Arial"/>
                <a:ea typeface="Arial"/>
                <a:cs typeface="Arial"/>
              </a:defRPr>
            </a:lvl8pPr>
            <a:lvl9pPr algn="l">
              <a:defRPr sz="2475" b="1">
                <a:solidFill>
                  <a:srgbClr val="F5F6F8"/>
                </a:solidFill>
                <a:latin typeface="Arial"/>
                <a:ea typeface="Arial"/>
                <a:cs typeface="Arial"/>
              </a:defRPr>
            </a:lvl9pPr>
          </a:lstStyle>
          <a:p xmlns:a="http://schemas.openxmlformats.org/drawingml/2006/main">
            <a:pPr algn="l">
              <a:defRPr sz="2475" b="1">
                <a:solidFill>
                  <a:srgbClr val="F5F6F8"/>
                </a:solidFill>
                <a:latin typeface="Arial"/>
                <a:ea typeface="Arial"/>
                <a:cs typeface="Arial"/>
              </a:defRPr>
            </a:pPr>
            <a:r>
              <a:rPr sz="2475" b="1">
                <a:solidFill>
                  <a:srgbClr val="F5F6F8"/>
                </a:solidFill>
                <a:latin typeface="Arial"/>
                <a:ea typeface="Arial"/>
                <a:cs typeface="Arial"/>
              </a:rPr>
              <a:t>Delegated-session evidence</a:t>
            </a:r>
          </a:p>
        </p:txBody>
      </p:sp>
      <p:sp>
        <p:nvSpPr>
          <p:cNvPr id="11" name="Signed checkpoints and selective disclosure">
            <a:extLst xmlns:a="http://schemas.openxmlformats.org/drawingml/2006/main">
              <a:ext uri="{FF2B5EF4-FFF2-40B4-BE49-F238E27FC236}">
                <a16:creationId xmlns:a16="http://schemas.microsoft.com/office/drawing/2014/main" id="{B6BDD66E-1FB3-4390-A739-AEB2ADE8ECB6}"/>
              </a:ext>
            </a:extLst>
          </p:cNvPr>
          <p:cNvSpPr>
            <a:spLocks xmlns:a="http://schemas.openxmlformats.org/drawingml/2006/main" noGrp="1"/>
          </p:cNvSpPr>
          <p:nvPr/>
        </p:nvSpPr>
        <p:spPr>
          <a:xfrm xmlns:a="http://schemas.openxmlformats.org/drawingml/2006/main">
            <a:off x="1685925" y="3952875"/>
            <a:ext cx="9896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0A5AF"/>
                </a:solidFill>
                <a:latin typeface="Arial"/>
                <a:ea typeface="Arial"/>
                <a:cs typeface="Arial"/>
              </a:defRPr>
            </a:defPPr>
            <a:lvl1pPr algn="l">
              <a:defRPr sz="2100" b="0">
                <a:solidFill>
                  <a:srgbClr val="A0A5AF"/>
                </a:solidFill>
                <a:latin typeface="Arial"/>
                <a:ea typeface="Arial"/>
                <a:cs typeface="Arial"/>
              </a:defRPr>
            </a:lvl1pPr>
            <a:lvl2pPr algn="l">
              <a:defRPr sz="2100" b="0">
                <a:solidFill>
                  <a:srgbClr val="A0A5AF"/>
                </a:solidFill>
                <a:latin typeface="Arial"/>
                <a:ea typeface="Arial"/>
                <a:cs typeface="Arial"/>
              </a:defRPr>
            </a:lvl2pPr>
            <a:lvl3pPr algn="l">
              <a:defRPr sz="2100" b="0">
                <a:solidFill>
                  <a:srgbClr val="A0A5AF"/>
                </a:solidFill>
                <a:latin typeface="Arial"/>
                <a:ea typeface="Arial"/>
                <a:cs typeface="Arial"/>
              </a:defRPr>
            </a:lvl3pPr>
            <a:lvl4pPr algn="l">
              <a:defRPr sz="2100" b="0">
                <a:solidFill>
                  <a:srgbClr val="A0A5AF"/>
                </a:solidFill>
                <a:latin typeface="Arial"/>
                <a:ea typeface="Arial"/>
                <a:cs typeface="Arial"/>
              </a:defRPr>
            </a:lvl4pPr>
            <a:lvl5pPr algn="l">
              <a:defRPr sz="2100" b="0">
                <a:solidFill>
                  <a:srgbClr val="A0A5AF"/>
                </a:solidFill>
                <a:latin typeface="Arial"/>
                <a:ea typeface="Arial"/>
                <a:cs typeface="Arial"/>
              </a:defRPr>
            </a:lvl5pPr>
            <a:lvl6pPr algn="l">
              <a:defRPr sz="2100" b="0">
                <a:solidFill>
                  <a:srgbClr val="A0A5AF"/>
                </a:solidFill>
                <a:latin typeface="Arial"/>
                <a:ea typeface="Arial"/>
                <a:cs typeface="Arial"/>
              </a:defRPr>
            </a:lvl6pPr>
            <a:lvl7pPr algn="l">
              <a:defRPr sz="2100" b="0">
                <a:solidFill>
                  <a:srgbClr val="A0A5AF"/>
                </a:solidFill>
                <a:latin typeface="Arial"/>
                <a:ea typeface="Arial"/>
                <a:cs typeface="Arial"/>
              </a:defRPr>
            </a:lvl7pPr>
            <a:lvl8pPr algn="l">
              <a:defRPr sz="2100" b="0">
                <a:solidFill>
                  <a:srgbClr val="A0A5AF"/>
                </a:solidFill>
                <a:latin typeface="Arial"/>
                <a:ea typeface="Arial"/>
                <a:cs typeface="Arial"/>
              </a:defRPr>
            </a:lvl8pPr>
            <a:lvl9pPr algn="l">
              <a:defRPr sz="2100" b="0">
                <a:solidFill>
                  <a:srgbClr val="A0A5AF"/>
                </a:solidFill>
                <a:latin typeface="Arial"/>
                <a:ea typeface="Arial"/>
                <a:cs typeface="Arial"/>
              </a:defRPr>
            </a:lvl9pPr>
          </a:lstStyle>
          <a:p xmlns:a="http://schemas.openxmlformats.org/drawingml/2006/main">
            <a:pPr algn="l">
              <a:defRPr sz="2100" b="0">
                <a:solidFill>
                  <a:srgbClr val="A0A5AF"/>
                </a:solidFill>
                <a:latin typeface="Arial"/>
                <a:ea typeface="Arial"/>
                <a:cs typeface="Arial"/>
              </a:defRPr>
            </a:pPr>
            <a:r>
              <a:rPr sz="2100" b="0">
                <a:solidFill>
                  <a:srgbClr val="A0A5AF"/>
                </a:solidFill>
                <a:latin typeface="Arial"/>
                <a:ea typeface="Arial"/>
                <a:cs typeface="Arial"/>
              </a:rPr>
              <a:t>Signed checkpoints and selective disclosure</a:t>
            </a:r>
          </a:p>
        </p:txBody>
      </p:sp>
      <p:sp>
        <p:nvSpPr>
          <p:cNvPr id="12" name="03">
            <a:extLst xmlns:a="http://schemas.openxmlformats.org/drawingml/2006/main">
              <a:ext uri="{FF2B5EF4-FFF2-40B4-BE49-F238E27FC236}">
                <a16:creationId xmlns:a16="http://schemas.microsoft.com/office/drawing/2014/main" id="{E150279A-23AB-4A30-9F67-539183641C56}"/>
              </a:ext>
            </a:extLst>
          </p:cNvPr>
          <p:cNvSpPr>
            <a:spLocks xmlns:a="http://schemas.openxmlformats.org/drawingml/2006/main" noGrp="1"/>
          </p:cNvSpPr>
          <p:nvPr/>
        </p:nvSpPr>
        <p:spPr>
          <a:xfrm xmlns:a="http://schemas.openxmlformats.org/drawingml/2006/main">
            <a:off x="609600" y="4610100"/>
            <a:ext cx="76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62ACFF"/>
                </a:solidFill>
                <a:latin typeface="Arial"/>
                <a:ea typeface="Arial"/>
                <a:cs typeface="Arial"/>
              </a:defRPr>
            </a:defPPr>
            <a:lvl1pPr algn="l">
              <a:defRPr sz="3450" b="1">
                <a:solidFill>
                  <a:srgbClr val="62ACFF"/>
                </a:solidFill>
                <a:latin typeface="Arial"/>
                <a:ea typeface="Arial"/>
                <a:cs typeface="Arial"/>
              </a:defRPr>
            </a:lvl1pPr>
            <a:lvl2pPr algn="l">
              <a:defRPr sz="3450" b="1">
                <a:solidFill>
                  <a:srgbClr val="62ACFF"/>
                </a:solidFill>
                <a:latin typeface="Arial"/>
                <a:ea typeface="Arial"/>
                <a:cs typeface="Arial"/>
              </a:defRPr>
            </a:lvl2pPr>
            <a:lvl3pPr algn="l">
              <a:defRPr sz="3450" b="1">
                <a:solidFill>
                  <a:srgbClr val="62ACFF"/>
                </a:solidFill>
                <a:latin typeface="Arial"/>
                <a:ea typeface="Arial"/>
                <a:cs typeface="Arial"/>
              </a:defRPr>
            </a:lvl3pPr>
            <a:lvl4pPr algn="l">
              <a:defRPr sz="3450" b="1">
                <a:solidFill>
                  <a:srgbClr val="62ACFF"/>
                </a:solidFill>
                <a:latin typeface="Arial"/>
                <a:ea typeface="Arial"/>
                <a:cs typeface="Arial"/>
              </a:defRPr>
            </a:lvl4pPr>
            <a:lvl5pPr algn="l">
              <a:defRPr sz="3450" b="1">
                <a:solidFill>
                  <a:srgbClr val="62ACFF"/>
                </a:solidFill>
                <a:latin typeface="Arial"/>
                <a:ea typeface="Arial"/>
                <a:cs typeface="Arial"/>
              </a:defRPr>
            </a:lvl5pPr>
            <a:lvl6pPr algn="l">
              <a:defRPr sz="3450" b="1">
                <a:solidFill>
                  <a:srgbClr val="62ACFF"/>
                </a:solidFill>
                <a:latin typeface="Arial"/>
                <a:ea typeface="Arial"/>
                <a:cs typeface="Arial"/>
              </a:defRPr>
            </a:lvl6pPr>
            <a:lvl7pPr algn="l">
              <a:defRPr sz="3450" b="1">
                <a:solidFill>
                  <a:srgbClr val="62ACFF"/>
                </a:solidFill>
                <a:latin typeface="Arial"/>
                <a:ea typeface="Arial"/>
                <a:cs typeface="Arial"/>
              </a:defRPr>
            </a:lvl7pPr>
            <a:lvl8pPr algn="l">
              <a:defRPr sz="3450" b="1">
                <a:solidFill>
                  <a:srgbClr val="62ACFF"/>
                </a:solidFill>
                <a:latin typeface="Arial"/>
                <a:ea typeface="Arial"/>
                <a:cs typeface="Arial"/>
              </a:defRPr>
            </a:lvl8pPr>
            <a:lvl9pPr algn="l">
              <a:defRPr sz="3450" b="1">
                <a:solidFill>
                  <a:srgbClr val="62ACFF"/>
                </a:solidFill>
                <a:latin typeface="Arial"/>
                <a:ea typeface="Arial"/>
                <a:cs typeface="Arial"/>
              </a:defRPr>
            </a:lvl9pPr>
          </a:lstStyle>
          <a:p xmlns:a="http://schemas.openxmlformats.org/drawingml/2006/main">
            <a:pPr algn="l">
              <a:defRPr sz="3450" b="1">
                <a:solidFill>
                  <a:srgbClr val="62ACFF"/>
                </a:solidFill>
                <a:latin typeface="Arial"/>
                <a:ea typeface="Arial"/>
                <a:cs typeface="Arial"/>
              </a:defRPr>
            </a:pPr>
            <a:r>
              <a:rPr sz="3450" b="1">
                <a:solidFill>
                  <a:srgbClr val="62ACFF"/>
                </a:solidFill>
                <a:latin typeface="Arial"/>
                <a:ea typeface="Arial"/>
                <a:cs typeface="Arial"/>
              </a:rPr>
              <a:t>03</a:t>
            </a:r>
          </a:p>
        </p:txBody>
      </p:sp>
      <p:sp>
        <p:nvSpPr>
          <p:cNvPr id="13" name="Host interference">
            <a:extLst xmlns:a="http://schemas.openxmlformats.org/drawingml/2006/main">
              <a:ext uri="{FF2B5EF4-FFF2-40B4-BE49-F238E27FC236}">
                <a16:creationId xmlns:a16="http://schemas.microsoft.com/office/drawing/2014/main" id="{DDFB6514-9DF9-4C63-A20E-878F21B3779F}"/>
              </a:ext>
            </a:extLst>
          </p:cNvPr>
          <p:cNvSpPr>
            <a:spLocks xmlns:a="http://schemas.openxmlformats.org/drawingml/2006/main" noGrp="1"/>
          </p:cNvSpPr>
          <p:nvPr/>
        </p:nvSpPr>
        <p:spPr>
          <a:xfrm xmlns:a="http://schemas.openxmlformats.org/drawingml/2006/main">
            <a:off x="1685925" y="4638675"/>
            <a:ext cx="98964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5F6F8"/>
                </a:solidFill>
                <a:latin typeface="Arial"/>
                <a:ea typeface="Arial"/>
                <a:cs typeface="Arial"/>
              </a:defRPr>
            </a:defPPr>
            <a:lvl1pPr algn="l">
              <a:defRPr sz="2475" b="1">
                <a:solidFill>
                  <a:srgbClr val="F5F6F8"/>
                </a:solidFill>
                <a:latin typeface="Arial"/>
                <a:ea typeface="Arial"/>
                <a:cs typeface="Arial"/>
              </a:defRPr>
            </a:lvl1pPr>
            <a:lvl2pPr algn="l">
              <a:defRPr sz="2475" b="1">
                <a:solidFill>
                  <a:srgbClr val="F5F6F8"/>
                </a:solidFill>
                <a:latin typeface="Arial"/>
                <a:ea typeface="Arial"/>
                <a:cs typeface="Arial"/>
              </a:defRPr>
            </a:lvl2pPr>
            <a:lvl3pPr algn="l">
              <a:defRPr sz="2475" b="1">
                <a:solidFill>
                  <a:srgbClr val="F5F6F8"/>
                </a:solidFill>
                <a:latin typeface="Arial"/>
                <a:ea typeface="Arial"/>
                <a:cs typeface="Arial"/>
              </a:defRPr>
            </a:lvl3pPr>
            <a:lvl4pPr algn="l">
              <a:defRPr sz="2475" b="1">
                <a:solidFill>
                  <a:srgbClr val="F5F6F8"/>
                </a:solidFill>
                <a:latin typeface="Arial"/>
                <a:ea typeface="Arial"/>
                <a:cs typeface="Arial"/>
              </a:defRPr>
            </a:lvl4pPr>
            <a:lvl5pPr algn="l">
              <a:defRPr sz="2475" b="1">
                <a:solidFill>
                  <a:srgbClr val="F5F6F8"/>
                </a:solidFill>
                <a:latin typeface="Arial"/>
                <a:ea typeface="Arial"/>
                <a:cs typeface="Arial"/>
              </a:defRPr>
            </a:lvl5pPr>
            <a:lvl6pPr algn="l">
              <a:defRPr sz="2475" b="1">
                <a:solidFill>
                  <a:srgbClr val="F5F6F8"/>
                </a:solidFill>
                <a:latin typeface="Arial"/>
                <a:ea typeface="Arial"/>
                <a:cs typeface="Arial"/>
              </a:defRPr>
            </a:lvl6pPr>
            <a:lvl7pPr algn="l">
              <a:defRPr sz="2475" b="1">
                <a:solidFill>
                  <a:srgbClr val="F5F6F8"/>
                </a:solidFill>
                <a:latin typeface="Arial"/>
                <a:ea typeface="Arial"/>
                <a:cs typeface="Arial"/>
              </a:defRPr>
            </a:lvl7pPr>
            <a:lvl8pPr algn="l">
              <a:defRPr sz="2475" b="1">
                <a:solidFill>
                  <a:srgbClr val="F5F6F8"/>
                </a:solidFill>
                <a:latin typeface="Arial"/>
                <a:ea typeface="Arial"/>
                <a:cs typeface="Arial"/>
              </a:defRPr>
            </a:lvl8pPr>
            <a:lvl9pPr algn="l">
              <a:defRPr sz="2475" b="1">
                <a:solidFill>
                  <a:srgbClr val="F5F6F8"/>
                </a:solidFill>
                <a:latin typeface="Arial"/>
                <a:ea typeface="Arial"/>
                <a:cs typeface="Arial"/>
              </a:defRPr>
            </a:lvl9pPr>
          </a:lstStyle>
          <a:p xmlns:a="http://schemas.openxmlformats.org/drawingml/2006/main">
            <a:pPr algn="l">
              <a:defRPr sz="2475" b="1">
                <a:solidFill>
                  <a:srgbClr val="F5F6F8"/>
                </a:solidFill>
                <a:latin typeface="Arial"/>
                <a:ea typeface="Arial"/>
                <a:cs typeface="Arial"/>
              </a:defRPr>
            </a:pPr>
            <a:r>
              <a:rPr sz="2475" b="1">
                <a:solidFill>
                  <a:srgbClr val="F5F6F8"/>
                </a:solidFill>
                <a:latin typeface="Arial"/>
                <a:ea typeface="Arial"/>
                <a:cs typeface="Arial"/>
              </a:rPr>
              <a:t>Host interference</a:t>
            </a:r>
          </a:p>
        </p:txBody>
      </p:sp>
      <p:sp>
        <p:nvSpPr>
          <p:cNvPr id="14" name="Reference controller and retained-head checks">
            <a:extLst xmlns:a="http://schemas.openxmlformats.org/drawingml/2006/main">
              <a:ext uri="{FF2B5EF4-FFF2-40B4-BE49-F238E27FC236}">
                <a16:creationId xmlns:a16="http://schemas.microsoft.com/office/drawing/2014/main" id="{B98B83C4-BC78-42C0-8BBC-621653339DE3}"/>
              </a:ext>
            </a:extLst>
          </p:cNvPr>
          <p:cNvSpPr>
            <a:spLocks xmlns:a="http://schemas.openxmlformats.org/drawingml/2006/main" noGrp="1"/>
          </p:cNvSpPr>
          <p:nvPr/>
        </p:nvSpPr>
        <p:spPr>
          <a:xfrm xmlns:a="http://schemas.openxmlformats.org/drawingml/2006/main">
            <a:off x="1685925" y="5191125"/>
            <a:ext cx="9896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0A5AF"/>
                </a:solidFill>
                <a:latin typeface="Arial"/>
                <a:ea typeface="Arial"/>
                <a:cs typeface="Arial"/>
              </a:defRPr>
            </a:defPPr>
            <a:lvl1pPr algn="l">
              <a:defRPr sz="2100" b="0">
                <a:solidFill>
                  <a:srgbClr val="A0A5AF"/>
                </a:solidFill>
                <a:latin typeface="Arial"/>
                <a:ea typeface="Arial"/>
                <a:cs typeface="Arial"/>
              </a:defRPr>
            </a:lvl1pPr>
            <a:lvl2pPr algn="l">
              <a:defRPr sz="2100" b="0">
                <a:solidFill>
                  <a:srgbClr val="A0A5AF"/>
                </a:solidFill>
                <a:latin typeface="Arial"/>
                <a:ea typeface="Arial"/>
                <a:cs typeface="Arial"/>
              </a:defRPr>
            </a:lvl2pPr>
            <a:lvl3pPr algn="l">
              <a:defRPr sz="2100" b="0">
                <a:solidFill>
                  <a:srgbClr val="A0A5AF"/>
                </a:solidFill>
                <a:latin typeface="Arial"/>
                <a:ea typeface="Arial"/>
                <a:cs typeface="Arial"/>
              </a:defRPr>
            </a:lvl3pPr>
            <a:lvl4pPr algn="l">
              <a:defRPr sz="2100" b="0">
                <a:solidFill>
                  <a:srgbClr val="A0A5AF"/>
                </a:solidFill>
                <a:latin typeface="Arial"/>
                <a:ea typeface="Arial"/>
                <a:cs typeface="Arial"/>
              </a:defRPr>
            </a:lvl4pPr>
            <a:lvl5pPr algn="l">
              <a:defRPr sz="2100" b="0">
                <a:solidFill>
                  <a:srgbClr val="A0A5AF"/>
                </a:solidFill>
                <a:latin typeface="Arial"/>
                <a:ea typeface="Arial"/>
                <a:cs typeface="Arial"/>
              </a:defRPr>
            </a:lvl5pPr>
            <a:lvl6pPr algn="l">
              <a:defRPr sz="2100" b="0">
                <a:solidFill>
                  <a:srgbClr val="A0A5AF"/>
                </a:solidFill>
                <a:latin typeface="Arial"/>
                <a:ea typeface="Arial"/>
                <a:cs typeface="Arial"/>
              </a:defRPr>
            </a:lvl6pPr>
            <a:lvl7pPr algn="l">
              <a:defRPr sz="2100" b="0">
                <a:solidFill>
                  <a:srgbClr val="A0A5AF"/>
                </a:solidFill>
                <a:latin typeface="Arial"/>
                <a:ea typeface="Arial"/>
                <a:cs typeface="Arial"/>
              </a:defRPr>
            </a:lvl7pPr>
            <a:lvl8pPr algn="l">
              <a:defRPr sz="2100" b="0">
                <a:solidFill>
                  <a:srgbClr val="A0A5AF"/>
                </a:solidFill>
                <a:latin typeface="Arial"/>
                <a:ea typeface="Arial"/>
                <a:cs typeface="Arial"/>
              </a:defRPr>
            </a:lvl8pPr>
            <a:lvl9pPr algn="l">
              <a:defRPr sz="2100" b="0">
                <a:solidFill>
                  <a:srgbClr val="A0A5AF"/>
                </a:solidFill>
                <a:latin typeface="Arial"/>
                <a:ea typeface="Arial"/>
                <a:cs typeface="Arial"/>
              </a:defRPr>
            </a:lvl9pPr>
          </a:lstStyle>
          <a:p xmlns:a="http://schemas.openxmlformats.org/drawingml/2006/main">
            <a:pPr algn="l">
              <a:defRPr sz="2100" b="0">
                <a:solidFill>
                  <a:srgbClr val="A0A5AF"/>
                </a:solidFill>
                <a:latin typeface="Arial"/>
                <a:ea typeface="Arial"/>
                <a:cs typeface="Arial"/>
              </a:defRPr>
            </a:pPr>
            <a:r>
              <a:rPr sz="2100" b="0">
                <a:solidFill>
                  <a:srgbClr val="A0A5AF"/>
                </a:solidFill>
                <a:latin typeface="Arial"/>
                <a:ea typeface="Arial"/>
                <a:cs typeface="Arial"/>
              </a:rPr>
              <a:t>Reference controller and retained-head checks</a:t>
            </a:r>
          </a:p>
        </p:txBody>
      </p:sp>
      <p:sp>
        <p:nvSpPr>
          <p:cNvPr id="15" name="The release implements a bounded part of the prior proposal.">
            <a:extLst xmlns:a="http://schemas.openxmlformats.org/drawingml/2006/main">
              <a:ext uri="{FF2B5EF4-FFF2-40B4-BE49-F238E27FC236}">
                <a16:creationId xmlns:a16="http://schemas.microsoft.com/office/drawing/2014/main" id="{FFB55360-515E-4F52-814D-BD14BBDA3A64}"/>
              </a:ext>
            </a:extLst>
          </p:cNvPr>
          <p:cNvSpPr>
            <a:spLocks xmlns:a="http://schemas.openxmlformats.org/drawingml/2006/main" noGrp="1"/>
          </p:cNvSpPr>
          <p:nvPr/>
        </p:nvSpPr>
        <p:spPr>
          <a:xfrm xmlns:a="http://schemas.openxmlformats.org/drawingml/2006/main">
            <a:off x="609600" y="59817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ACFF"/>
                </a:solidFill>
                <a:latin typeface="Arial"/>
                <a:ea typeface="Arial"/>
                <a:cs typeface="Arial"/>
              </a:defRPr>
            </a:defPPr>
            <a:lvl1pPr algn="l">
              <a:defRPr sz="1800" b="0">
                <a:solidFill>
                  <a:srgbClr val="62ACFF"/>
                </a:solidFill>
                <a:latin typeface="Arial"/>
                <a:ea typeface="Arial"/>
                <a:cs typeface="Arial"/>
              </a:defRPr>
            </a:lvl1pPr>
            <a:lvl2pPr algn="l">
              <a:defRPr sz="1800" b="0">
                <a:solidFill>
                  <a:srgbClr val="62ACFF"/>
                </a:solidFill>
                <a:latin typeface="Arial"/>
                <a:ea typeface="Arial"/>
                <a:cs typeface="Arial"/>
              </a:defRPr>
            </a:lvl2pPr>
            <a:lvl3pPr algn="l">
              <a:defRPr sz="1800" b="0">
                <a:solidFill>
                  <a:srgbClr val="62ACFF"/>
                </a:solidFill>
                <a:latin typeface="Arial"/>
                <a:ea typeface="Arial"/>
                <a:cs typeface="Arial"/>
              </a:defRPr>
            </a:lvl3pPr>
            <a:lvl4pPr algn="l">
              <a:defRPr sz="1800" b="0">
                <a:solidFill>
                  <a:srgbClr val="62ACFF"/>
                </a:solidFill>
                <a:latin typeface="Arial"/>
                <a:ea typeface="Arial"/>
                <a:cs typeface="Arial"/>
              </a:defRPr>
            </a:lvl4pPr>
            <a:lvl5pPr algn="l">
              <a:defRPr sz="1800" b="0">
                <a:solidFill>
                  <a:srgbClr val="62ACFF"/>
                </a:solidFill>
                <a:latin typeface="Arial"/>
                <a:ea typeface="Arial"/>
                <a:cs typeface="Arial"/>
              </a:defRPr>
            </a:lvl5pPr>
            <a:lvl6pPr algn="l">
              <a:defRPr sz="1800" b="0">
                <a:solidFill>
                  <a:srgbClr val="62ACFF"/>
                </a:solidFill>
                <a:latin typeface="Arial"/>
                <a:ea typeface="Arial"/>
                <a:cs typeface="Arial"/>
              </a:defRPr>
            </a:lvl6pPr>
            <a:lvl7pPr algn="l">
              <a:defRPr sz="1800" b="0">
                <a:solidFill>
                  <a:srgbClr val="62ACFF"/>
                </a:solidFill>
                <a:latin typeface="Arial"/>
                <a:ea typeface="Arial"/>
                <a:cs typeface="Arial"/>
              </a:defRPr>
            </a:lvl7pPr>
            <a:lvl8pPr algn="l">
              <a:defRPr sz="1800" b="0">
                <a:solidFill>
                  <a:srgbClr val="62ACFF"/>
                </a:solidFill>
                <a:latin typeface="Arial"/>
                <a:ea typeface="Arial"/>
                <a:cs typeface="Arial"/>
              </a:defRPr>
            </a:lvl8pPr>
            <a:lvl9pPr algn="l">
              <a:defRPr sz="1800" b="0">
                <a:solidFill>
                  <a:srgbClr val="62ACFF"/>
                </a:solidFill>
                <a:latin typeface="Arial"/>
                <a:ea typeface="Arial"/>
                <a:cs typeface="Arial"/>
              </a:defRPr>
            </a:lvl9pPr>
          </a:lstStyle>
          <a:p xmlns:a="http://schemas.openxmlformats.org/drawingml/2006/main">
            <a:pPr algn="l">
              <a:defRPr sz="1800" b="0">
                <a:solidFill>
                  <a:srgbClr val="62ACFF"/>
                </a:solidFill>
                <a:latin typeface="Arial"/>
                <a:ea typeface="Arial"/>
                <a:cs typeface="Arial"/>
              </a:defRPr>
            </a:pPr>
            <a:r>
              <a:rPr sz="1800" b="0">
                <a:solidFill>
                  <a:srgbClr val="62ACFF"/>
                </a:solidFill>
                <a:latin typeface="Arial"/>
                <a:ea typeface="Arial"/>
                <a:cs typeface="Arial"/>
              </a:rPr>
              <a:t>The release implements a bounded part of the prior proposal.</a:t>
            </a:r>
          </a:p>
        </p:txBody>
      </p:sp>
    </p:spTree>
    <p:extLst>
      <p:ext uri="{BB962C8B-B14F-4D97-AF65-F5344CB8AC3E}">
        <p14:creationId xmlns:p14="http://schemas.microsoft.com/office/powerpoint/2010/main" val="1528878117"/>
      </p:ext>
    </p:extLst>
  </p:cSld>
</p:sld>
</file>

<file path=ppt/slides/slide10.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37BEEF8-0E21-4073-AC7C-C3237D581BA4}"/>
              </a:ext>
            </a:extLst>
          </p:cNvPr>
          <p:cNvPicPr>
            <a:picLocks xmlns:a="http://schemas.openxmlformats.org/drawingml/2006/main" noChangeAspect="1"/>
          </p:cNvPicPr>
          <p:nvPr/>
        </p:nvPicPr>
        <p:blipFill>
          <a:blip xmlns:r="http://schemas.openxmlformats.org/officeDocument/2006/relationships" xmlns:a="http://schemas.openxmlformats.org/drawingml/2006/main" r:embed="R341bca48259d4c48">
            <a:extLst>
              <a:ext uri="{96DAC541-7B7A-43D3-8B79-37D633B846F1}">
                <asvg:svgBlip xmlns:asvg="http://schemas.microsoft.com/office/drawing/2016/SVG/main" r:embed="Rea507d930cdc46d5"/>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Session evidence and independent verification">
            <a:extLst xmlns:a="http://schemas.openxmlformats.org/drawingml/2006/main">
              <a:ext uri="{FF2B5EF4-FFF2-40B4-BE49-F238E27FC236}">
                <a16:creationId xmlns:a16="http://schemas.microsoft.com/office/drawing/2014/main" id="{5E586B99-D3E3-4148-A30D-5EBD7B2B2CE9}"/>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Session evidence and independent verification</a:t>
            </a:r>
          </a:p>
        </p:txBody>
      </p:sp>
      <p:sp>
        <p:nvSpPr>
          <p:cNvPr id="4" name="Mandate Labs">
            <a:extLst xmlns:a="http://schemas.openxmlformats.org/drawingml/2006/main">
              <a:ext uri="{FF2B5EF4-FFF2-40B4-BE49-F238E27FC236}">
                <a16:creationId xmlns:a16="http://schemas.microsoft.com/office/drawing/2014/main" id="{49036CD4-1D09-4E3C-BF39-9CFA5184FC0C}"/>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10">
            <a:extLst xmlns:a="http://schemas.openxmlformats.org/drawingml/2006/main">
              <a:ext uri="{FF2B5EF4-FFF2-40B4-BE49-F238E27FC236}">
                <a16:creationId xmlns:a16="http://schemas.microsoft.com/office/drawing/2014/main" id="{3B5CCC4E-D513-49C5-B0FF-67182254A8CE}"/>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10</a:t>
            </a:r>
          </a:p>
        </p:txBody>
      </p:sp>
      <p:sp>
        <p:nvSpPr>
          <p:cNvPr id="6" name="Signed headers bind scope, field root μ and the previous checkpoint di">
            <a:extLst xmlns:a="http://schemas.openxmlformats.org/drawingml/2006/main">
              <a:ext uri="{FF2B5EF4-FFF2-40B4-BE49-F238E27FC236}">
                <a16:creationId xmlns:a16="http://schemas.microsoft.com/office/drawing/2014/main" id="{63CD328E-56BD-4CDD-B865-9A586B100FFB}"/>
              </a:ext>
            </a:extLst>
          </p:cNvPr>
          <p:cNvSpPr>
            <a:spLocks xmlns:a="http://schemas.openxmlformats.org/drawingml/2006/main" noGrp="1"/>
          </p:cNvSpPr>
          <p:nvPr/>
        </p:nvSpPr>
        <p:spPr>
          <a:xfrm xmlns:a="http://schemas.openxmlformats.org/drawingml/2006/main">
            <a:off x="609600" y="1752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0A5AF"/>
                </a:solidFill>
                <a:latin typeface="Arial"/>
                <a:ea typeface="Arial"/>
                <a:cs typeface="Arial"/>
              </a:defRPr>
            </a:defPPr>
            <a:lvl1pPr algn="l">
              <a:defRPr sz="1650" b="0">
                <a:solidFill>
                  <a:srgbClr val="A0A5AF"/>
                </a:solidFill>
                <a:latin typeface="Arial"/>
                <a:ea typeface="Arial"/>
                <a:cs typeface="Arial"/>
              </a:defRPr>
            </a:lvl1pPr>
            <a:lvl2pPr algn="l">
              <a:defRPr sz="1650" b="0">
                <a:solidFill>
                  <a:srgbClr val="A0A5AF"/>
                </a:solidFill>
                <a:latin typeface="Arial"/>
                <a:ea typeface="Arial"/>
                <a:cs typeface="Arial"/>
              </a:defRPr>
            </a:lvl2pPr>
            <a:lvl3pPr algn="l">
              <a:defRPr sz="1650" b="0">
                <a:solidFill>
                  <a:srgbClr val="A0A5AF"/>
                </a:solidFill>
                <a:latin typeface="Arial"/>
                <a:ea typeface="Arial"/>
                <a:cs typeface="Arial"/>
              </a:defRPr>
            </a:lvl3pPr>
            <a:lvl4pPr algn="l">
              <a:defRPr sz="1650" b="0">
                <a:solidFill>
                  <a:srgbClr val="A0A5AF"/>
                </a:solidFill>
                <a:latin typeface="Arial"/>
                <a:ea typeface="Arial"/>
                <a:cs typeface="Arial"/>
              </a:defRPr>
            </a:lvl4pPr>
            <a:lvl5pPr algn="l">
              <a:defRPr sz="1650" b="0">
                <a:solidFill>
                  <a:srgbClr val="A0A5AF"/>
                </a:solidFill>
                <a:latin typeface="Arial"/>
                <a:ea typeface="Arial"/>
                <a:cs typeface="Arial"/>
              </a:defRPr>
            </a:lvl5pPr>
            <a:lvl6pPr algn="l">
              <a:defRPr sz="1650" b="0">
                <a:solidFill>
                  <a:srgbClr val="A0A5AF"/>
                </a:solidFill>
                <a:latin typeface="Arial"/>
                <a:ea typeface="Arial"/>
                <a:cs typeface="Arial"/>
              </a:defRPr>
            </a:lvl6pPr>
            <a:lvl7pPr algn="l">
              <a:defRPr sz="1650" b="0">
                <a:solidFill>
                  <a:srgbClr val="A0A5AF"/>
                </a:solidFill>
                <a:latin typeface="Arial"/>
                <a:ea typeface="Arial"/>
                <a:cs typeface="Arial"/>
              </a:defRPr>
            </a:lvl7pPr>
            <a:lvl8pPr algn="l">
              <a:defRPr sz="1650" b="0">
                <a:solidFill>
                  <a:srgbClr val="A0A5AF"/>
                </a:solidFill>
                <a:latin typeface="Arial"/>
                <a:ea typeface="Arial"/>
                <a:cs typeface="Arial"/>
              </a:defRPr>
            </a:lvl8pPr>
            <a:lvl9pPr algn="l">
              <a:defRPr sz="1650" b="0">
                <a:solidFill>
                  <a:srgbClr val="A0A5AF"/>
                </a:solidFill>
                <a:latin typeface="Arial"/>
                <a:ea typeface="Arial"/>
                <a:cs typeface="Arial"/>
              </a:defRPr>
            </a:lvl9pPr>
          </a:lstStyle>
          <a:p xmlns:a="http://schemas.openxmlformats.org/drawingml/2006/main">
            <a:pPr algn="l">
              <a:defRPr sz="1650" b="0">
                <a:solidFill>
                  <a:srgbClr val="A0A5AF"/>
                </a:solidFill>
                <a:latin typeface="Arial"/>
                <a:ea typeface="Arial"/>
                <a:cs typeface="Arial"/>
              </a:defRPr>
            </a:pPr>
            <a:r>
              <a:rPr sz="1650" b="0">
                <a:solidFill>
                  <a:srgbClr val="A0A5AF"/>
                </a:solidFill>
                <a:latin typeface="Arial"/>
                <a:ea typeface="Arial"/>
                <a:cs typeface="Arial"/>
              </a:rPr>
              <a:t>Signed headers bind scope, field root μ and the previous checkpoint digest.</a:t>
            </a:r>
          </a:p>
        </p:txBody>
      </p:sp>
      <p:sp>
        <p:nvSpPr>
          <p:cNvPr id="7" name="Diagram: Pre-payment&#10;checkpoint ρ0">
            <a:extLst xmlns:a="http://schemas.openxmlformats.org/drawingml/2006/main">
              <a:ext uri="{FF2B5EF4-FFF2-40B4-BE49-F238E27FC236}">
                <a16:creationId xmlns:a16="http://schemas.microsoft.com/office/drawing/2014/main" id="{668E3743-1F72-4F95-A997-BAEDECE1BADC}"/>
              </a:ext>
            </a:extLst>
          </p:cNvPr>
          <p:cNvSpPr>
            <a:spLocks xmlns:a="http://schemas.openxmlformats.org/drawingml/2006/main" noGrp="1"/>
          </p:cNvSpPr>
          <p:nvPr/>
        </p:nvSpPr>
        <p:spPr>
          <a:xfrm xmlns:a="http://schemas.openxmlformats.org/drawingml/2006/main">
            <a:off x="609600" y="2124075"/>
            <a:ext cx="22669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Pre-payment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checkpoint ρ0</a:t>
            </a:r>
          </a:p>
        </p:txBody>
      </p:sp>
      <p:sp>
        <p:nvSpPr>
          <p:cNvPr id="8" name="Diagram: Registration&#10;checkpoint ρ1">
            <a:extLst xmlns:a="http://schemas.openxmlformats.org/drawingml/2006/main">
              <a:ext uri="{FF2B5EF4-FFF2-40B4-BE49-F238E27FC236}">
                <a16:creationId xmlns:a16="http://schemas.microsoft.com/office/drawing/2014/main" id="{98744D34-2B51-46AB-9EE6-7DB416993BE4}"/>
              </a:ext>
            </a:extLst>
          </p:cNvPr>
          <p:cNvSpPr>
            <a:spLocks xmlns:a="http://schemas.openxmlformats.org/drawingml/2006/main" noGrp="1"/>
          </p:cNvSpPr>
          <p:nvPr/>
        </p:nvSpPr>
        <p:spPr>
          <a:xfrm xmlns:a="http://schemas.openxmlformats.org/drawingml/2006/main">
            <a:off x="3362325" y="2124075"/>
            <a:ext cx="22669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Registration</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checkpoint ρ1</a:t>
            </a:r>
          </a:p>
        </p:txBody>
      </p:sp>
      <p:sp>
        <p:nvSpPr>
          <p:cNvPr id="9" name="Diagram: Payment&#10;checkpoint ρ2">
            <a:extLst xmlns:a="http://schemas.openxmlformats.org/drawingml/2006/main">
              <a:ext uri="{FF2B5EF4-FFF2-40B4-BE49-F238E27FC236}">
                <a16:creationId xmlns:a16="http://schemas.microsoft.com/office/drawing/2014/main" id="{2ADA19E0-EFAB-4F98-87DA-BB5FE4E2105B}"/>
              </a:ext>
            </a:extLst>
          </p:cNvPr>
          <p:cNvSpPr>
            <a:spLocks xmlns:a="http://schemas.openxmlformats.org/drawingml/2006/main" noGrp="1"/>
          </p:cNvSpPr>
          <p:nvPr/>
        </p:nvSpPr>
        <p:spPr>
          <a:xfrm xmlns:a="http://schemas.openxmlformats.org/drawingml/2006/main">
            <a:off x="6115050" y="2124075"/>
            <a:ext cx="22669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Payment</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checkpoint ρ2</a:t>
            </a:r>
          </a:p>
        </p:txBody>
      </p:sp>
      <p:sp>
        <p:nvSpPr>
          <p:cNvPr id="10" name="Diagram: Service&#10;checkpoint ρ3">
            <a:extLst xmlns:a="http://schemas.openxmlformats.org/drawingml/2006/main">
              <a:ext uri="{FF2B5EF4-FFF2-40B4-BE49-F238E27FC236}">
                <a16:creationId xmlns:a16="http://schemas.microsoft.com/office/drawing/2014/main" id="{0E02022C-B8DD-4523-ABB4-E08E3E286F18}"/>
              </a:ext>
            </a:extLst>
          </p:cNvPr>
          <p:cNvSpPr>
            <a:spLocks xmlns:a="http://schemas.openxmlformats.org/drawingml/2006/main" noGrp="1"/>
          </p:cNvSpPr>
          <p:nvPr/>
        </p:nvSpPr>
        <p:spPr>
          <a:xfrm xmlns:a="http://schemas.openxmlformats.org/drawingml/2006/main">
            <a:off x="8867775" y="2124075"/>
            <a:ext cx="2266950" cy="72390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Service</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checkpoint ρ3</a:t>
            </a:r>
          </a:p>
        </p:txBody>
      </p:sp>
      <p:cxnSp>
        <p:nvCxnSpPr>
          <p:cNvPr id="11" name="flow arrow">
            <a:extLst xmlns:a="http://schemas.openxmlformats.org/drawingml/2006/main">
              <a:ext uri="{FF2B5EF4-FFF2-40B4-BE49-F238E27FC236}">
                <a16:creationId xmlns:a16="http://schemas.microsoft.com/office/drawing/2014/main" id="{5E81233D-F0BE-42C5-B10C-0927CD0FB862}"/>
              </a:ext>
            </a:extLst>
          </p:cNvPr>
          <p:cNvCxnSpPr/>
          <p:nvPr/>
        </p:nvCxnSpPr>
        <p:spPr>
          <a:xfrm xmlns:a="http://schemas.openxmlformats.org/drawingml/2006/main">
            <a:off x="2876550" y="2486025"/>
            <a:ext cx="48577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cxnSp>
        <p:nvCxnSpPr>
          <p:cNvPr id="12" name="flow arrow">
            <a:extLst xmlns:a="http://schemas.openxmlformats.org/drawingml/2006/main">
              <a:ext uri="{FF2B5EF4-FFF2-40B4-BE49-F238E27FC236}">
                <a16:creationId xmlns:a16="http://schemas.microsoft.com/office/drawing/2014/main" id="{51E01B45-2661-4622-AD7A-4CC8A7B5F0E3}"/>
              </a:ext>
            </a:extLst>
          </p:cNvPr>
          <p:cNvCxnSpPr/>
          <p:nvPr/>
        </p:nvCxnSpPr>
        <p:spPr>
          <a:xfrm xmlns:a="http://schemas.openxmlformats.org/drawingml/2006/main">
            <a:off x="5629275" y="2486025"/>
            <a:ext cx="48577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cxnSp>
        <p:nvCxnSpPr>
          <p:cNvPr id="13" name="flow arrow">
            <a:extLst xmlns:a="http://schemas.openxmlformats.org/drawingml/2006/main">
              <a:ext uri="{FF2B5EF4-FFF2-40B4-BE49-F238E27FC236}">
                <a16:creationId xmlns:a16="http://schemas.microsoft.com/office/drawing/2014/main" id="{5EA7E6EC-CB45-4E9A-85E3-A95C99DB17FD}"/>
              </a:ext>
            </a:extLst>
          </p:cNvPr>
          <p:cNvCxnSpPr/>
          <p:nvPr/>
        </p:nvCxnSpPr>
        <p:spPr>
          <a:xfrm xmlns:a="http://schemas.openxmlformats.org/drawingml/2006/main">
            <a:off x="8382000" y="2486025"/>
            <a:ext cx="48577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4" name="Diagram: ActionProof">
            <a:extLst xmlns:a="http://schemas.openxmlformats.org/drawingml/2006/main">
              <a:ext uri="{FF2B5EF4-FFF2-40B4-BE49-F238E27FC236}">
                <a16:creationId xmlns:a16="http://schemas.microsoft.com/office/drawing/2014/main" id="{EFA6E0BC-273C-4CDC-AF63-305A4D196F24}"/>
              </a:ext>
            </a:extLst>
          </p:cNvPr>
          <p:cNvSpPr>
            <a:spLocks xmlns:a="http://schemas.openxmlformats.org/drawingml/2006/main" noGrp="1"/>
          </p:cNvSpPr>
          <p:nvPr/>
        </p:nvSpPr>
        <p:spPr>
          <a:xfrm xmlns:a="http://schemas.openxmlformats.org/drawingml/2006/main">
            <a:off x="609600" y="3629025"/>
            <a:ext cx="2571750" cy="8286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00">
                <a:solidFill>
                  <a:srgbClr val="F5F6F8"/>
                </a:solidFill>
                <a:latin typeface="Arial"/>
                <a:ea typeface="Arial"/>
                <a:cs typeface="Arial"/>
              </a:defRPr>
            </a:defPPr>
            <a:lvl1pPr algn="ctr">
              <a:defRPr sz="1800">
                <a:solidFill>
                  <a:srgbClr val="F5F6F8"/>
                </a:solidFill>
                <a:latin typeface="Arial"/>
                <a:ea typeface="Arial"/>
                <a:cs typeface="Arial"/>
              </a:defRPr>
            </a:lvl1pPr>
            <a:lvl2pPr algn="ctr">
              <a:defRPr sz="1800">
                <a:solidFill>
                  <a:srgbClr val="F5F6F8"/>
                </a:solidFill>
                <a:latin typeface="Arial"/>
                <a:ea typeface="Arial"/>
                <a:cs typeface="Arial"/>
              </a:defRPr>
            </a:lvl2pPr>
            <a:lvl3pPr algn="ctr">
              <a:defRPr sz="1800">
                <a:solidFill>
                  <a:srgbClr val="F5F6F8"/>
                </a:solidFill>
                <a:latin typeface="Arial"/>
                <a:ea typeface="Arial"/>
                <a:cs typeface="Arial"/>
              </a:defRPr>
            </a:lvl3pPr>
            <a:lvl4pPr algn="ctr">
              <a:defRPr sz="1800">
                <a:solidFill>
                  <a:srgbClr val="F5F6F8"/>
                </a:solidFill>
                <a:latin typeface="Arial"/>
                <a:ea typeface="Arial"/>
                <a:cs typeface="Arial"/>
              </a:defRPr>
            </a:lvl4pPr>
            <a:lvl5pPr algn="ctr">
              <a:defRPr sz="1800">
                <a:solidFill>
                  <a:srgbClr val="F5F6F8"/>
                </a:solidFill>
                <a:latin typeface="Arial"/>
                <a:ea typeface="Arial"/>
                <a:cs typeface="Arial"/>
              </a:defRPr>
            </a:lvl5pPr>
            <a:lvl6pPr algn="ctr">
              <a:defRPr sz="1800">
                <a:solidFill>
                  <a:srgbClr val="F5F6F8"/>
                </a:solidFill>
                <a:latin typeface="Arial"/>
                <a:ea typeface="Arial"/>
                <a:cs typeface="Arial"/>
              </a:defRPr>
            </a:lvl6pPr>
            <a:lvl7pPr algn="ctr">
              <a:defRPr sz="1800">
                <a:solidFill>
                  <a:srgbClr val="F5F6F8"/>
                </a:solidFill>
                <a:latin typeface="Arial"/>
                <a:ea typeface="Arial"/>
                <a:cs typeface="Arial"/>
              </a:defRPr>
            </a:lvl7pPr>
            <a:lvl8pPr algn="ctr">
              <a:defRPr sz="1800">
                <a:solidFill>
                  <a:srgbClr val="F5F6F8"/>
                </a:solidFill>
                <a:latin typeface="Arial"/>
                <a:ea typeface="Arial"/>
                <a:cs typeface="Arial"/>
              </a:defRPr>
            </a:lvl8pPr>
            <a:lvl9pPr algn="ctr">
              <a:defRPr sz="1800">
                <a:solidFill>
                  <a:srgbClr val="F5F6F8"/>
                </a:solidFill>
                <a:latin typeface="Arial"/>
                <a:ea typeface="Arial"/>
                <a:cs typeface="Arial"/>
              </a:defRPr>
            </a:lvl9pPr>
          </a:lstStyle>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ActionProof</a:t>
            </a:r>
          </a:p>
          <a:p xmlns:a="http://schemas.openxmlformats.org/drawingml/2006/main">
            <a:pPr algn="ctr">
              <a:defRPr sz="1800">
                <a:solidFill>
                  <a:srgbClr val="F5F6F8"/>
                </a:solidFill>
                <a:latin typeface="Arial"/>
                <a:ea typeface="Arial"/>
                <a:cs typeface="Arial"/>
              </a:defRPr>
            </a:pPr>
            <a:r>
              <a:rPr sz="1800">
                <a:solidFill>
                  <a:srgbClr val="F5F6F8"/>
                </a:solidFill>
                <a:latin typeface="Arial"/>
                <a:ea typeface="Arial"/>
                <a:cs typeface="Arial"/>
              </a:rPr>
              <a:t>ρ0, R(p), D(p)</a:t>
            </a:r>
          </a:p>
        </p:txBody>
      </p:sp>
      <p:sp>
        <p:nvSpPr>
          <p:cNvPr id="15" name="Diagram: Canonical chain evidence">
            <a:extLst xmlns:a="http://schemas.openxmlformats.org/drawingml/2006/main">
              <a:ext uri="{FF2B5EF4-FFF2-40B4-BE49-F238E27FC236}">
                <a16:creationId xmlns:a16="http://schemas.microsoft.com/office/drawing/2014/main" id="{CD78C614-64F3-41A8-9222-A9531F33885B}"/>
              </a:ext>
            </a:extLst>
          </p:cNvPr>
          <p:cNvSpPr>
            <a:spLocks xmlns:a="http://schemas.openxmlformats.org/drawingml/2006/main" noGrp="1"/>
          </p:cNvSpPr>
          <p:nvPr/>
        </p:nvSpPr>
        <p:spPr>
          <a:xfrm xmlns:a="http://schemas.openxmlformats.org/drawingml/2006/main">
            <a:off x="6115050" y="3629025"/>
            <a:ext cx="5019675" cy="82867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75">
                <a:solidFill>
                  <a:srgbClr val="F5F6F8"/>
                </a:solidFill>
                <a:latin typeface="Arial"/>
                <a:ea typeface="Arial"/>
                <a:cs typeface="Arial"/>
              </a:defRPr>
            </a:defPPr>
            <a:lvl1pPr algn="ctr">
              <a:defRPr sz="1875">
                <a:solidFill>
                  <a:srgbClr val="F5F6F8"/>
                </a:solidFill>
                <a:latin typeface="Arial"/>
                <a:ea typeface="Arial"/>
                <a:cs typeface="Arial"/>
              </a:defRPr>
            </a:lvl1pPr>
            <a:lvl2pPr algn="ctr">
              <a:defRPr sz="1875">
                <a:solidFill>
                  <a:srgbClr val="F5F6F8"/>
                </a:solidFill>
                <a:latin typeface="Arial"/>
                <a:ea typeface="Arial"/>
                <a:cs typeface="Arial"/>
              </a:defRPr>
            </a:lvl2pPr>
            <a:lvl3pPr algn="ctr">
              <a:defRPr sz="1875">
                <a:solidFill>
                  <a:srgbClr val="F5F6F8"/>
                </a:solidFill>
                <a:latin typeface="Arial"/>
                <a:ea typeface="Arial"/>
                <a:cs typeface="Arial"/>
              </a:defRPr>
            </a:lvl3pPr>
            <a:lvl4pPr algn="ctr">
              <a:defRPr sz="1875">
                <a:solidFill>
                  <a:srgbClr val="F5F6F8"/>
                </a:solidFill>
                <a:latin typeface="Arial"/>
                <a:ea typeface="Arial"/>
                <a:cs typeface="Arial"/>
              </a:defRPr>
            </a:lvl4pPr>
            <a:lvl5pPr algn="ctr">
              <a:defRPr sz="1875">
                <a:solidFill>
                  <a:srgbClr val="F5F6F8"/>
                </a:solidFill>
                <a:latin typeface="Arial"/>
                <a:ea typeface="Arial"/>
                <a:cs typeface="Arial"/>
              </a:defRPr>
            </a:lvl5pPr>
            <a:lvl6pPr algn="ctr">
              <a:defRPr sz="1875">
                <a:solidFill>
                  <a:srgbClr val="F5F6F8"/>
                </a:solidFill>
                <a:latin typeface="Arial"/>
                <a:ea typeface="Arial"/>
                <a:cs typeface="Arial"/>
              </a:defRPr>
            </a:lvl6pPr>
            <a:lvl7pPr algn="ctr">
              <a:defRPr sz="1875">
                <a:solidFill>
                  <a:srgbClr val="F5F6F8"/>
                </a:solidFill>
                <a:latin typeface="Arial"/>
                <a:ea typeface="Arial"/>
                <a:cs typeface="Arial"/>
              </a:defRPr>
            </a:lvl7pPr>
            <a:lvl8pPr algn="ctr">
              <a:defRPr sz="1875">
                <a:solidFill>
                  <a:srgbClr val="F5F6F8"/>
                </a:solidFill>
                <a:latin typeface="Arial"/>
                <a:ea typeface="Arial"/>
                <a:cs typeface="Arial"/>
              </a:defRPr>
            </a:lvl8pPr>
            <a:lvl9pPr algn="ctr">
              <a:defRPr sz="1875">
                <a:solidFill>
                  <a:srgbClr val="F5F6F8"/>
                </a:solidFill>
                <a:latin typeface="Arial"/>
                <a:ea typeface="Arial"/>
                <a:cs typeface="Arial"/>
              </a:defRPr>
            </a:lvl9pPr>
          </a:lstStyle>
          <a:p xmlns:a="http://schemas.openxmlformats.org/drawingml/2006/main">
            <a:pPr algn="ctr">
              <a:defRPr sz="1875">
                <a:solidFill>
                  <a:srgbClr val="F5F6F8"/>
                </a:solidFill>
                <a:latin typeface="Arial"/>
                <a:ea typeface="Arial"/>
                <a:cs typeface="Arial"/>
              </a:defRPr>
            </a:pPr>
            <a:r>
              <a:rPr sz="1875">
                <a:solidFill>
                  <a:srgbClr val="F5F6F8"/>
                </a:solidFill>
                <a:latin typeface="Arial"/>
                <a:ea typeface="Arial"/>
                <a:cs typeface="Arial"/>
              </a:rPr>
              <a:t>Canonical chain evidence</a:t>
            </a:r>
          </a:p>
          <a:p xmlns:a="http://schemas.openxmlformats.org/drawingml/2006/main">
            <a:pPr algn="ctr">
              <a:defRPr sz="1875">
                <a:solidFill>
                  <a:srgbClr val="F5F6F8"/>
                </a:solidFill>
                <a:latin typeface="Arial"/>
                <a:ea typeface="Arial"/>
                <a:cs typeface="Arial"/>
              </a:defRPr>
            </a:pPr>
            <a:r>
              <a:rPr sz="1875">
                <a:solidFill>
                  <a:srgbClr val="F5F6F8"/>
                </a:solidFill>
                <a:latin typeface="Arial"/>
                <a:ea typeface="Arial"/>
                <a:cs typeface="Arial"/>
              </a:rPr>
              <a:t>Registration and USDC events</a:t>
            </a:r>
          </a:p>
        </p:txBody>
      </p:sp>
      <p:cxnSp>
        <p:nvCxnSpPr>
          <p:cNvPr id="16" name="flow arrow">
            <a:extLst xmlns:a="http://schemas.openxmlformats.org/drawingml/2006/main">
              <a:ext uri="{FF2B5EF4-FFF2-40B4-BE49-F238E27FC236}">
                <a16:creationId xmlns:a16="http://schemas.microsoft.com/office/drawing/2014/main" id="{701E05F4-9600-4A4C-BB45-E0A935A38625}"/>
              </a:ext>
            </a:extLst>
          </p:cNvPr>
          <p:cNvCxnSpPr/>
          <p:nvPr/>
        </p:nvCxnSpPr>
        <p:spPr>
          <a:xfrm xmlns:a="http://schemas.openxmlformats.org/drawingml/2006/main">
            <a:off x="1743075" y="2847975"/>
            <a:ext cx="0" cy="7810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cxnSp>
        <p:nvCxnSpPr>
          <p:cNvPr id="17" name="diagram line">
            <a:extLst xmlns:a="http://schemas.openxmlformats.org/drawingml/2006/main">
              <a:ext uri="{FF2B5EF4-FFF2-40B4-BE49-F238E27FC236}">
                <a16:creationId xmlns:a16="http://schemas.microsoft.com/office/drawing/2014/main" id="{7B24F675-176E-4FFA-9935-32868E3E392A}"/>
              </a:ext>
            </a:extLst>
          </p:cNvPr>
          <p:cNvCxnSpPr/>
          <p:nvPr/>
        </p:nvCxnSpPr>
        <p:spPr>
          <a:xfrm xmlns:a="http://schemas.openxmlformats.org/drawingml/2006/main">
            <a:off x="4495800" y="2847975"/>
            <a:ext cx="0" cy="400050"/>
          </a:xfrm>
          <a:prstGeom xmlns:a="http://schemas.openxmlformats.org/drawingml/2006/main" prst="straightConnector1">
            <a:avLst/>
          </a:prstGeom>
          <a:ln xmlns:a="http://schemas.openxmlformats.org/drawingml/2006/main" w="9525">
            <a:solidFill>
              <a:srgbClr val="62ACFF"/>
            </a:solidFill>
            <a:prstDash val="solid"/>
          </a:ln>
        </p:spPr>
      </p:cxnSp>
      <p:cxnSp>
        <p:nvCxnSpPr>
          <p:cNvPr id="18" name="diagram line">
            <a:extLst xmlns:a="http://schemas.openxmlformats.org/drawingml/2006/main">
              <a:ext uri="{FF2B5EF4-FFF2-40B4-BE49-F238E27FC236}">
                <a16:creationId xmlns:a16="http://schemas.microsoft.com/office/drawing/2014/main" id="{4905E9B6-FC05-4528-B8FA-47C4BE34C3CE}"/>
              </a:ext>
            </a:extLst>
          </p:cNvPr>
          <p:cNvCxnSpPr/>
          <p:nvPr/>
        </p:nvCxnSpPr>
        <p:spPr>
          <a:xfrm xmlns:a="http://schemas.openxmlformats.org/drawingml/2006/main">
            <a:off x="4495800" y="3248025"/>
            <a:ext cx="2752725" cy="0"/>
          </a:xfrm>
          <a:prstGeom xmlns:a="http://schemas.openxmlformats.org/drawingml/2006/main" prst="straightConnector1">
            <a:avLst/>
          </a:prstGeom>
          <a:ln xmlns:a="http://schemas.openxmlformats.org/drawingml/2006/main" w="9525">
            <a:solidFill>
              <a:srgbClr val="62ACFF"/>
            </a:solidFill>
            <a:prstDash val="solid"/>
          </a:ln>
        </p:spPr>
      </p:cxnSp>
      <p:cxnSp>
        <p:nvCxnSpPr>
          <p:cNvPr id="19" name="flow arrow">
            <a:extLst xmlns:a="http://schemas.openxmlformats.org/drawingml/2006/main">
              <a:ext uri="{FF2B5EF4-FFF2-40B4-BE49-F238E27FC236}">
                <a16:creationId xmlns:a16="http://schemas.microsoft.com/office/drawing/2014/main" id="{498AEAE0-37F3-4109-8D43-3278A1C9EF64}"/>
              </a:ext>
            </a:extLst>
          </p:cNvPr>
          <p:cNvCxnSpPr/>
          <p:nvPr/>
        </p:nvCxnSpPr>
        <p:spPr>
          <a:xfrm xmlns:a="http://schemas.openxmlformats.org/drawingml/2006/main">
            <a:off x="7248525" y="3248025"/>
            <a:ext cx="0" cy="38100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cxnSp>
        <p:nvCxnSpPr>
          <p:cNvPr id="20" name="flow arrow">
            <a:extLst xmlns:a="http://schemas.openxmlformats.org/drawingml/2006/main">
              <a:ext uri="{FF2B5EF4-FFF2-40B4-BE49-F238E27FC236}">
                <a16:creationId xmlns:a16="http://schemas.microsoft.com/office/drawing/2014/main" id="{30ABD29E-C65C-4A7E-B97E-D08233E628D8}"/>
              </a:ext>
            </a:extLst>
          </p:cNvPr>
          <p:cNvCxnSpPr/>
          <p:nvPr/>
        </p:nvCxnSpPr>
        <p:spPr>
          <a:xfrm xmlns:a="http://schemas.openxmlformats.org/drawingml/2006/main">
            <a:off x="7248525" y="2847975"/>
            <a:ext cx="0" cy="78105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21" name="Diagram: Independent verifier">
            <a:extLst xmlns:a="http://schemas.openxmlformats.org/drawingml/2006/main">
              <a:ext uri="{FF2B5EF4-FFF2-40B4-BE49-F238E27FC236}">
                <a16:creationId xmlns:a16="http://schemas.microsoft.com/office/drawing/2014/main" id="{8AA81F31-CA63-4C50-BAB8-2E93D33EC3C5}"/>
              </a:ext>
            </a:extLst>
          </p:cNvPr>
          <p:cNvSpPr>
            <a:spLocks xmlns:a="http://schemas.openxmlformats.org/drawingml/2006/main" noGrp="1"/>
          </p:cNvSpPr>
          <p:nvPr/>
        </p:nvSpPr>
        <p:spPr>
          <a:xfrm xmlns:a="http://schemas.openxmlformats.org/drawingml/2006/main">
            <a:off x="3686175" y="5000625"/>
            <a:ext cx="4448175" cy="733425"/>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1875">
                <a:solidFill>
                  <a:srgbClr val="F5F6F8"/>
                </a:solidFill>
                <a:latin typeface="Arial"/>
                <a:ea typeface="Arial"/>
                <a:cs typeface="Arial"/>
              </a:defRPr>
            </a:defPPr>
            <a:lvl1pPr algn="ctr">
              <a:defRPr sz="1875">
                <a:solidFill>
                  <a:srgbClr val="F5F6F8"/>
                </a:solidFill>
                <a:latin typeface="Arial"/>
                <a:ea typeface="Arial"/>
                <a:cs typeface="Arial"/>
              </a:defRPr>
            </a:lvl1pPr>
            <a:lvl2pPr algn="ctr">
              <a:defRPr sz="1875">
                <a:solidFill>
                  <a:srgbClr val="F5F6F8"/>
                </a:solidFill>
                <a:latin typeface="Arial"/>
                <a:ea typeface="Arial"/>
                <a:cs typeface="Arial"/>
              </a:defRPr>
            </a:lvl2pPr>
            <a:lvl3pPr algn="ctr">
              <a:defRPr sz="1875">
                <a:solidFill>
                  <a:srgbClr val="F5F6F8"/>
                </a:solidFill>
                <a:latin typeface="Arial"/>
                <a:ea typeface="Arial"/>
                <a:cs typeface="Arial"/>
              </a:defRPr>
            </a:lvl3pPr>
            <a:lvl4pPr algn="ctr">
              <a:defRPr sz="1875">
                <a:solidFill>
                  <a:srgbClr val="F5F6F8"/>
                </a:solidFill>
                <a:latin typeface="Arial"/>
                <a:ea typeface="Arial"/>
                <a:cs typeface="Arial"/>
              </a:defRPr>
            </a:lvl4pPr>
            <a:lvl5pPr algn="ctr">
              <a:defRPr sz="1875">
                <a:solidFill>
                  <a:srgbClr val="F5F6F8"/>
                </a:solidFill>
                <a:latin typeface="Arial"/>
                <a:ea typeface="Arial"/>
                <a:cs typeface="Arial"/>
              </a:defRPr>
            </a:lvl5pPr>
            <a:lvl6pPr algn="ctr">
              <a:defRPr sz="1875">
                <a:solidFill>
                  <a:srgbClr val="F5F6F8"/>
                </a:solidFill>
                <a:latin typeface="Arial"/>
                <a:ea typeface="Arial"/>
                <a:cs typeface="Arial"/>
              </a:defRPr>
            </a:lvl6pPr>
            <a:lvl7pPr algn="ctr">
              <a:defRPr sz="1875">
                <a:solidFill>
                  <a:srgbClr val="F5F6F8"/>
                </a:solidFill>
                <a:latin typeface="Arial"/>
                <a:ea typeface="Arial"/>
                <a:cs typeface="Arial"/>
              </a:defRPr>
            </a:lvl7pPr>
            <a:lvl8pPr algn="ctr">
              <a:defRPr sz="1875">
                <a:solidFill>
                  <a:srgbClr val="F5F6F8"/>
                </a:solidFill>
                <a:latin typeface="Arial"/>
                <a:ea typeface="Arial"/>
                <a:cs typeface="Arial"/>
              </a:defRPr>
            </a:lvl8pPr>
            <a:lvl9pPr algn="ctr">
              <a:defRPr sz="1875">
                <a:solidFill>
                  <a:srgbClr val="F5F6F8"/>
                </a:solidFill>
                <a:latin typeface="Arial"/>
                <a:ea typeface="Arial"/>
                <a:cs typeface="Arial"/>
              </a:defRPr>
            </a:lvl9pPr>
          </a:lstStyle>
          <a:p xmlns:a="http://schemas.openxmlformats.org/drawingml/2006/main">
            <a:pPr algn="ctr">
              <a:defRPr sz="1875">
                <a:solidFill>
                  <a:srgbClr val="F5F6F8"/>
                </a:solidFill>
                <a:latin typeface="Arial"/>
                <a:ea typeface="Arial"/>
                <a:cs typeface="Arial"/>
              </a:defRPr>
            </a:pPr>
            <a:r>
              <a:rPr sz="1875">
                <a:solidFill>
                  <a:srgbClr val="F5F6F8"/>
                </a:solidFill>
                <a:latin typeface="Arial"/>
                <a:ea typeface="Arial"/>
                <a:cs typeface="Arial"/>
              </a:rPr>
              <a:t>Independent verifier</a:t>
            </a:r>
          </a:p>
          <a:p xmlns:a="http://schemas.openxmlformats.org/drawingml/2006/main">
            <a:pPr algn="ctr">
              <a:defRPr sz="1875">
                <a:solidFill>
                  <a:srgbClr val="F5F6F8"/>
                </a:solidFill>
                <a:latin typeface="Arial"/>
                <a:ea typeface="Arial"/>
                <a:cs typeface="Arial"/>
              </a:defRPr>
            </a:pPr>
            <a:r>
              <a:rPr sz="1875">
                <a:solidFill>
                  <a:srgbClr val="F5F6F8"/>
                </a:solidFill>
                <a:latin typeface="Arial"/>
                <a:ea typeface="Arial"/>
                <a:cs typeface="Arial"/>
              </a:rPr>
              <a:t>Merkle disclosures + reviewed trust</a:t>
            </a:r>
          </a:p>
        </p:txBody>
      </p:sp>
      <p:cxnSp>
        <p:nvCxnSpPr>
          <p:cNvPr id="22" name="diagram line">
            <a:extLst xmlns:a="http://schemas.openxmlformats.org/drawingml/2006/main">
              <a:ext uri="{FF2B5EF4-FFF2-40B4-BE49-F238E27FC236}">
                <a16:creationId xmlns:a16="http://schemas.microsoft.com/office/drawing/2014/main" id="{6FF0FA12-D897-467C-B7C2-9B9BED483FEE}"/>
              </a:ext>
            </a:extLst>
          </p:cNvPr>
          <p:cNvCxnSpPr/>
          <p:nvPr/>
        </p:nvCxnSpPr>
        <p:spPr>
          <a:xfrm xmlns:a="http://schemas.openxmlformats.org/drawingml/2006/main">
            <a:off x="1895475" y="4457700"/>
            <a:ext cx="0" cy="904875"/>
          </a:xfrm>
          <a:prstGeom xmlns:a="http://schemas.openxmlformats.org/drawingml/2006/main" prst="straightConnector1">
            <a:avLst/>
          </a:prstGeom>
          <a:ln xmlns:a="http://schemas.openxmlformats.org/drawingml/2006/main" w="9525">
            <a:solidFill>
              <a:srgbClr val="62ACFF"/>
            </a:solidFill>
            <a:prstDash val="solid"/>
          </a:ln>
        </p:spPr>
      </p:cxnSp>
      <p:cxnSp>
        <p:nvCxnSpPr>
          <p:cNvPr id="23" name="flow arrow">
            <a:extLst xmlns:a="http://schemas.openxmlformats.org/drawingml/2006/main">
              <a:ext uri="{FF2B5EF4-FFF2-40B4-BE49-F238E27FC236}">
                <a16:creationId xmlns:a16="http://schemas.microsoft.com/office/drawing/2014/main" id="{A5D6B252-A0CD-4B88-A9E3-3641A95BF53B}"/>
              </a:ext>
            </a:extLst>
          </p:cNvPr>
          <p:cNvCxnSpPr/>
          <p:nvPr/>
        </p:nvCxnSpPr>
        <p:spPr>
          <a:xfrm xmlns:a="http://schemas.openxmlformats.org/drawingml/2006/main">
            <a:off x="1895475" y="5362575"/>
            <a:ext cx="1790700"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cxnSp>
        <p:nvCxnSpPr>
          <p:cNvPr id="24" name="diagram line">
            <a:extLst xmlns:a="http://schemas.openxmlformats.org/drawingml/2006/main">
              <a:ext uri="{FF2B5EF4-FFF2-40B4-BE49-F238E27FC236}">
                <a16:creationId xmlns:a16="http://schemas.microsoft.com/office/drawing/2014/main" id="{C8819A6D-515F-4CCF-A6FD-D713E65FE66C}"/>
              </a:ext>
            </a:extLst>
          </p:cNvPr>
          <p:cNvCxnSpPr/>
          <p:nvPr/>
        </p:nvCxnSpPr>
        <p:spPr>
          <a:xfrm xmlns:a="http://schemas.openxmlformats.org/drawingml/2006/main">
            <a:off x="8620125" y="4457700"/>
            <a:ext cx="0" cy="904875"/>
          </a:xfrm>
          <a:prstGeom xmlns:a="http://schemas.openxmlformats.org/drawingml/2006/main" prst="straightConnector1">
            <a:avLst/>
          </a:prstGeom>
          <a:ln xmlns:a="http://schemas.openxmlformats.org/drawingml/2006/main" w="9525">
            <a:solidFill>
              <a:srgbClr val="62ACFF"/>
            </a:solidFill>
            <a:prstDash val="solid"/>
          </a:ln>
        </p:spPr>
      </p:cxnSp>
      <p:cxnSp>
        <p:nvCxnSpPr>
          <p:cNvPr id="25" name="flow arrow">
            <a:extLst xmlns:a="http://schemas.openxmlformats.org/drawingml/2006/main">
              <a:ext uri="{FF2B5EF4-FFF2-40B4-BE49-F238E27FC236}">
                <a16:creationId xmlns:a16="http://schemas.microsoft.com/office/drawing/2014/main" id="{5AFB965F-D43C-4628-B6D8-42BDBFAC8E4F}"/>
              </a:ext>
            </a:extLst>
          </p:cNvPr>
          <p:cNvCxnSpPr/>
          <p:nvPr/>
        </p:nvCxnSpPr>
        <p:spPr>
          <a:xfrm xmlns:a="http://schemas.openxmlformats.org/drawingml/2006/main">
            <a:off x="8134350" y="5362575"/>
            <a:ext cx="485775" cy="0"/>
          </a:xfrm>
          <a:prstGeom xmlns:a="http://schemas.openxmlformats.org/drawingml/2006/main" prst="straightConnector1">
            <a:avLst/>
          </a:prstGeom>
          <a:ln xmlns:a="http://schemas.openxmlformats.org/drawingml/2006/main" w="19050">
            <a:solidFill>
              <a:srgbClr val="62ACFF"/>
            </a:solidFill>
            <a:prstDash val="solid"/>
            <a:headEnd type="triangle" w="med" len="med"/>
          </a:ln>
        </p:spPr>
      </p:cxnSp>
      <p:cxnSp>
        <p:nvCxnSpPr>
          <p:cNvPr id="26" name="diagram line">
            <a:extLst xmlns:a="http://schemas.openxmlformats.org/drawingml/2006/main">
              <a:ext uri="{FF2B5EF4-FFF2-40B4-BE49-F238E27FC236}">
                <a16:creationId xmlns:a16="http://schemas.microsoft.com/office/drawing/2014/main" id="{D5BD0FF6-9607-4DB2-9D19-7D46DFCF486A}"/>
              </a:ext>
            </a:extLst>
          </p:cNvPr>
          <p:cNvCxnSpPr/>
          <p:nvPr/>
        </p:nvCxnSpPr>
        <p:spPr>
          <a:xfrm xmlns:a="http://schemas.openxmlformats.org/drawingml/2006/main">
            <a:off x="10001250" y="2847975"/>
            <a:ext cx="1428750" cy="0"/>
          </a:xfrm>
          <a:prstGeom xmlns:a="http://schemas.openxmlformats.org/drawingml/2006/main" prst="straightConnector1">
            <a:avLst/>
          </a:prstGeom>
          <a:ln xmlns:a="http://schemas.openxmlformats.org/drawingml/2006/main" w="9525">
            <a:solidFill>
              <a:srgbClr val="62ACFF"/>
            </a:solidFill>
            <a:prstDash val="dash"/>
          </a:ln>
        </p:spPr>
      </p:cxnSp>
      <p:cxnSp>
        <p:nvCxnSpPr>
          <p:cNvPr id="27" name="diagram line">
            <a:extLst xmlns:a="http://schemas.openxmlformats.org/drawingml/2006/main">
              <a:ext uri="{FF2B5EF4-FFF2-40B4-BE49-F238E27FC236}">
                <a16:creationId xmlns:a16="http://schemas.microsoft.com/office/drawing/2014/main" id="{D624BEEF-2317-4C5B-AF25-42DAB09E4295}"/>
              </a:ext>
            </a:extLst>
          </p:cNvPr>
          <p:cNvCxnSpPr/>
          <p:nvPr/>
        </p:nvCxnSpPr>
        <p:spPr>
          <a:xfrm xmlns:a="http://schemas.openxmlformats.org/drawingml/2006/main">
            <a:off x="11430000" y="2847975"/>
            <a:ext cx="0" cy="3124200"/>
          </a:xfrm>
          <a:prstGeom xmlns:a="http://schemas.openxmlformats.org/drawingml/2006/main" prst="straightConnector1">
            <a:avLst/>
          </a:prstGeom>
          <a:ln xmlns:a="http://schemas.openxmlformats.org/drawingml/2006/main" w="9525">
            <a:solidFill>
              <a:srgbClr val="62ACFF"/>
            </a:solidFill>
            <a:prstDash val="dash"/>
          </a:ln>
        </p:spPr>
      </p:cxnSp>
      <p:cxnSp>
        <p:nvCxnSpPr>
          <p:cNvPr id="28" name="diagram line">
            <a:extLst xmlns:a="http://schemas.openxmlformats.org/drawingml/2006/main">
              <a:ext uri="{FF2B5EF4-FFF2-40B4-BE49-F238E27FC236}">
                <a16:creationId xmlns:a16="http://schemas.microsoft.com/office/drawing/2014/main" id="{794F126E-1574-452A-BBC0-0F59B5D9E13F}"/>
              </a:ext>
            </a:extLst>
          </p:cNvPr>
          <p:cNvCxnSpPr/>
          <p:nvPr/>
        </p:nvCxnSpPr>
        <p:spPr>
          <a:xfrm xmlns:a="http://schemas.openxmlformats.org/drawingml/2006/main">
            <a:off x="5905500" y="5972175"/>
            <a:ext cx="5524500" cy="0"/>
          </a:xfrm>
          <a:prstGeom xmlns:a="http://schemas.openxmlformats.org/drawingml/2006/main" prst="straightConnector1">
            <a:avLst/>
          </a:prstGeom>
          <a:ln xmlns:a="http://schemas.openxmlformats.org/drawingml/2006/main" w="9525">
            <a:solidFill>
              <a:srgbClr val="62ACFF"/>
            </a:solidFill>
            <a:prstDash val="dash"/>
          </a:ln>
        </p:spPr>
      </p:cxnSp>
      <p:cxnSp>
        <p:nvCxnSpPr>
          <p:cNvPr id="29" name="flow arrow">
            <a:extLst xmlns:a="http://schemas.openxmlformats.org/drawingml/2006/main">
              <a:ext uri="{FF2B5EF4-FFF2-40B4-BE49-F238E27FC236}">
                <a16:creationId xmlns:a16="http://schemas.microsoft.com/office/drawing/2014/main" id="{D7BFBDF0-4D11-464A-8CF4-DE298756916C}"/>
              </a:ext>
            </a:extLst>
          </p:cNvPr>
          <p:cNvCxnSpPr/>
          <p:nvPr/>
        </p:nvCxnSpPr>
        <p:spPr>
          <a:xfrm xmlns:a="http://schemas.openxmlformats.org/drawingml/2006/main">
            <a:off x="5905500" y="5734050"/>
            <a:ext cx="0" cy="238125"/>
          </a:xfrm>
          <a:prstGeom xmlns:a="http://schemas.openxmlformats.org/drawingml/2006/main" prst="straightConnector1">
            <a:avLst/>
          </a:prstGeom>
          <a:ln xmlns:a="http://schemas.openxmlformats.org/drawingml/2006/main" w="19050">
            <a:solidFill>
              <a:srgbClr val="62ACFF"/>
            </a:solidFill>
            <a:prstDash val="dash"/>
            <a:headEnd type="triangle" w="med" len="med"/>
          </a:ln>
        </p:spPr>
      </p:cxnSp>
      <p:sp>
        <p:nvSpPr>
          <p:cNvPr id="30" name="Required financial checks: passed. Overall: incomplete.">
            <a:extLst xmlns:a="http://schemas.openxmlformats.org/drawingml/2006/main">
              <a:ext uri="{FF2B5EF4-FFF2-40B4-BE49-F238E27FC236}">
                <a16:creationId xmlns:a16="http://schemas.microsoft.com/office/drawing/2014/main" id="{8205FBEB-A567-4F67-A8A9-F6FCC916B73C}"/>
              </a:ext>
            </a:extLst>
          </p:cNvPr>
          <p:cNvSpPr>
            <a:spLocks xmlns:a="http://schemas.openxmlformats.org/drawingml/2006/main" noGrp="1"/>
          </p:cNvSpPr>
          <p:nvPr/>
        </p:nvSpPr>
        <p:spPr>
          <a:xfrm xmlns:a="http://schemas.openxmlformats.org/drawingml/2006/main">
            <a:off x="609600" y="60674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2ACFF"/>
                </a:solidFill>
                <a:latin typeface="Arial"/>
                <a:ea typeface="Arial"/>
                <a:cs typeface="Arial"/>
              </a:defRPr>
            </a:defPPr>
            <a:lvl1pPr algn="l">
              <a:defRPr sz="1800" b="1">
                <a:solidFill>
                  <a:srgbClr val="62ACFF"/>
                </a:solidFill>
                <a:latin typeface="Arial"/>
                <a:ea typeface="Arial"/>
                <a:cs typeface="Arial"/>
              </a:defRPr>
            </a:lvl1pPr>
            <a:lvl2pPr algn="l">
              <a:defRPr sz="1800" b="1">
                <a:solidFill>
                  <a:srgbClr val="62ACFF"/>
                </a:solidFill>
                <a:latin typeface="Arial"/>
                <a:ea typeface="Arial"/>
                <a:cs typeface="Arial"/>
              </a:defRPr>
            </a:lvl2pPr>
            <a:lvl3pPr algn="l">
              <a:defRPr sz="1800" b="1">
                <a:solidFill>
                  <a:srgbClr val="62ACFF"/>
                </a:solidFill>
                <a:latin typeface="Arial"/>
                <a:ea typeface="Arial"/>
                <a:cs typeface="Arial"/>
              </a:defRPr>
            </a:lvl3pPr>
            <a:lvl4pPr algn="l">
              <a:defRPr sz="1800" b="1">
                <a:solidFill>
                  <a:srgbClr val="62ACFF"/>
                </a:solidFill>
                <a:latin typeface="Arial"/>
                <a:ea typeface="Arial"/>
                <a:cs typeface="Arial"/>
              </a:defRPr>
            </a:lvl4pPr>
            <a:lvl5pPr algn="l">
              <a:defRPr sz="1800" b="1">
                <a:solidFill>
                  <a:srgbClr val="62ACFF"/>
                </a:solidFill>
                <a:latin typeface="Arial"/>
                <a:ea typeface="Arial"/>
                <a:cs typeface="Arial"/>
              </a:defRPr>
            </a:lvl5pPr>
            <a:lvl6pPr algn="l">
              <a:defRPr sz="1800" b="1">
                <a:solidFill>
                  <a:srgbClr val="62ACFF"/>
                </a:solidFill>
                <a:latin typeface="Arial"/>
                <a:ea typeface="Arial"/>
                <a:cs typeface="Arial"/>
              </a:defRPr>
            </a:lvl6pPr>
            <a:lvl7pPr algn="l">
              <a:defRPr sz="1800" b="1">
                <a:solidFill>
                  <a:srgbClr val="62ACFF"/>
                </a:solidFill>
                <a:latin typeface="Arial"/>
                <a:ea typeface="Arial"/>
                <a:cs typeface="Arial"/>
              </a:defRPr>
            </a:lvl7pPr>
            <a:lvl8pPr algn="l">
              <a:defRPr sz="1800" b="1">
                <a:solidFill>
                  <a:srgbClr val="62ACFF"/>
                </a:solidFill>
                <a:latin typeface="Arial"/>
                <a:ea typeface="Arial"/>
                <a:cs typeface="Arial"/>
              </a:defRPr>
            </a:lvl8pPr>
            <a:lvl9pPr algn="l">
              <a:defRPr sz="1800" b="1">
                <a:solidFill>
                  <a:srgbClr val="62ACFF"/>
                </a:solidFill>
                <a:latin typeface="Arial"/>
                <a:ea typeface="Arial"/>
                <a:cs typeface="Arial"/>
              </a:defRPr>
            </a:lvl9pPr>
          </a:lstStyle>
          <a:p xmlns:a="http://schemas.openxmlformats.org/drawingml/2006/main">
            <a:pPr algn="l">
              <a:defRPr sz="1800" b="1">
                <a:solidFill>
                  <a:srgbClr val="62ACFF"/>
                </a:solidFill>
                <a:latin typeface="Arial"/>
                <a:ea typeface="Arial"/>
                <a:cs typeface="Arial"/>
              </a:defRPr>
            </a:pPr>
            <a:r>
              <a:rPr sz="1800" b="1">
                <a:solidFill>
                  <a:srgbClr val="62ACFF"/>
                </a:solidFill>
                <a:latin typeface="Arial"/>
                <a:ea typeface="Arial"/>
                <a:cs typeface="Arial"/>
              </a:rPr>
              <a:t>Required financial checks: passed. Overall: incomplete.</a:t>
            </a:r>
          </a:p>
        </p:txBody>
      </p:sp>
    </p:spTree>
    <p:extLst>
      <p:ext uri="{BB962C8B-B14F-4D97-AF65-F5344CB8AC3E}">
        <p14:creationId xmlns:p14="http://schemas.microsoft.com/office/powerpoint/2010/main" val="2040214711"/>
      </p:ext>
    </p:extLst>
  </p:cSld>
</p:sld>
</file>

<file path=ppt/slides/slide11.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DE0D7EA-4A3B-4281-B3B7-0C78F651FB26}"/>
              </a:ext>
            </a:extLst>
          </p:cNvPr>
          <p:cNvPicPr>
            <a:picLocks xmlns:a="http://schemas.openxmlformats.org/drawingml/2006/main" noChangeAspect="1"/>
          </p:cNvPicPr>
          <p:nvPr/>
        </p:nvPicPr>
        <p:blipFill>
          <a:blip xmlns:r="http://schemas.openxmlformats.org/officeDocument/2006/relationships" xmlns:a="http://schemas.openxmlformats.org/drawingml/2006/main" r:embed="R059a6a37b032452d">
            <a:extLst>
              <a:ext uri="{96DAC541-7B7A-43D3-8B79-37D633B846F1}">
                <asvg:svgBlip xmlns:asvg="http://schemas.microsoft.com/office/drawing/2016/SVG/main" r:embed="R9e918ebf8e594aca"/>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Host interference and missing history">
            <a:extLst xmlns:a="http://schemas.openxmlformats.org/drawingml/2006/main">
              <a:ext uri="{FF2B5EF4-FFF2-40B4-BE49-F238E27FC236}">
                <a16:creationId xmlns:a16="http://schemas.microsoft.com/office/drawing/2014/main" id="{F2C6E05A-21D6-4DFA-A60E-83D1E1C406CC}"/>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Host interference and missing history</a:t>
            </a:r>
          </a:p>
        </p:txBody>
      </p:sp>
      <p:sp>
        <p:nvSpPr>
          <p:cNvPr id="4" name="Mandate Labs">
            <a:extLst xmlns:a="http://schemas.openxmlformats.org/drawingml/2006/main">
              <a:ext uri="{FF2B5EF4-FFF2-40B4-BE49-F238E27FC236}">
                <a16:creationId xmlns:a16="http://schemas.microsoft.com/office/drawing/2014/main" id="{C007AA64-2231-492F-AA9B-E3C04167D149}"/>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11">
            <a:extLst xmlns:a="http://schemas.openxmlformats.org/drawingml/2006/main">
              <a:ext uri="{FF2B5EF4-FFF2-40B4-BE49-F238E27FC236}">
                <a16:creationId xmlns:a16="http://schemas.microsoft.com/office/drawing/2014/main" id="{0BCD00ED-4CB5-459D-9FEA-30A27E0C1860}"/>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11</a:t>
            </a:r>
          </a:p>
        </p:txBody>
      </p:sp>
      <p:sp>
        <p:nvSpPr>
          <p:cNvPr id="6" name="World A: history ends at checkpoint 2">
            <a:extLst xmlns:a="http://schemas.openxmlformats.org/drawingml/2006/main">
              <a:ext uri="{FF2B5EF4-FFF2-40B4-BE49-F238E27FC236}">
                <a16:creationId xmlns:a16="http://schemas.microsoft.com/office/drawing/2014/main" id="{0657CA4E-6808-4764-854A-54A97BB72803}"/>
              </a:ext>
            </a:extLst>
          </p:cNvPr>
          <p:cNvSpPr>
            <a:spLocks xmlns:a="http://schemas.openxmlformats.org/drawingml/2006/main" noGrp="1"/>
          </p:cNvSpPr>
          <p:nvPr/>
        </p:nvSpPr>
        <p:spPr>
          <a:xfrm xmlns:a="http://schemas.openxmlformats.org/drawingml/2006/main">
            <a:off x="609600" y="2057400"/>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ACFF"/>
                </a:solidFill>
                <a:latin typeface="Arial"/>
                <a:ea typeface="Arial"/>
                <a:cs typeface="Arial"/>
              </a:defRPr>
            </a:defPPr>
            <a:lvl1pPr algn="l">
              <a:defRPr sz="2175" b="1">
                <a:solidFill>
                  <a:srgbClr val="62ACFF"/>
                </a:solidFill>
                <a:latin typeface="Arial"/>
                <a:ea typeface="Arial"/>
                <a:cs typeface="Arial"/>
              </a:defRPr>
            </a:lvl1pPr>
            <a:lvl2pPr algn="l">
              <a:defRPr sz="2175" b="1">
                <a:solidFill>
                  <a:srgbClr val="62ACFF"/>
                </a:solidFill>
                <a:latin typeface="Arial"/>
                <a:ea typeface="Arial"/>
                <a:cs typeface="Arial"/>
              </a:defRPr>
            </a:lvl2pPr>
            <a:lvl3pPr algn="l">
              <a:defRPr sz="2175" b="1">
                <a:solidFill>
                  <a:srgbClr val="62ACFF"/>
                </a:solidFill>
                <a:latin typeface="Arial"/>
                <a:ea typeface="Arial"/>
                <a:cs typeface="Arial"/>
              </a:defRPr>
            </a:lvl3pPr>
            <a:lvl4pPr algn="l">
              <a:defRPr sz="2175" b="1">
                <a:solidFill>
                  <a:srgbClr val="62ACFF"/>
                </a:solidFill>
                <a:latin typeface="Arial"/>
                <a:ea typeface="Arial"/>
                <a:cs typeface="Arial"/>
              </a:defRPr>
            </a:lvl4pPr>
            <a:lvl5pPr algn="l">
              <a:defRPr sz="2175" b="1">
                <a:solidFill>
                  <a:srgbClr val="62ACFF"/>
                </a:solidFill>
                <a:latin typeface="Arial"/>
                <a:ea typeface="Arial"/>
                <a:cs typeface="Arial"/>
              </a:defRPr>
            </a:lvl5pPr>
            <a:lvl6pPr algn="l">
              <a:defRPr sz="2175" b="1">
                <a:solidFill>
                  <a:srgbClr val="62ACFF"/>
                </a:solidFill>
                <a:latin typeface="Arial"/>
                <a:ea typeface="Arial"/>
                <a:cs typeface="Arial"/>
              </a:defRPr>
            </a:lvl6pPr>
            <a:lvl7pPr algn="l">
              <a:defRPr sz="2175" b="1">
                <a:solidFill>
                  <a:srgbClr val="62ACFF"/>
                </a:solidFill>
                <a:latin typeface="Arial"/>
                <a:ea typeface="Arial"/>
                <a:cs typeface="Arial"/>
              </a:defRPr>
            </a:lvl7pPr>
            <a:lvl8pPr algn="l">
              <a:defRPr sz="2175" b="1">
                <a:solidFill>
                  <a:srgbClr val="62ACFF"/>
                </a:solidFill>
                <a:latin typeface="Arial"/>
                <a:ea typeface="Arial"/>
                <a:cs typeface="Arial"/>
              </a:defRPr>
            </a:lvl8pPr>
            <a:lvl9pPr algn="l">
              <a:defRPr sz="2175" b="1">
                <a:solidFill>
                  <a:srgbClr val="62ACFF"/>
                </a:solidFill>
                <a:latin typeface="Arial"/>
                <a:ea typeface="Arial"/>
                <a:cs typeface="Arial"/>
              </a:defRPr>
            </a:lvl9pPr>
          </a:lstStyle>
          <a:p xmlns:a="http://schemas.openxmlformats.org/drawingml/2006/main">
            <a:pPr algn="l">
              <a:defRPr sz="2175" b="1">
                <a:solidFill>
                  <a:srgbClr val="62ACFF"/>
                </a:solidFill>
                <a:latin typeface="Arial"/>
                <a:ea typeface="Arial"/>
                <a:cs typeface="Arial"/>
              </a:defRPr>
            </a:pPr>
            <a:r>
              <a:rPr sz="2175" b="1">
                <a:solidFill>
                  <a:srgbClr val="62ACFF"/>
                </a:solidFill>
                <a:latin typeface="Arial"/>
                <a:ea typeface="Arial"/>
                <a:cs typeface="Arial"/>
              </a:rPr>
              <a:t>World A: history ends at checkpoint 2</a:t>
            </a:r>
          </a:p>
        </p:txBody>
      </p:sp>
      <p:sp>
        <p:nvSpPr>
          <p:cNvPr id="7" name="World B: checkpoint 3 is withheld">
            <a:extLst xmlns:a="http://schemas.openxmlformats.org/drawingml/2006/main">
              <a:ext uri="{FF2B5EF4-FFF2-40B4-BE49-F238E27FC236}">
                <a16:creationId xmlns:a16="http://schemas.microsoft.com/office/drawing/2014/main" id="{EB2EBBD3-D002-42B6-A9FF-F48B0E87AE0D}"/>
              </a:ext>
            </a:extLst>
          </p:cNvPr>
          <p:cNvSpPr>
            <a:spLocks xmlns:a="http://schemas.openxmlformats.org/drawingml/2006/main" noGrp="1"/>
          </p:cNvSpPr>
          <p:nvPr/>
        </p:nvSpPr>
        <p:spPr>
          <a:xfrm xmlns:a="http://schemas.openxmlformats.org/drawingml/2006/main">
            <a:off x="609600" y="37623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ACFF"/>
                </a:solidFill>
                <a:latin typeface="Arial"/>
                <a:ea typeface="Arial"/>
                <a:cs typeface="Arial"/>
              </a:defRPr>
            </a:defPPr>
            <a:lvl1pPr algn="l">
              <a:defRPr sz="2175" b="1">
                <a:solidFill>
                  <a:srgbClr val="62ACFF"/>
                </a:solidFill>
                <a:latin typeface="Arial"/>
                <a:ea typeface="Arial"/>
                <a:cs typeface="Arial"/>
              </a:defRPr>
            </a:lvl1pPr>
            <a:lvl2pPr algn="l">
              <a:defRPr sz="2175" b="1">
                <a:solidFill>
                  <a:srgbClr val="62ACFF"/>
                </a:solidFill>
                <a:latin typeface="Arial"/>
                <a:ea typeface="Arial"/>
                <a:cs typeface="Arial"/>
              </a:defRPr>
            </a:lvl2pPr>
            <a:lvl3pPr algn="l">
              <a:defRPr sz="2175" b="1">
                <a:solidFill>
                  <a:srgbClr val="62ACFF"/>
                </a:solidFill>
                <a:latin typeface="Arial"/>
                <a:ea typeface="Arial"/>
                <a:cs typeface="Arial"/>
              </a:defRPr>
            </a:lvl3pPr>
            <a:lvl4pPr algn="l">
              <a:defRPr sz="2175" b="1">
                <a:solidFill>
                  <a:srgbClr val="62ACFF"/>
                </a:solidFill>
                <a:latin typeface="Arial"/>
                <a:ea typeface="Arial"/>
                <a:cs typeface="Arial"/>
              </a:defRPr>
            </a:lvl4pPr>
            <a:lvl5pPr algn="l">
              <a:defRPr sz="2175" b="1">
                <a:solidFill>
                  <a:srgbClr val="62ACFF"/>
                </a:solidFill>
                <a:latin typeface="Arial"/>
                <a:ea typeface="Arial"/>
                <a:cs typeface="Arial"/>
              </a:defRPr>
            </a:lvl5pPr>
            <a:lvl6pPr algn="l">
              <a:defRPr sz="2175" b="1">
                <a:solidFill>
                  <a:srgbClr val="62ACFF"/>
                </a:solidFill>
                <a:latin typeface="Arial"/>
                <a:ea typeface="Arial"/>
                <a:cs typeface="Arial"/>
              </a:defRPr>
            </a:lvl6pPr>
            <a:lvl7pPr algn="l">
              <a:defRPr sz="2175" b="1">
                <a:solidFill>
                  <a:srgbClr val="62ACFF"/>
                </a:solidFill>
                <a:latin typeface="Arial"/>
                <a:ea typeface="Arial"/>
                <a:cs typeface="Arial"/>
              </a:defRPr>
            </a:lvl7pPr>
            <a:lvl8pPr algn="l">
              <a:defRPr sz="2175" b="1">
                <a:solidFill>
                  <a:srgbClr val="62ACFF"/>
                </a:solidFill>
                <a:latin typeface="Arial"/>
                <a:ea typeface="Arial"/>
                <a:cs typeface="Arial"/>
              </a:defRPr>
            </a:lvl8pPr>
            <a:lvl9pPr algn="l">
              <a:defRPr sz="2175" b="1">
                <a:solidFill>
                  <a:srgbClr val="62ACFF"/>
                </a:solidFill>
                <a:latin typeface="Arial"/>
                <a:ea typeface="Arial"/>
                <a:cs typeface="Arial"/>
              </a:defRPr>
            </a:lvl9pPr>
          </a:lstStyle>
          <a:p xmlns:a="http://schemas.openxmlformats.org/drawingml/2006/main">
            <a:pPr algn="l">
              <a:defRPr sz="2175" b="1">
                <a:solidFill>
                  <a:srgbClr val="62ACFF"/>
                </a:solidFill>
                <a:latin typeface="Arial"/>
                <a:ea typeface="Arial"/>
                <a:cs typeface="Arial"/>
              </a:defRPr>
            </a:pPr>
            <a:r>
              <a:rPr sz="2175" b="1">
                <a:solidFill>
                  <a:srgbClr val="62ACFF"/>
                </a:solidFill>
                <a:latin typeface="Arial"/>
                <a:ea typeface="Arial"/>
                <a:cs typeface="Arial"/>
              </a:rPr>
              <a:t>World B: checkpoint 3 is withheld</a:t>
            </a:r>
          </a:p>
        </p:txBody>
      </p:sp>
      <p:sp>
        <p:nvSpPr>
          <p:cNvPr id="8" name="Diagram: h0">
            <a:extLst xmlns:a="http://schemas.openxmlformats.org/drawingml/2006/main">
              <a:ext uri="{FF2B5EF4-FFF2-40B4-BE49-F238E27FC236}">
                <a16:creationId xmlns:a16="http://schemas.microsoft.com/office/drawing/2014/main" id="{9CDD8A72-62D2-4F9B-80A4-B319B9E0CFCC}"/>
              </a:ext>
            </a:extLst>
          </p:cNvPr>
          <p:cNvSpPr>
            <a:spLocks xmlns:a="http://schemas.openxmlformats.org/drawingml/2006/main" noGrp="1"/>
          </p:cNvSpPr>
          <p:nvPr/>
        </p:nvSpPr>
        <p:spPr>
          <a:xfrm xmlns:a="http://schemas.openxmlformats.org/drawingml/2006/main">
            <a:off x="895350" y="2705100"/>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h0</a:t>
            </a:r>
          </a:p>
        </p:txBody>
      </p:sp>
      <p:cxnSp>
        <p:nvCxnSpPr>
          <p:cNvPr id="9" name="flow arrow">
            <a:extLst xmlns:a="http://schemas.openxmlformats.org/drawingml/2006/main">
              <a:ext uri="{FF2B5EF4-FFF2-40B4-BE49-F238E27FC236}">
                <a16:creationId xmlns:a16="http://schemas.microsoft.com/office/drawing/2014/main" id="{60CC3469-D64A-4503-85E2-01A0B3E80EDA}"/>
              </a:ext>
            </a:extLst>
          </p:cNvPr>
          <p:cNvCxnSpPr/>
          <p:nvPr/>
        </p:nvCxnSpPr>
        <p:spPr>
          <a:xfrm xmlns:a="http://schemas.openxmlformats.org/drawingml/2006/main">
            <a:off x="1885950" y="2981325"/>
            <a:ext cx="5429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0" name="Diagram: h1">
            <a:extLst xmlns:a="http://schemas.openxmlformats.org/drawingml/2006/main">
              <a:ext uri="{FF2B5EF4-FFF2-40B4-BE49-F238E27FC236}">
                <a16:creationId xmlns:a16="http://schemas.microsoft.com/office/drawing/2014/main" id="{200E7233-F89B-45DD-A6D8-3F0D1CCC391A}"/>
              </a:ext>
            </a:extLst>
          </p:cNvPr>
          <p:cNvSpPr>
            <a:spLocks xmlns:a="http://schemas.openxmlformats.org/drawingml/2006/main" noGrp="1"/>
          </p:cNvSpPr>
          <p:nvPr/>
        </p:nvSpPr>
        <p:spPr>
          <a:xfrm xmlns:a="http://schemas.openxmlformats.org/drawingml/2006/main">
            <a:off x="2428875" y="2705100"/>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h1</a:t>
            </a:r>
          </a:p>
        </p:txBody>
      </p:sp>
      <p:cxnSp>
        <p:nvCxnSpPr>
          <p:cNvPr id="11" name="flow arrow">
            <a:extLst xmlns:a="http://schemas.openxmlformats.org/drawingml/2006/main">
              <a:ext uri="{FF2B5EF4-FFF2-40B4-BE49-F238E27FC236}">
                <a16:creationId xmlns:a16="http://schemas.microsoft.com/office/drawing/2014/main" id="{E4946D1E-5C72-4157-8BDD-06B178102C74}"/>
              </a:ext>
            </a:extLst>
          </p:cNvPr>
          <p:cNvCxnSpPr/>
          <p:nvPr/>
        </p:nvCxnSpPr>
        <p:spPr>
          <a:xfrm xmlns:a="http://schemas.openxmlformats.org/drawingml/2006/main">
            <a:off x="3419475" y="2981325"/>
            <a:ext cx="5429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2" name="Diagram: h2">
            <a:extLst xmlns:a="http://schemas.openxmlformats.org/drawingml/2006/main">
              <a:ext uri="{FF2B5EF4-FFF2-40B4-BE49-F238E27FC236}">
                <a16:creationId xmlns:a16="http://schemas.microsoft.com/office/drawing/2014/main" id="{0BDAFC2A-8404-4205-8389-7B8C88743B64}"/>
              </a:ext>
            </a:extLst>
          </p:cNvPr>
          <p:cNvSpPr>
            <a:spLocks xmlns:a="http://schemas.openxmlformats.org/drawingml/2006/main" noGrp="1"/>
          </p:cNvSpPr>
          <p:nvPr/>
        </p:nvSpPr>
        <p:spPr>
          <a:xfrm xmlns:a="http://schemas.openxmlformats.org/drawingml/2006/main">
            <a:off x="3962400" y="2705100"/>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h2</a:t>
            </a:r>
          </a:p>
        </p:txBody>
      </p:sp>
      <p:sp>
        <p:nvSpPr>
          <p:cNvPr id="13" name="Diagram: h0">
            <a:extLst xmlns:a="http://schemas.openxmlformats.org/drawingml/2006/main">
              <a:ext uri="{FF2B5EF4-FFF2-40B4-BE49-F238E27FC236}">
                <a16:creationId xmlns:a16="http://schemas.microsoft.com/office/drawing/2014/main" id="{FB64EC4D-4EEF-4F3D-91C8-34F01ABF29DB}"/>
              </a:ext>
            </a:extLst>
          </p:cNvPr>
          <p:cNvSpPr>
            <a:spLocks xmlns:a="http://schemas.openxmlformats.org/drawingml/2006/main" noGrp="1"/>
          </p:cNvSpPr>
          <p:nvPr/>
        </p:nvSpPr>
        <p:spPr>
          <a:xfrm xmlns:a="http://schemas.openxmlformats.org/drawingml/2006/main">
            <a:off x="895350" y="4410075"/>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h0</a:t>
            </a:r>
          </a:p>
        </p:txBody>
      </p:sp>
      <p:cxnSp>
        <p:nvCxnSpPr>
          <p:cNvPr id="14" name="flow arrow">
            <a:extLst xmlns:a="http://schemas.openxmlformats.org/drawingml/2006/main">
              <a:ext uri="{FF2B5EF4-FFF2-40B4-BE49-F238E27FC236}">
                <a16:creationId xmlns:a16="http://schemas.microsoft.com/office/drawing/2014/main" id="{E94DC198-9DE0-46B5-98A4-8A2B2B1446ED}"/>
              </a:ext>
            </a:extLst>
          </p:cNvPr>
          <p:cNvCxnSpPr/>
          <p:nvPr/>
        </p:nvCxnSpPr>
        <p:spPr>
          <a:xfrm xmlns:a="http://schemas.openxmlformats.org/drawingml/2006/main">
            <a:off x="1885950" y="4686300"/>
            <a:ext cx="5429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5" name="Diagram: h1">
            <a:extLst xmlns:a="http://schemas.openxmlformats.org/drawingml/2006/main">
              <a:ext uri="{FF2B5EF4-FFF2-40B4-BE49-F238E27FC236}">
                <a16:creationId xmlns:a16="http://schemas.microsoft.com/office/drawing/2014/main" id="{24086D97-A7E1-45BF-8D9D-B822DC5A7D63}"/>
              </a:ext>
            </a:extLst>
          </p:cNvPr>
          <p:cNvSpPr>
            <a:spLocks xmlns:a="http://schemas.openxmlformats.org/drawingml/2006/main" noGrp="1"/>
          </p:cNvSpPr>
          <p:nvPr/>
        </p:nvSpPr>
        <p:spPr>
          <a:xfrm xmlns:a="http://schemas.openxmlformats.org/drawingml/2006/main">
            <a:off x="2428875" y="4410075"/>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h1</a:t>
            </a:r>
          </a:p>
        </p:txBody>
      </p:sp>
      <p:cxnSp>
        <p:nvCxnSpPr>
          <p:cNvPr id="16" name="flow arrow">
            <a:extLst xmlns:a="http://schemas.openxmlformats.org/drawingml/2006/main">
              <a:ext uri="{FF2B5EF4-FFF2-40B4-BE49-F238E27FC236}">
                <a16:creationId xmlns:a16="http://schemas.microsoft.com/office/drawing/2014/main" id="{81F3BDCA-028A-4745-98E1-E31FEF4E763C}"/>
              </a:ext>
            </a:extLst>
          </p:cNvPr>
          <p:cNvCxnSpPr/>
          <p:nvPr/>
        </p:nvCxnSpPr>
        <p:spPr>
          <a:xfrm xmlns:a="http://schemas.openxmlformats.org/drawingml/2006/main">
            <a:off x="3419475" y="4686300"/>
            <a:ext cx="542925" cy="0"/>
          </a:xfrm>
          <a:prstGeom xmlns:a="http://schemas.openxmlformats.org/drawingml/2006/main" prst="straightConnector1">
            <a:avLst/>
          </a:prstGeom>
          <a:ln xmlns:a="http://schemas.openxmlformats.org/drawingml/2006/main" w="19050">
            <a:solidFill>
              <a:srgbClr val="62ACFF"/>
            </a:solidFill>
            <a:prstDash val="solid"/>
            <a:tailEnd type="triangle" w="med" len="med"/>
          </a:ln>
        </p:spPr>
      </p:cxnSp>
      <p:sp>
        <p:nvSpPr>
          <p:cNvPr id="17" name="Diagram: h2">
            <a:extLst xmlns:a="http://schemas.openxmlformats.org/drawingml/2006/main">
              <a:ext uri="{FF2B5EF4-FFF2-40B4-BE49-F238E27FC236}">
                <a16:creationId xmlns:a16="http://schemas.microsoft.com/office/drawing/2014/main" id="{D877CEBE-E928-47C2-8A85-1093A24165BB}"/>
              </a:ext>
            </a:extLst>
          </p:cNvPr>
          <p:cNvSpPr>
            <a:spLocks xmlns:a="http://schemas.openxmlformats.org/drawingml/2006/main" noGrp="1"/>
          </p:cNvSpPr>
          <p:nvPr/>
        </p:nvSpPr>
        <p:spPr>
          <a:xfrm xmlns:a="http://schemas.openxmlformats.org/drawingml/2006/main">
            <a:off x="3962400" y="4410075"/>
            <a:ext cx="990600" cy="552450"/>
          </a:xfrm>
          <a:prstGeom xmlns:a="http://schemas.openxmlformats.org/drawingml/2006/main" prst="rect">
            <a:avLst/>
          </a:prstGeom>
          <a:solidFill xmlns:a="http://schemas.openxmlformats.org/drawingml/2006/main">
            <a:srgbClr val="192B43"/>
          </a:solidFill>
          <a:ln xmlns:a="http://schemas.openxmlformats.org/drawingml/2006/main" w="9525">
            <a:solidFill>
              <a:srgbClr val="354052"/>
            </a:solidFill>
            <a:prstDash val="solid"/>
          </a:ln>
        </p:spPr>
        <p:txBody>
          <a:bodyPr xmlns:a="http://schemas.openxmlformats.org/drawingml/2006/main" wrap="square" lIns="66675" tIns="66675" rIns="66675" bIns="66675" anchor="ctr">
            <a:noAutofit/>
          </a:bodyPr>
          <a:lstStyle xmlns:a="http://schemas.openxmlformats.org/drawingml/2006/main">
            <a:defPPr algn="ctr">
              <a:defRPr sz="2100">
                <a:solidFill>
                  <a:srgbClr val="F5F6F8"/>
                </a:solidFill>
                <a:latin typeface="Arial"/>
                <a:ea typeface="Arial"/>
                <a:cs typeface="Arial"/>
              </a:defRPr>
            </a:defPPr>
            <a:lvl1pPr algn="ctr">
              <a:defRPr sz="2100">
                <a:solidFill>
                  <a:srgbClr val="F5F6F8"/>
                </a:solidFill>
                <a:latin typeface="Arial"/>
                <a:ea typeface="Arial"/>
                <a:cs typeface="Arial"/>
              </a:defRPr>
            </a:lvl1pPr>
            <a:lvl2pPr algn="ctr">
              <a:defRPr sz="2100">
                <a:solidFill>
                  <a:srgbClr val="F5F6F8"/>
                </a:solidFill>
                <a:latin typeface="Arial"/>
                <a:ea typeface="Arial"/>
                <a:cs typeface="Arial"/>
              </a:defRPr>
            </a:lvl2pPr>
            <a:lvl3pPr algn="ctr">
              <a:defRPr sz="2100">
                <a:solidFill>
                  <a:srgbClr val="F5F6F8"/>
                </a:solidFill>
                <a:latin typeface="Arial"/>
                <a:ea typeface="Arial"/>
                <a:cs typeface="Arial"/>
              </a:defRPr>
            </a:lvl3pPr>
            <a:lvl4pPr algn="ctr">
              <a:defRPr sz="2100">
                <a:solidFill>
                  <a:srgbClr val="F5F6F8"/>
                </a:solidFill>
                <a:latin typeface="Arial"/>
                <a:ea typeface="Arial"/>
                <a:cs typeface="Arial"/>
              </a:defRPr>
            </a:lvl4pPr>
            <a:lvl5pPr algn="ctr">
              <a:defRPr sz="2100">
                <a:solidFill>
                  <a:srgbClr val="F5F6F8"/>
                </a:solidFill>
                <a:latin typeface="Arial"/>
                <a:ea typeface="Arial"/>
                <a:cs typeface="Arial"/>
              </a:defRPr>
            </a:lvl5pPr>
            <a:lvl6pPr algn="ctr">
              <a:defRPr sz="2100">
                <a:solidFill>
                  <a:srgbClr val="F5F6F8"/>
                </a:solidFill>
                <a:latin typeface="Arial"/>
                <a:ea typeface="Arial"/>
                <a:cs typeface="Arial"/>
              </a:defRPr>
            </a:lvl6pPr>
            <a:lvl7pPr algn="ctr">
              <a:defRPr sz="2100">
                <a:solidFill>
                  <a:srgbClr val="F5F6F8"/>
                </a:solidFill>
                <a:latin typeface="Arial"/>
                <a:ea typeface="Arial"/>
                <a:cs typeface="Arial"/>
              </a:defRPr>
            </a:lvl7pPr>
            <a:lvl8pPr algn="ctr">
              <a:defRPr sz="2100">
                <a:solidFill>
                  <a:srgbClr val="F5F6F8"/>
                </a:solidFill>
                <a:latin typeface="Arial"/>
                <a:ea typeface="Arial"/>
                <a:cs typeface="Arial"/>
              </a:defRPr>
            </a:lvl8pPr>
            <a:lvl9pPr algn="ctr">
              <a:defRPr sz="2100">
                <a:solidFill>
                  <a:srgbClr val="F5F6F8"/>
                </a:solidFill>
                <a:latin typeface="Arial"/>
                <a:ea typeface="Arial"/>
                <a:cs typeface="Arial"/>
              </a:defRPr>
            </a:lvl9pPr>
          </a:lstStyle>
          <a:p xmlns:a="http://schemas.openxmlformats.org/drawingml/2006/main">
            <a:pPr algn="ctr">
              <a:defRPr sz="2100">
                <a:solidFill>
                  <a:srgbClr val="F5F6F8"/>
                </a:solidFill>
                <a:latin typeface="Arial"/>
                <a:ea typeface="Arial"/>
                <a:cs typeface="Arial"/>
              </a:defRPr>
            </a:pPr>
            <a:r>
              <a:rPr sz="2100">
                <a:solidFill>
                  <a:srgbClr val="F5F6F8"/>
                </a:solidFill>
                <a:latin typeface="Arial"/>
                <a:ea typeface="Arial"/>
                <a:cs typeface="Arial"/>
              </a:rPr>
              <a:t>h2</a:t>
            </a:r>
          </a:p>
        </p:txBody>
      </p:sp>
      <p:sp>
        <p:nvSpPr>
          <p:cNvPr id="18" name="Diagram: h3">
            <a:extLst xmlns:a="http://schemas.openxmlformats.org/drawingml/2006/main">
              <a:ext uri="{FF2B5EF4-FFF2-40B4-BE49-F238E27FC236}">
                <a16:creationId xmlns:a16="http://schemas.microsoft.com/office/drawing/2014/main" id="{1FE2CD6F-FCC2-4630-BEE8-165D86BA57A7}"/>
              </a:ext>
            </a:extLst>
          </p:cNvPr>
          <p:cNvSpPr>
            <a:spLocks xmlns:a="http://schemas.openxmlformats.org/drawingml/2006/main" noGrp="1"/>
          </p:cNvSpPr>
          <p:nvPr/>
        </p:nvSpPr>
        <p:spPr>
          <a:xfrm xmlns:a="http://schemas.openxmlformats.org/drawingml/2006/main">
            <a:off x="5810250" y="4410075"/>
            <a:ext cx="990600" cy="552450"/>
          </a:xfrm>
          <a:prstGeom xmlns:a="http://schemas.openxmlformats.org/drawingml/2006/main" prst="rect">
            <a:avLst/>
          </a:prstGeom>
          <a:solidFill xmlns:a="http://schemas.openxmlformats.org/drawingml/2006/main">
            <a:srgbClr val="08090B"/>
          </a:solidFill>
          <a:ln xmlns:a="http://schemas.openxmlformats.org/drawingml/2006/main" w="9525">
            <a:solidFill>
              <a:srgbClr val="354052"/>
            </a:solidFill>
            <a:prstDash val="dash"/>
          </a:ln>
        </p:spPr>
        <p:txBody>
          <a:bodyPr xmlns:a="http://schemas.openxmlformats.org/drawingml/2006/main" wrap="square" lIns="66675" tIns="66675" rIns="66675" bIns="66675" anchor="ctr">
            <a:noAutofit/>
          </a:bodyPr>
          <a:lstStyle xmlns:a="http://schemas.openxmlformats.org/drawingml/2006/main">
            <a:defPPr algn="ctr">
              <a:defRPr sz="2100">
                <a:solidFill>
                  <a:srgbClr val="A0A5AF"/>
                </a:solidFill>
                <a:latin typeface="Arial"/>
                <a:ea typeface="Arial"/>
                <a:cs typeface="Arial"/>
              </a:defRPr>
            </a:defPPr>
            <a:lvl1pPr algn="ctr">
              <a:defRPr sz="2100">
                <a:solidFill>
                  <a:srgbClr val="A0A5AF"/>
                </a:solidFill>
                <a:latin typeface="Arial"/>
                <a:ea typeface="Arial"/>
                <a:cs typeface="Arial"/>
              </a:defRPr>
            </a:lvl1pPr>
            <a:lvl2pPr algn="ctr">
              <a:defRPr sz="2100">
                <a:solidFill>
                  <a:srgbClr val="A0A5AF"/>
                </a:solidFill>
                <a:latin typeface="Arial"/>
                <a:ea typeface="Arial"/>
                <a:cs typeface="Arial"/>
              </a:defRPr>
            </a:lvl2pPr>
            <a:lvl3pPr algn="ctr">
              <a:defRPr sz="2100">
                <a:solidFill>
                  <a:srgbClr val="A0A5AF"/>
                </a:solidFill>
                <a:latin typeface="Arial"/>
                <a:ea typeface="Arial"/>
                <a:cs typeface="Arial"/>
              </a:defRPr>
            </a:lvl3pPr>
            <a:lvl4pPr algn="ctr">
              <a:defRPr sz="2100">
                <a:solidFill>
                  <a:srgbClr val="A0A5AF"/>
                </a:solidFill>
                <a:latin typeface="Arial"/>
                <a:ea typeface="Arial"/>
                <a:cs typeface="Arial"/>
              </a:defRPr>
            </a:lvl4pPr>
            <a:lvl5pPr algn="ctr">
              <a:defRPr sz="2100">
                <a:solidFill>
                  <a:srgbClr val="A0A5AF"/>
                </a:solidFill>
                <a:latin typeface="Arial"/>
                <a:ea typeface="Arial"/>
                <a:cs typeface="Arial"/>
              </a:defRPr>
            </a:lvl5pPr>
            <a:lvl6pPr algn="ctr">
              <a:defRPr sz="2100">
                <a:solidFill>
                  <a:srgbClr val="A0A5AF"/>
                </a:solidFill>
                <a:latin typeface="Arial"/>
                <a:ea typeface="Arial"/>
                <a:cs typeface="Arial"/>
              </a:defRPr>
            </a:lvl6pPr>
            <a:lvl7pPr algn="ctr">
              <a:defRPr sz="2100">
                <a:solidFill>
                  <a:srgbClr val="A0A5AF"/>
                </a:solidFill>
                <a:latin typeface="Arial"/>
                <a:ea typeface="Arial"/>
                <a:cs typeface="Arial"/>
              </a:defRPr>
            </a:lvl7pPr>
            <a:lvl8pPr algn="ctr">
              <a:defRPr sz="2100">
                <a:solidFill>
                  <a:srgbClr val="A0A5AF"/>
                </a:solidFill>
                <a:latin typeface="Arial"/>
                <a:ea typeface="Arial"/>
                <a:cs typeface="Arial"/>
              </a:defRPr>
            </a:lvl8pPr>
            <a:lvl9pPr algn="ctr">
              <a:defRPr sz="2100">
                <a:solidFill>
                  <a:srgbClr val="A0A5AF"/>
                </a:solidFill>
                <a:latin typeface="Arial"/>
                <a:ea typeface="Arial"/>
                <a:cs typeface="Arial"/>
              </a:defRPr>
            </a:lvl9pPr>
          </a:lstStyle>
          <a:p xmlns:a="http://schemas.openxmlformats.org/drawingml/2006/main">
            <a:pPr algn="ctr">
              <a:defRPr sz="2100">
                <a:solidFill>
                  <a:srgbClr val="A0A5AF"/>
                </a:solidFill>
                <a:latin typeface="Arial"/>
                <a:ea typeface="Arial"/>
                <a:cs typeface="Arial"/>
              </a:defRPr>
            </a:pPr>
            <a:r>
              <a:rPr sz="2100">
                <a:solidFill>
                  <a:srgbClr val="A0A5AF"/>
                </a:solidFill>
                <a:latin typeface="Arial"/>
                <a:ea typeface="Arial"/>
                <a:cs typeface="Arial"/>
              </a:rPr>
              <a:t>h3</a:t>
            </a:r>
          </a:p>
        </p:txBody>
      </p:sp>
      <p:cxnSp>
        <p:nvCxnSpPr>
          <p:cNvPr id="19" name="flow arrow">
            <a:extLst xmlns:a="http://schemas.openxmlformats.org/drawingml/2006/main">
              <a:ext uri="{FF2B5EF4-FFF2-40B4-BE49-F238E27FC236}">
                <a16:creationId xmlns:a16="http://schemas.microsoft.com/office/drawing/2014/main" id="{473162A1-BC97-466A-88FB-952D0AFD093A}"/>
              </a:ext>
            </a:extLst>
          </p:cNvPr>
          <p:cNvCxnSpPr/>
          <p:nvPr/>
        </p:nvCxnSpPr>
        <p:spPr>
          <a:xfrm xmlns:a="http://schemas.openxmlformats.org/drawingml/2006/main">
            <a:off x="4953000" y="4686300"/>
            <a:ext cx="857250" cy="0"/>
          </a:xfrm>
          <a:prstGeom xmlns:a="http://schemas.openxmlformats.org/drawingml/2006/main" prst="straightConnector1">
            <a:avLst/>
          </a:prstGeom>
          <a:ln xmlns:a="http://schemas.openxmlformats.org/drawingml/2006/main" w="19050">
            <a:solidFill>
              <a:srgbClr val="A0A5AF"/>
            </a:solidFill>
            <a:prstDash val="dash"/>
            <a:tailEnd type="triangle" w="med" len="med"/>
          </a:ln>
        </p:spPr>
      </p:cxnSp>
      <p:sp>
        <p:nvSpPr>
          <p:cNvPr id="20" name="Same disclosed prefix">
            <a:extLst xmlns:a="http://schemas.openxmlformats.org/drawingml/2006/main">
              <a:ext uri="{FF2B5EF4-FFF2-40B4-BE49-F238E27FC236}">
                <a16:creationId xmlns:a16="http://schemas.microsoft.com/office/drawing/2014/main" id="{D637FB08-FA92-4B46-A836-F46D776B0E94}"/>
              </a:ext>
            </a:extLst>
          </p:cNvPr>
          <p:cNvSpPr>
            <a:spLocks xmlns:a="http://schemas.openxmlformats.org/drawingml/2006/main" noGrp="1"/>
          </p:cNvSpPr>
          <p:nvPr/>
        </p:nvSpPr>
        <p:spPr>
          <a:xfrm xmlns:a="http://schemas.openxmlformats.org/drawingml/2006/main">
            <a:off x="7715250" y="2733675"/>
            <a:ext cx="3733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5F6F8"/>
                </a:solidFill>
                <a:latin typeface="Arial"/>
                <a:ea typeface="Arial"/>
                <a:cs typeface="Arial"/>
              </a:defRPr>
            </a:defPPr>
            <a:lvl1pPr algn="l">
              <a:defRPr sz="2475" b="1">
                <a:solidFill>
                  <a:srgbClr val="F5F6F8"/>
                </a:solidFill>
                <a:latin typeface="Arial"/>
                <a:ea typeface="Arial"/>
                <a:cs typeface="Arial"/>
              </a:defRPr>
            </a:lvl1pPr>
            <a:lvl2pPr algn="l">
              <a:defRPr sz="2475" b="1">
                <a:solidFill>
                  <a:srgbClr val="F5F6F8"/>
                </a:solidFill>
                <a:latin typeface="Arial"/>
                <a:ea typeface="Arial"/>
                <a:cs typeface="Arial"/>
              </a:defRPr>
            </a:lvl2pPr>
            <a:lvl3pPr algn="l">
              <a:defRPr sz="2475" b="1">
                <a:solidFill>
                  <a:srgbClr val="F5F6F8"/>
                </a:solidFill>
                <a:latin typeface="Arial"/>
                <a:ea typeface="Arial"/>
                <a:cs typeface="Arial"/>
              </a:defRPr>
            </a:lvl3pPr>
            <a:lvl4pPr algn="l">
              <a:defRPr sz="2475" b="1">
                <a:solidFill>
                  <a:srgbClr val="F5F6F8"/>
                </a:solidFill>
                <a:latin typeface="Arial"/>
                <a:ea typeface="Arial"/>
                <a:cs typeface="Arial"/>
              </a:defRPr>
            </a:lvl4pPr>
            <a:lvl5pPr algn="l">
              <a:defRPr sz="2475" b="1">
                <a:solidFill>
                  <a:srgbClr val="F5F6F8"/>
                </a:solidFill>
                <a:latin typeface="Arial"/>
                <a:ea typeface="Arial"/>
                <a:cs typeface="Arial"/>
              </a:defRPr>
            </a:lvl5pPr>
            <a:lvl6pPr algn="l">
              <a:defRPr sz="2475" b="1">
                <a:solidFill>
                  <a:srgbClr val="F5F6F8"/>
                </a:solidFill>
                <a:latin typeface="Arial"/>
                <a:ea typeface="Arial"/>
                <a:cs typeface="Arial"/>
              </a:defRPr>
            </a:lvl6pPr>
            <a:lvl7pPr algn="l">
              <a:defRPr sz="2475" b="1">
                <a:solidFill>
                  <a:srgbClr val="F5F6F8"/>
                </a:solidFill>
                <a:latin typeface="Arial"/>
                <a:ea typeface="Arial"/>
                <a:cs typeface="Arial"/>
              </a:defRPr>
            </a:lvl7pPr>
            <a:lvl8pPr algn="l">
              <a:defRPr sz="2475" b="1">
                <a:solidFill>
                  <a:srgbClr val="F5F6F8"/>
                </a:solidFill>
                <a:latin typeface="Arial"/>
                <a:ea typeface="Arial"/>
                <a:cs typeface="Arial"/>
              </a:defRPr>
            </a:lvl8pPr>
            <a:lvl9pPr algn="l">
              <a:defRPr sz="2475" b="1">
                <a:solidFill>
                  <a:srgbClr val="F5F6F8"/>
                </a:solidFill>
                <a:latin typeface="Arial"/>
                <a:ea typeface="Arial"/>
                <a:cs typeface="Arial"/>
              </a:defRPr>
            </a:lvl9pPr>
          </a:lstStyle>
          <a:p xmlns:a="http://schemas.openxmlformats.org/drawingml/2006/main">
            <a:pPr algn="l">
              <a:defRPr sz="2475" b="1">
                <a:solidFill>
                  <a:srgbClr val="F5F6F8"/>
                </a:solidFill>
                <a:latin typeface="Arial"/>
                <a:ea typeface="Arial"/>
                <a:cs typeface="Arial"/>
              </a:defRPr>
            </a:pPr>
            <a:r>
              <a:rPr sz="2475" b="1">
                <a:solidFill>
                  <a:srgbClr val="F5F6F8"/>
                </a:solidFill>
                <a:latin typeface="Arial"/>
                <a:ea typeface="Arial"/>
                <a:cs typeface="Arial"/>
              </a:rPr>
              <a:t>Same disclosed prefix</a:t>
            </a:r>
          </a:p>
        </p:txBody>
      </p:sp>
      <p:sp>
        <p:nvSpPr>
          <p:cNvPr id="21" name="No independent latest head&#10;Completeness remains unknown">
            <a:extLst xmlns:a="http://schemas.openxmlformats.org/drawingml/2006/main">
              <a:ext uri="{FF2B5EF4-FFF2-40B4-BE49-F238E27FC236}">
                <a16:creationId xmlns:a16="http://schemas.microsoft.com/office/drawing/2014/main" id="{AA8F8A98-9B4A-4D16-BA69-72D91331B5FF}"/>
              </a:ext>
            </a:extLst>
          </p:cNvPr>
          <p:cNvSpPr>
            <a:spLocks xmlns:a="http://schemas.openxmlformats.org/drawingml/2006/main" noGrp="1"/>
          </p:cNvSpPr>
          <p:nvPr/>
        </p:nvSpPr>
        <p:spPr>
          <a:xfrm xmlns:a="http://schemas.openxmlformats.org/drawingml/2006/main">
            <a:off x="7715250" y="3505200"/>
            <a:ext cx="3733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0A5AF"/>
                </a:solidFill>
                <a:latin typeface="Arial"/>
                <a:ea typeface="Arial"/>
                <a:cs typeface="Arial"/>
              </a:defRPr>
            </a:defPPr>
            <a:lvl1pPr algn="l">
              <a:defRPr sz="2025" b="0">
                <a:solidFill>
                  <a:srgbClr val="A0A5AF"/>
                </a:solidFill>
                <a:latin typeface="Arial"/>
                <a:ea typeface="Arial"/>
                <a:cs typeface="Arial"/>
              </a:defRPr>
            </a:lvl1pPr>
            <a:lvl2pPr algn="l">
              <a:defRPr sz="2025" b="0">
                <a:solidFill>
                  <a:srgbClr val="A0A5AF"/>
                </a:solidFill>
                <a:latin typeface="Arial"/>
                <a:ea typeface="Arial"/>
                <a:cs typeface="Arial"/>
              </a:defRPr>
            </a:lvl2pPr>
            <a:lvl3pPr algn="l">
              <a:defRPr sz="2025" b="0">
                <a:solidFill>
                  <a:srgbClr val="A0A5AF"/>
                </a:solidFill>
                <a:latin typeface="Arial"/>
                <a:ea typeface="Arial"/>
                <a:cs typeface="Arial"/>
              </a:defRPr>
            </a:lvl3pPr>
            <a:lvl4pPr algn="l">
              <a:defRPr sz="2025" b="0">
                <a:solidFill>
                  <a:srgbClr val="A0A5AF"/>
                </a:solidFill>
                <a:latin typeface="Arial"/>
                <a:ea typeface="Arial"/>
                <a:cs typeface="Arial"/>
              </a:defRPr>
            </a:lvl4pPr>
            <a:lvl5pPr algn="l">
              <a:defRPr sz="2025" b="0">
                <a:solidFill>
                  <a:srgbClr val="A0A5AF"/>
                </a:solidFill>
                <a:latin typeface="Arial"/>
                <a:ea typeface="Arial"/>
                <a:cs typeface="Arial"/>
              </a:defRPr>
            </a:lvl5pPr>
            <a:lvl6pPr algn="l">
              <a:defRPr sz="2025" b="0">
                <a:solidFill>
                  <a:srgbClr val="A0A5AF"/>
                </a:solidFill>
                <a:latin typeface="Arial"/>
                <a:ea typeface="Arial"/>
                <a:cs typeface="Arial"/>
              </a:defRPr>
            </a:lvl6pPr>
            <a:lvl7pPr algn="l">
              <a:defRPr sz="2025" b="0">
                <a:solidFill>
                  <a:srgbClr val="A0A5AF"/>
                </a:solidFill>
                <a:latin typeface="Arial"/>
                <a:ea typeface="Arial"/>
                <a:cs typeface="Arial"/>
              </a:defRPr>
            </a:lvl7pPr>
            <a:lvl8pPr algn="l">
              <a:defRPr sz="2025" b="0">
                <a:solidFill>
                  <a:srgbClr val="A0A5AF"/>
                </a:solidFill>
                <a:latin typeface="Arial"/>
                <a:ea typeface="Arial"/>
                <a:cs typeface="Arial"/>
              </a:defRPr>
            </a:lvl8pPr>
            <a:lvl9pPr algn="l">
              <a:defRPr sz="2025" b="0">
                <a:solidFill>
                  <a:srgbClr val="A0A5AF"/>
                </a:solidFill>
                <a:latin typeface="Arial"/>
                <a:ea typeface="Arial"/>
                <a:cs typeface="Arial"/>
              </a:defRPr>
            </a:lvl9pPr>
          </a:lstStyle>
          <a:p xmlns:a="http://schemas.openxmlformats.org/drawingml/2006/main">
            <a:pPr algn="l">
              <a:defRPr sz="2025" b="0">
                <a:solidFill>
                  <a:srgbClr val="A0A5AF"/>
                </a:solidFill>
                <a:latin typeface="Arial"/>
                <a:ea typeface="Arial"/>
                <a:cs typeface="Arial"/>
              </a:defRPr>
            </a:pPr>
            <a:r>
              <a:rPr sz="2025" b="0">
                <a:solidFill>
                  <a:srgbClr val="A0A5AF"/>
                </a:solidFill>
                <a:latin typeface="Arial"/>
                <a:ea typeface="Arial"/>
                <a:cs typeface="Arial"/>
              </a:rPr>
              <a:t>No independent latest head</a:t>
            </a:r>
          </a:p>
          <a:p xmlns:a="http://schemas.openxmlformats.org/drawingml/2006/main">
            <a:pPr algn="l">
              <a:defRPr sz="2025" b="0">
                <a:solidFill>
                  <a:srgbClr val="A0A5AF"/>
                </a:solidFill>
                <a:latin typeface="Arial"/>
                <a:ea typeface="Arial"/>
                <a:cs typeface="Arial"/>
              </a:defRPr>
            </a:pPr>
            <a:r>
              <a:rPr sz="2025" b="0">
                <a:solidFill>
                  <a:srgbClr val="A0A5AF"/>
                </a:solidFill>
                <a:latin typeface="Arial"/>
                <a:ea typeface="Arial"/>
                <a:cs typeface="Arial"/>
              </a:rPr>
              <a:t>Completeness remains unknown</a:t>
            </a:r>
          </a:p>
        </p:txBody>
      </p:sp>
      <p:sp>
        <p:nvSpPr>
          <p:cNvPr id="22" name="An externally retained head can expose a missing known tail.">
            <a:extLst xmlns:a="http://schemas.openxmlformats.org/drawingml/2006/main">
              <a:ext uri="{FF2B5EF4-FFF2-40B4-BE49-F238E27FC236}">
                <a16:creationId xmlns:a16="http://schemas.microsoft.com/office/drawing/2014/main" id="{09C8D580-0CBD-4C3C-BBD6-EFFCCA6365F4}"/>
              </a:ext>
            </a:extLst>
          </p:cNvPr>
          <p:cNvSpPr>
            <a:spLocks xmlns:a="http://schemas.openxmlformats.org/drawingml/2006/main" noGrp="1"/>
          </p:cNvSpPr>
          <p:nvPr/>
        </p:nvSpPr>
        <p:spPr>
          <a:xfrm xmlns:a="http://schemas.openxmlformats.org/drawingml/2006/main">
            <a:off x="609600" y="5314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6F8"/>
                </a:solidFill>
                <a:latin typeface="Arial"/>
                <a:ea typeface="Arial"/>
                <a:cs typeface="Arial"/>
              </a:defRPr>
            </a:defPPr>
            <a:lvl1pPr algn="l">
              <a:defRPr sz="2025" b="0">
                <a:solidFill>
                  <a:srgbClr val="F5F6F8"/>
                </a:solidFill>
                <a:latin typeface="Arial"/>
                <a:ea typeface="Arial"/>
                <a:cs typeface="Arial"/>
              </a:defRPr>
            </a:lvl1pPr>
            <a:lvl2pPr algn="l">
              <a:defRPr sz="2025" b="0">
                <a:solidFill>
                  <a:srgbClr val="F5F6F8"/>
                </a:solidFill>
                <a:latin typeface="Arial"/>
                <a:ea typeface="Arial"/>
                <a:cs typeface="Arial"/>
              </a:defRPr>
            </a:lvl2pPr>
            <a:lvl3pPr algn="l">
              <a:defRPr sz="2025" b="0">
                <a:solidFill>
                  <a:srgbClr val="F5F6F8"/>
                </a:solidFill>
                <a:latin typeface="Arial"/>
                <a:ea typeface="Arial"/>
                <a:cs typeface="Arial"/>
              </a:defRPr>
            </a:lvl3pPr>
            <a:lvl4pPr algn="l">
              <a:defRPr sz="2025" b="0">
                <a:solidFill>
                  <a:srgbClr val="F5F6F8"/>
                </a:solidFill>
                <a:latin typeface="Arial"/>
                <a:ea typeface="Arial"/>
                <a:cs typeface="Arial"/>
              </a:defRPr>
            </a:lvl4pPr>
            <a:lvl5pPr algn="l">
              <a:defRPr sz="2025" b="0">
                <a:solidFill>
                  <a:srgbClr val="F5F6F8"/>
                </a:solidFill>
                <a:latin typeface="Arial"/>
                <a:ea typeface="Arial"/>
                <a:cs typeface="Arial"/>
              </a:defRPr>
            </a:lvl5pPr>
            <a:lvl6pPr algn="l">
              <a:defRPr sz="2025" b="0">
                <a:solidFill>
                  <a:srgbClr val="F5F6F8"/>
                </a:solidFill>
                <a:latin typeface="Arial"/>
                <a:ea typeface="Arial"/>
                <a:cs typeface="Arial"/>
              </a:defRPr>
            </a:lvl6pPr>
            <a:lvl7pPr algn="l">
              <a:defRPr sz="2025" b="0">
                <a:solidFill>
                  <a:srgbClr val="F5F6F8"/>
                </a:solidFill>
                <a:latin typeface="Arial"/>
                <a:ea typeface="Arial"/>
                <a:cs typeface="Arial"/>
              </a:defRPr>
            </a:lvl7pPr>
            <a:lvl8pPr algn="l">
              <a:defRPr sz="2025" b="0">
                <a:solidFill>
                  <a:srgbClr val="F5F6F8"/>
                </a:solidFill>
                <a:latin typeface="Arial"/>
                <a:ea typeface="Arial"/>
                <a:cs typeface="Arial"/>
              </a:defRPr>
            </a:lvl8pPr>
            <a:lvl9pPr algn="l">
              <a:defRPr sz="2025" b="0">
                <a:solidFill>
                  <a:srgbClr val="F5F6F8"/>
                </a:solidFill>
                <a:latin typeface="Arial"/>
                <a:ea typeface="Arial"/>
                <a:cs typeface="Arial"/>
              </a:defRPr>
            </a:lvl9pPr>
          </a:lstStyle>
          <a:p xmlns:a="http://schemas.openxmlformats.org/drawingml/2006/main">
            <a:pPr algn="l">
              <a:defRPr sz="2025" b="0">
                <a:solidFill>
                  <a:srgbClr val="F5F6F8"/>
                </a:solidFill>
                <a:latin typeface="Arial"/>
                <a:ea typeface="Arial"/>
                <a:cs typeface="Arial"/>
              </a:defRPr>
            </a:pPr>
            <a:r>
              <a:rPr sz="2025" b="0">
                <a:solidFill>
                  <a:srgbClr val="F5F6F8"/>
                </a:solidFill>
                <a:latin typeface="Arial"/>
                <a:ea typeface="Arial"/>
                <a:cs typeface="Arial"/>
              </a:rPr>
              <a:t>An externally retained head can expose a missing known tail.</a:t>
            </a:r>
          </a:p>
        </p:txBody>
      </p:sp>
      <p:sp>
        <p:nvSpPr>
          <p:cNvPr id="23" name="A query cap applies at the controller interface. The host can bypass t">
            <a:extLst xmlns:a="http://schemas.openxmlformats.org/drawingml/2006/main">
              <a:ext uri="{FF2B5EF4-FFF2-40B4-BE49-F238E27FC236}">
                <a16:creationId xmlns:a16="http://schemas.microsoft.com/office/drawing/2014/main" id="{2C0DADD4-6669-4EC4-97EC-8447048A1B34}"/>
              </a:ext>
            </a:extLst>
          </p:cNvPr>
          <p:cNvSpPr>
            <a:spLocks xmlns:a="http://schemas.openxmlformats.org/drawingml/2006/main" noGrp="1"/>
          </p:cNvSpPr>
          <p:nvPr/>
        </p:nvSpPr>
        <p:spPr>
          <a:xfrm xmlns:a="http://schemas.openxmlformats.org/drawingml/2006/main">
            <a:off x="609600" y="5876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0A5AF"/>
                </a:solidFill>
                <a:latin typeface="Arial"/>
                <a:ea typeface="Arial"/>
                <a:cs typeface="Arial"/>
              </a:defRPr>
            </a:defPPr>
            <a:lvl1pPr algn="l">
              <a:defRPr sz="1650" b="0">
                <a:solidFill>
                  <a:srgbClr val="A0A5AF"/>
                </a:solidFill>
                <a:latin typeface="Arial"/>
                <a:ea typeface="Arial"/>
                <a:cs typeface="Arial"/>
              </a:defRPr>
            </a:lvl1pPr>
            <a:lvl2pPr algn="l">
              <a:defRPr sz="1650" b="0">
                <a:solidFill>
                  <a:srgbClr val="A0A5AF"/>
                </a:solidFill>
                <a:latin typeface="Arial"/>
                <a:ea typeface="Arial"/>
                <a:cs typeface="Arial"/>
              </a:defRPr>
            </a:lvl2pPr>
            <a:lvl3pPr algn="l">
              <a:defRPr sz="1650" b="0">
                <a:solidFill>
                  <a:srgbClr val="A0A5AF"/>
                </a:solidFill>
                <a:latin typeface="Arial"/>
                <a:ea typeface="Arial"/>
                <a:cs typeface="Arial"/>
              </a:defRPr>
            </a:lvl3pPr>
            <a:lvl4pPr algn="l">
              <a:defRPr sz="1650" b="0">
                <a:solidFill>
                  <a:srgbClr val="A0A5AF"/>
                </a:solidFill>
                <a:latin typeface="Arial"/>
                <a:ea typeface="Arial"/>
                <a:cs typeface="Arial"/>
              </a:defRPr>
            </a:lvl4pPr>
            <a:lvl5pPr algn="l">
              <a:defRPr sz="1650" b="0">
                <a:solidFill>
                  <a:srgbClr val="A0A5AF"/>
                </a:solidFill>
                <a:latin typeface="Arial"/>
                <a:ea typeface="Arial"/>
                <a:cs typeface="Arial"/>
              </a:defRPr>
            </a:lvl5pPr>
            <a:lvl6pPr algn="l">
              <a:defRPr sz="1650" b="0">
                <a:solidFill>
                  <a:srgbClr val="A0A5AF"/>
                </a:solidFill>
                <a:latin typeface="Arial"/>
                <a:ea typeface="Arial"/>
                <a:cs typeface="Arial"/>
              </a:defRPr>
            </a:lvl6pPr>
            <a:lvl7pPr algn="l">
              <a:defRPr sz="1650" b="0">
                <a:solidFill>
                  <a:srgbClr val="A0A5AF"/>
                </a:solidFill>
                <a:latin typeface="Arial"/>
                <a:ea typeface="Arial"/>
                <a:cs typeface="Arial"/>
              </a:defRPr>
            </a:lvl7pPr>
            <a:lvl8pPr algn="l">
              <a:defRPr sz="1650" b="0">
                <a:solidFill>
                  <a:srgbClr val="A0A5AF"/>
                </a:solidFill>
                <a:latin typeface="Arial"/>
                <a:ea typeface="Arial"/>
                <a:cs typeface="Arial"/>
              </a:defRPr>
            </a:lvl8pPr>
            <a:lvl9pPr algn="l">
              <a:defRPr sz="1650" b="0">
                <a:solidFill>
                  <a:srgbClr val="A0A5AF"/>
                </a:solidFill>
                <a:latin typeface="Arial"/>
                <a:ea typeface="Arial"/>
                <a:cs typeface="Arial"/>
              </a:defRPr>
            </a:lvl9pPr>
          </a:lstStyle>
          <a:p xmlns:a="http://schemas.openxmlformats.org/drawingml/2006/main">
            <a:pPr algn="l">
              <a:defRPr sz="1650" b="0">
                <a:solidFill>
                  <a:srgbClr val="A0A5AF"/>
                </a:solidFill>
                <a:latin typeface="Arial"/>
                <a:ea typeface="Arial"/>
                <a:cs typeface="Arial"/>
              </a:defRPr>
            </a:pPr>
            <a:r>
              <a:rPr sz="1650" b="0">
                <a:solidFill>
                  <a:srgbClr val="A0A5AF"/>
                </a:solidFill>
                <a:latin typeface="Arial"/>
                <a:ea typeface="Arial"/>
                <a:cs typeface="Arial"/>
              </a:rPr>
              <a:t>A query cap applies at the controller interface. The host can bypass that interface.</a:t>
            </a:r>
          </a:p>
        </p:txBody>
      </p:sp>
    </p:spTree>
    <p:extLst>
      <p:ext uri="{BB962C8B-B14F-4D97-AF65-F5344CB8AC3E}">
        <p14:creationId xmlns:p14="http://schemas.microsoft.com/office/powerpoint/2010/main" val="412980868"/>
      </p:ext>
    </p:extLst>
  </p:cSld>
</p:sld>
</file>

<file path=ppt/slides/slide12.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7F89AA3-8026-4A53-8D0E-11526BC63066}"/>
              </a:ext>
            </a:extLst>
          </p:cNvPr>
          <p:cNvPicPr>
            <a:picLocks xmlns:a="http://schemas.openxmlformats.org/drawingml/2006/main" noChangeAspect="1"/>
          </p:cNvPicPr>
          <p:nvPr/>
        </p:nvPicPr>
        <p:blipFill>
          <a:blip xmlns:r="http://schemas.openxmlformats.org/officeDocument/2006/relationships" xmlns:a="http://schemas.openxmlformats.org/drawingml/2006/main" r:embed="R23d0d2f1810d4398">
            <a:extLst>
              <a:ext uri="{96DAC541-7B7A-43D3-8B79-37D633B846F1}">
                <asvg:svgBlip xmlns:asvg="http://schemas.microsoft.com/office/drawing/2016/SVG/main" r:embed="Rd127332cda3e49c2"/>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7B20D100-9192-4B4E-8486-346FE04557E0}"/>
              </a:ext>
            </a:extLst>
          </p:cNvPr>
          <p:cNvGraphicFramePr/>
          <p:nvPr/>
        </p:nvGraphicFramePr>
        <p:xfrm>
          <a:off xmlns:a="http://schemas.openxmlformats.org/drawingml/2006/main" x="5238750" y="2581275"/>
          <a:ext xmlns:a="http://schemas.openxmlformats.org/drawingml/2006/main" cx="6343650" cy="3048000"/>
        </p:xfrm>
        <a:graphic xmlns:a="http://schemas.openxmlformats.org/drawingml/2006/main">
          <a:graphicData uri="http://schemas.openxmlformats.org/drawingml/2006/chart">
            <c:chart xmlns:r="http://schemas.openxmlformats.org/officeDocument/2006/relationships" xmlns:c="http://schemas.openxmlformats.org/drawingml/2006/chart" r:id="R94a21af1c5e24801"/>
          </a:graphicData>
        </a:graphic>
      </p:graphicFrame>
      <p:sp>
        <p:nvSpPr>
          <p:cNvPr id="12" name="Evaluation and measured overhead">
            <a:extLst xmlns:a="http://schemas.openxmlformats.org/drawingml/2006/main">
              <a:ext uri="{FF2B5EF4-FFF2-40B4-BE49-F238E27FC236}">
                <a16:creationId xmlns:a16="http://schemas.microsoft.com/office/drawing/2014/main" id="{22C0C5A0-EBCF-4A6C-A5D3-269F16E3317F}"/>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Evaluation and measured overhead</a:t>
            </a:r>
          </a:p>
        </p:txBody>
      </p:sp>
      <p:sp>
        <p:nvSpPr>
          <p:cNvPr id="13" name="Mandate Labs">
            <a:extLst xmlns:a="http://schemas.openxmlformats.org/drawingml/2006/main">
              <a:ext uri="{FF2B5EF4-FFF2-40B4-BE49-F238E27FC236}">
                <a16:creationId xmlns:a16="http://schemas.microsoft.com/office/drawing/2014/main" id="{4CD25142-91FC-4018-9F33-E41EC49664FE}"/>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14" name="12">
            <a:extLst xmlns:a="http://schemas.openxmlformats.org/drawingml/2006/main">
              <a:ext uri="{FF2B5EF4-FFF2-40B4-BE49-F238E27FC236}">
                <a16:creationId xmlns:a16="http://schemas.microsoft.com/office/drawing/2014/main" id="{7C7ACCC9-3A30-425F-B5D2-B21B927CB92E}"/>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12</a:t>
            </a:r>
          </a:p>
        </p:txBody>
      </p:sp>
      <p:sp>
        <p:nvSpPr>
          <p:cNvPr id="15" name="120 tasks">
            <a:extLst xmlns:a="http://schemas.openxmlformats.org/drawingml/2006/main">
              <a:ext uri="{FF2B5EF4-FFF2-40B4-BE49-F238E27FC236}">
                <a16:creationId xmlns:a16="http://schemas.microsoft.com/office/drawing/2014/main" id="{5D0DFB2C-3627-4928-91F8-F845C267DE42}"/>
              </a:ext>
            </a:extLst>
          </p:cNvPr>
          <p:cNvSpPr>
            <a:spLocks xmlns:a="http://schemas.openxmlformats.org/drawingml/2006/main" noGrp="1"/>
          </p:cNvSpPr>
          <p:nvPr/>
        </p:nvSpPr>
        <p:spPr>
          <a:xfrm xmlns:a="http://schemas.openxmlformats.org/drawingml/2006/main">
            <a:off x="609600" y="1971675"/>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62ACFF"/>
                </a:solidFill>
                <a:latin typeface="Arial"/>
                <a:ea typeface="Arial"/>
                <a:cs typeface="Arial"/>
              </a:defRPr>
            </a:defPPr>
            <a:lvl1pPr algn="l">
              <a:defRPr sz="3600" b="1">
                <a:solidFill>
                  <a:srgbClr val="62ACFF"/>
                </a:solidFill>
                <a:latin typeface="Arial"/>
                <a:ea typeface="Arial"/>
                <a:cs typeface="Arial"/>
              </a:defRPr>
            </a:lvl1pPr>
            <a:lvl2pPr algn="l">
              <a:defRPr sz="3600" b="1">
                <a:solidFill>
                  <a:srgbClr val="62ACFF"/>
                </a:solidFill>
                <a:latin typeface="Arial"/>
                <a:ea typeface="Arial"/>
                <a:cs typeface="Arial"/>
              </a:defRPr>
            </a:lvl2pPr>
            <a:lvl3pPr algn="l">
              <a:defRPr sz="3600" b="1">
                <a:solidFill>
                  <a:srgbClr val="62ACFF"/>
                </a:solidFill>
                <a:latin typeface="Arial"/>
                <a:ea typeface="Arial"/>
                <a:cs typeface="Arial"/>
              </a:defRPr>
            </a:lvl3pPr>
            <a:lvl4pPr algn="l">
              <a:defRPr sz="3600" b="1">
                <a:solidFill>
                  <a:srgbClr val="62ACFF"/>
                </a:solidFill>
                <a:latin typeface="Arial"/>
                <a:ea typeface="Arial"/>
                <a:cs typeface="Arial"/>
              </a:defRPr>
            </a:lvl4pPr>
            <a:lvl5pPr algn="l">
              <a:defRPr sz="3600" b="1">
                <a:solidFill>
                  <a:srgbClr val="62ACFF"/>
                </a:solidFill>
                <a:latin typeface="Arial"/>
                <a:ea typeface="Arial"/>
                <a:cs typeface="Arial"/>
              </a:defRPr>
            </a:lvl5pPr>
            <a:lvl6pPr algn="l">
              <a:defRPr sz="3600" b="1">
                <a:solidFill>
                  <a:srgbClr val="62ACFF"/>
                </a:solidFill>
                <a:latin typeface="Arial"/>
                <a:ea typeface="Arial"/>
                <a:cs typeface="Arial"/>
              </a:defRPr>
            </a:lvl6pPr>
            <a:lvl7pPr algn="l">
              <a:defRPr sz="3600" b="1">
                <a:solidFill>
                  <a:srgbClr val="62ACFF"/>
                </a:solidFill>
                <a:latin typeface="Arial"/>
                <a:ea typeface="Arial"/>
                <a:cs typeface="Arial"/>
              </a:defRPr>
            </a:lvl7pPr>
            <a:lvl8pPr algn="l">
              <a:defRPr sz="3600" b="1">
                <a:solidFill>
                  <a:srgbClr val="62ACFF"/>
                </a:solidFill>
                <a:latin typeface="Arial"/>
                <a:ea typeface="Arial"/>
                <a:cs typeface="Arial"/>
              </a:defRPr>
            </a:lvl8pPr>
            <a:lvl9pPr algn="l">
              <a:defRPr sz="3600" b="1">
                <a:solidFill>
                  <a:srgbClr val="62ACFF"/>
                </a:solidFill>
                <a:latin typeface="Arial"/>
                <a:ea typeface="Arial"/>
                <a:cs typeface="Arial"/>
              </a:defRPr>
            </a:lvl9pPr>
          </a:lstStyle>
          <a:p xmlns:a="http://schemas.openxmlformats.org/drawingml/2006/main">
            <a:pPr algn="l">
              <a:defRPr sz="3600" b="1">
                <a:solidFill>
                  <a:srgbClr val="62ACFF"/>
                </a:solidFill>
                <a:latin typeface="Arial"/>
                <a:ea typeface="Arial"/>
                <a:cs typeface="Arial"/>
              </a:defRPr>
            </a:pPr>
            <a:r>
              <a:rPr sz="3600" b="1">
                <a:solidFill>
                  <a:srgbClr val="62ACFF"/>
                </a:solidFill>
                <a:latin typeface="Arial"/>
                <a:ea typeface="Arial"/>
                <a:cs typeface="Arial"/>
              </a:rPr>
              <a:t>120 tasks</a:t>
            </a:r>
          </a:p>
        </p:txBody>
      </p:sp>
      <p:sp>
        <p:nvSpPr>
          <p:cNvPr id="16" name="132 settlements&#10;0 duplicate payments">
            <a:extLst xmlns:a="http://schemas.openxmlformats.org/drawingml/2006/main">
              <a:ext uri="{FF2B5EF4-FFF2-40B4-BE49-F238E27FC236}">
                <a16:creationId xmlns:a16="http://schemas.microsoft.com/office/drawing/2014/main" id="{8005E659-5C19-4AF6-B17F-DA9451E16CE2}"/>
              </a:ext>
            </a:extLst>
          </p:cNvPr>
          <p:cNvSpPr>
            <a:spLocks xmlns:a="http://schemas.openxmlformats.org/drawingml/2006/main" noGrp="1"/>
          </p:cNvSpPr>
          <p:nvPr/>
        </p:nvSpPr>
        <p:spPr>
          <a:xfrm xmlns:a="http://schemas.openxmlformats.org/drawingml/2006/main">
            <a:off x="628650" y="2686050"/>
            <a:ext cx="4057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6F8"/>
                </a:solidFill>
                <a:latin typeface="Arial"/>
                <a:ea typeface="Arial"/>
                <a:cs typeface="Arial"/>
              </a:defRPr>
            </a:defPPr>
            <a:lvl1pPr algn="l">
              <a:defRPr sz="2175" b="0">
                <a:solidFill>
                  <a:srgbClr val="F5F6F8"/>
                </a:solidFill>
                <a:latin typeface="Arial"/>
                <a:ea typeface="Arial"/>
                <a:cs typeface="Arial"/>
              </a:defRPr>
            </a:lvl1pPr>
            <a:lvl2pPr algn="l">
              <a:defRPr sz="2175" b="0">
                <a:solidFill>
                  <a:srgbClr val="F5F6F8"/>
                </a:solidFill>
                <a:latin typeface="Arial"/>
                <a:ea typeface="Arial"/>
                <a:cs typeface="Arial"/>
              </a:defRPr>
            </a:lvl2pPr>
            <a:lvl3pPr algn="l">
              <a:defRPr sz="2175" b="0">
                <a:solidFill>
                  <a:srgbClr val="F5F6F8"/>
                </a:solidFill>
                <a:latin typeface="Arial"/>
                <a:ea typeface="Arial"/>
                <a:cs typeface="Arial"/>
              </a:defRPr>
            </a:lvl3pPr>
            <a:lvl4pPr algn="l">
              <a:defRPr sz="2175" b="0">
                <a:solidFill>
                  <a:srgbClr val="F5F6F8"/>
                </a:solidFill>
                <a:latin typeface="Arial"/>
                <a:ea typeface="Arial"/>
                <a:cs typeface="Arial"/>
              </a:defRPr>
            </a:lvl4pPr>
            <a:lvl5pPr algn="l">
              <a:defRPr sz="2175" b="0">
                <a:solidFill>
                  <a:srgbClr val="F5F6F8"/>
                </a:solidFill>
                <a:latin typeface="Arial"/>
                <a:ea typeface="Arial"/>
                <a:cs typeface="Arial"/>
              </a:defRPr>
            </a:lvl5pPr>
            <a:lvl6pPr algn="l">
              <a:defRPr sz="2175" b="0">
                <a:solidFill>
                  <a:srgbClr val="F5F6F8"/>
                </a:solidFill>
                <a:latin typeface="Arial"/>
                <a:ea typeface="Arial"/>
                <a:cs typeface="Arial"/>
              </a:defRPr>
            </a:lvl6pPr>
            <a:lvl7pPr algn="l">
              <a:defRPr sz="2175" b="0">
                <a:solidFill>
                  <a:srgbClr val="F5F6F8"/>
                </a:solidFill>
                <a:latin typeface="Arial"/>
                <a:ea typeface="Arial"/>
                <a:cs typeface="Arial"/>
              </a:defRPr>
            </a:lvl7pPr>
            <a:lvl8pPr algn="l">
              <a:defRPr sz="2175" b="0">
                <a:solidFill>
                  <a:srgbClr val="F5F6F8"/>
                </a:solidFill>
                <a:latin typeface="Arial"/>
                <a:ea typeface="Arial"/>
                <a:cs typeface="Arial"/>
              </a:defRPr>
            </a:lvl8pPr>
            <a:lvl9pPr algn="l">
              <a:defRPr sz="2175" b="0">
                <a:solidFill>
                  <a:srgbClr val="F5F6F8"/>
                </a:solidFill>
                <a:latin typeface="Arial"/>
                <a:ea typeface="Arial"/>
                <a:cs typeface="Arial"/>
              </a:defRPr>
            </a:lvl9pPr>
          </a:lstStyle>
          <a:p xmlns:a="http://schemas.openxmlformats.org/drawingml/2006/main">
            <a:pPr algn="l">
              <a:defRPr sz="2175" b="0">
                <a:solidFill>
                  <a:srgbClr val="F5F6F8"/>
                </a:solidFill>
                <a:latin typeface="Arial"/>
                <a:ea typeface="Arial"/>
                <a:cs typeface="Arial"/>
              </a:defRPr>
            </a:pPr>
            <a:r>
              <a:rPr sz="2175" b="0">
                <a:solidFill>
                  <a:srgbClr val="F5F6F8"/>
                </a:solidFill>
                <a:latin typeface="Arial"/>
                <a:ea typeface="Arial"/>
                <a:cs typeface="Arial"/>
              </a:rPr>
              <a:t>132 settlements</a:t>
            </a:r>
          </a:p>
          <a:p xmlns:a="http://schemas.openxmlformats.org/drawingml/2006/main">
            <a:pPr algn="l">
              <a:defRPr sz="2175" b="0">
                <a:solidFill>
                  <a:srgbClr val="F5F6F8"/>
                </a:solidFill>
                <a:latin typeface="Arial"/>
                <a:ea typeface="Arial"/>
                <a:cs typeface="Arial"/>
              </a:defRPr>
            </a:pPr>
            <a:r>
              <a:rPr sz="2175" b="0">
                <a:solidFill>
                  <a:srgbClr val="F5F6F8"/>
                </a:solidFill>
                <a:latin typeface="Arial"/>
                <a:ea typeface="Arial"/>
                <a:cs typeface="Arial"/>
              </a:rPr>
              <a:t>0 duplicate payments</a:t>
            </a:r>
          </a:p>
        </p:txBody>
      </p:sp>
      <p:sp>
        <p:nvSpPr>
          <p:cNvPr id="17" name="10,000 invalid calls">
            <a:extLst xmlns:a="http://schemas.openxmlformats.org/drawingml/2006/main">
              <a:ext uri="{FF2B5EF4-FFF2-40B4-BE49-F238E27FC236}">
                <a16:creationId xmlns:a16="http://schemas.microsoft.com/office/drawing/2014/main" id="{F7C0DAD3-79ED-4D22-84D5-22D2C4927D00}"/>
              </a:ext>
            </a:extLst>
          </p:cNvPr>
          <p:cNvSpPr>
            <a:spLocks xmlns:a="http://schemas.openxmlformats.org/drawingml/2006/main" noGrp="1"/>
          </p:cNvSpPr>
          <p:nvPr/>
        </p:nvSpPr>
        <p:spPr>
          <a:xfrm xmlns:a="http://schemas.openxmlformats.org/drawingml/2006/main">
            <a:off x="609600" y="3943350"/>
            <a:ext cx="4257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5F6F8"/>
                </a:solidFill>
                <a:latin typeface="Arial"/>
                <a:ea typeface="Arial"/>
                <a:cs typeface="Arial"/>
              </a:defRPr>
            </a:defPPr>
            <a:lvl1pPr algn="l">
              <a:defRPr sz="3000" b="1">
                <a:solidFill>
                  <a:srgbClr val="F5F6F8"/>
                </a:solidFill>
                <a:latin typeface="Arial"/>
                <a:ea typeface="Arial"/>
                <a:cs typeface="Arial"/>
              </a:defRPr>
            </a:lvl1pPr>
            <a:lvl2pPr algn="l">
              <a:defRPr sz="3000" b="1">
                <a:solidFill>
                  <a:srgbClr val="F5F6F8"/>
                </a:solidFill>
                <a:latin typeface="Arial"/>
                <a:ea typeface="Arial"/>
                <a:cs typeface="Arial"/>
              </a:defRPr>
            </a:lvl2pPr>
            <a:lvl3pPr algn="l">
              <a:defRPr sz="3000" b="1">
                <a:solidFill>
                  <a:srgbClr val="F5F6F8"/>
                </a:solidFill>
                <a:latin typeface="Arial"/>
                <a:ea typeface="Arial"/>
                <a:cs typeface="Arial"/>
              </a:defRPr>
            </a:lvl3pPr>
            <a:lvl4pPr algn="l">
              <a:defRPr sz="3000" b="1">
                <a:solidFill>
                  <a:srgbClr val="F5F6F8"/>
                </a:solidFill>
                <a:latin typeface="Arial"/>
                <a:ea typeface="Arial"/>
                <a:cs typeface="Arial"/>
              </a:defRPr>
            </a:lvl4pPr>
            <a:lvl5pPr algn="l">
              <a:defRPr sz="3000" b="1">
                <a:solidFill>
                  <a:srgbClr val="F5F6F8"/>
                </a:solidFill>
                <a:latin typeface="Arial"/>
                <a:ea typeface="Arial"/>
                <a:cs typeface="Arial"/>
              </a:defRPr>
            </a:lvl5pPr>
            <a:lvl6pPr algn="l">
              <a:defRPr sz="3000" b="1">
                <a:solidFill>
                  <a:srgbClr val="F5F6F8"/>
                </a:solidFill>
                <a:latin typeface="Arial"/>
                <a:ea typeface="Arial"/>
                <a:cs typeface="Arial"/>
              </a:defRPr>
            </a:lvl6pPr>
            <a:lvl7pPr algn="l">
              <a:defRPr sz="3000" b="1">
                <a:solidFill>
                  <a:srgbClr val="F5F6F8"/>
                </a:solidFill>
                <a:latin typeface="Arial"/>
                <a:ea typeface="Arial"/>
                <a:cs typeface="Arial"/>
              </a:defRPr>
            </a:lvl7pPr>
            <a:lvl8pPr algn="l">
              <a:defRPr sz="3000" b="1">
                <a:solidFill>
                  <a:srgbClr val="F5F6F8"/>
                </a:solidFill>
                <a:latin typeface="Arial"/>
                <a:ea typeface="Arial"/>
                <a:cs typeface="Arial"/>
              </a:defRPr>
            </a:lvl8pPr>
            <a:lvl9pPr algn="l">
              <a:defRPr sz="3000" b="1">
                <a:solidFill>
                  <a:srgbClr val="F5F6F8"/>
                </a:solidFill>
                <a:latin typeface="Arial"/>
                <a:ea typeface="Arial"/>
                <a:cs typeface="Arial"/>
              </a:defRPr>
            </a:lvl9pPr>
          </a:lstStyle>
          <a:p xmlns:a="http://schemas.openxmlformats.org/drawingml/2006/main">
            <a:pPr algn="l">
              <a:defRPr sz="3000" b="1">
                <a:solidFill>
                  <a:srgbClr val="F5F6F8"/>
                </a:solidFill>
                <a:latin typeface="Arial"/>
                <a:ea typeface="Arial"/>
                <a:cs typeface="Arial"/>
              </a:defRPr>
            </a:pPr>
            <a:r>
              <a:rPr sz="3000" b="1">
                <a:solidFill>
                  <a:srgbClr val="F5F6F8"/>
                </a:solidFill>
                <a:latin typeface="Arial"/>
                <a:ea typeface="Arial"/>
                <a:cs typeface="Arial"/>
              </a:rPr>
              <a:t>10,000 invalid calls</a:t>
            </a:r>
          </a:p>
        </p:txBody>
      </p:sp>
      <p:sp>
        <p:nvSpPr>
          <p:cNvPr id="18" name="20 explicit categories&#10;6 legal controls">
            <a:extLst xmlns:a="http://schemas.openxmlformats.org/drawingml/2006/main">
              <a:ext uri="{FF2B5EF4-FFF2-40B4-BE49-F238E27FC236}">
                <a16:creationId xmlns:a16="http://schemas.microsoft.com/office/drawing/2014/main" id="{0AC17353-4389-46BB-8551-4C45DEB46D5A}"/>
              </a:ext>
            </a:extLst>
          </p:cNvPr>
          <p:cNvSpPr>
            <a:spLocks xmlns:a="http://schemas.openxmlformats.org/drawingml/2006/main" noGrp="1"/>
          </p:cNvSpPr>
          <p:nvPr/>
        </p:nvSpPr>
        <p:spPr>
          <a:xfrm xmlns:a="http://schemas.openxmlformats.org/drawingml/2006/main">
            <a:off x="628650" y="4610100"/>
            <a:ext cx="419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0A5AF"/>
                </a:solidFill>
                <a:latin typeface="Arial"/>
                <a:ea typeface="Arial"/>
                <a:cs typeface="Arial"/>
              </a:defRPr>
            </a:defPPr>
            <a:lvl1pPr algn="l">
              <a:defRPr sz="1950" b="0">
                <a:solidFill>
                  <a:srgbClr val="A0A5AF"/>
                </a:solidFill>
                <a:latin typeface="Arial"/>
                <a:ea typeface="Arial"/>
                <a:cs typeface="Arial"/>
              </a:defRPr>
            </a:lvl1pPr>
            <a:lvl2pPr algn="l">
              <a:defRPr sz="1950" b="0">
                <a:solidFill>
                  <a:srgbClr val="A0A5AF"/>
                </a:solidFill>
                <a:latin typeface="Arial"/>
                <a:ea typeface="Arial"/>
                <a:cs typeface="Arial"/>
              </a:defRPr>
            </a:lvl2pPr>
            <a:lvl3pPr algn="l">
              <a:defRPr sz="1950" b="0">
                <a:solidFill>
                  <a:srgbClr val="A0A5AF"/>
                </a:solidFill>
                <a:latin typeface="Arial"/>
                <a:ea typeface="Arial"/>
                <a:cs typeface="Arial"/>
              </a:defRPr>
            </a:lvl3pPr>
            <a:lvl4pPr algn="l">
              <a:defRPr sz="1950" b="0">
                <a:solidFill>
                  <a:srgbClr val="A0A5AF"/>
                </a:solidFill>
                <a:latin typeface="Arial"/>
                <a:ea typeface="Arial"/>
                <a:cs typeface="Arial"/>
              </a:defRPr>
            </a:lvl4pPr>
            <a:lvl5pPr algn="l">
              <a:defRPr sz="1950" b="0">
                <a:solidFill>
                  <a:srgbClr val="A0A5AF"/>
                </a:solidFill>
                <a:latin typeface="Arial"/>
                <a:ea typeface="Arial"/>
                <a:cs typeface="Arial"/>
              </a:defRPr>
            </a:lvl5pPr>
            <a:lvl6pPr algn="l">
              <a:defRPr sz="1950" b="0">
                <a:solidFill>
                  <a:srgbClr val="A0A5AF"/>
                </a:solidFill>
                <a:latin typeface="Arial"/>
                <a:ea typeface="Arial"/>
                <a:cs typeface="Arial"/>
              </a:defRPr>
            </a:lvl6pPr>
            <a:lvl7pPr algn="l">
              <a:defRPr sz="1950" b="0">
                <a:solidFill>
                  <a:srgbClr val="A0A5AF"/>
                </a:solidFill>
                <a:latin typeface="Arial"/>
                <a:ea typeface="Arial"/>
                <a:cs typeface="Arial"/>
              </a:defRPr>
            </a:lvl7pPr>
            <a:lvl8pPr algn="l">
              <a:defRPr sz="1950" b="0">
                <a:solidFill>
                  <a:srgbClr val="A0A5AF"/>
                </a:solidFill>
                <a:latin typeface="Arial"/>
                <a:ea typeface="Arial"/>
                <a:cs typeface="Arial"/>
              </a:defRPr>
            </a:lvl8pPr>
            <a:lvl9pPr algn="l">
              <a:defRPr sz="1950" b="0">
                <a:solidFill>
                  <a:srgbClr val="A0A5AF"/>
                </a:solidFill>
                <a:latin typeface="Arial"/>
                <a:ea typeface="Arial"/>
                <a:cs typeface="Arial"/>
              </a:defRPr>
            </a:lvl9pPr>
          </a:lstStyle>
          <a:p xmlns:a="http://schemas.openxmlformats.org/drawingml/2006/main">
            <a:pPr algn="l">
              <a:defRPr sz="1950" b="0">
                <a:solidFill>
                  <a:srgbClr val="A0A5AF"/>
                </a:solidFill>
                <a:latin typeface="Arial"/>
                <a:ea typeface="Arial"/>
                <a:cs typeface="Arial"/>
              </a:defRPr>
            </a:pPr>
            <a:r>
              <a:rPr sz="1950" b="0">
                <a:solidFill>
                  <a:srgbClr val="A0A5AF"/>
                </a:solidFill>
                <a:latin typeface="Arial"/>
                <a:ea typeface="Arial"/>
                <a:cs typeface="Arial"/>
              </a:rPr>
              <a:t>20 explicit categories</a:t>
            </a:r>
          </a:p>
          <a:p xmlns:a="http://schemas.openxmlformats.org/drawingml/2006/main">
            <a:pPr algn="l">
              <a:defRPr sz="1950" b="0">
                <a:solidFill>
                  <a:srgbClr val="A0A5AF"/>
                </a:solidFill>
                <a:latin typeface="Arial"/>
                <a:ea typeface="Arial"/>
                <a:cs typeface="Arial"/>
              </a:defRPr>
            </a:pPr>
            <a:r>
              <a:rPr sz="1950" b="0">
                <a:solidFill>
                  <a:srgbClr val="A0A5AF"/>
                </a:solidFill>
                <a:latin typeface="Arial"/>
                <a:ea typeface="Arial"/>
                <a:cs typeface="Arial"/>
              </a:rPr>
              <a:t>6 legal controls</a:t>
            </a:r>
          </a:p>
        </p:txBody>
      </p:sp>
      <p:sp>
        <p:nvSpPr>
          <p:cNvPr id="19" name="Local full-task median (ms)">
            <a:extLst xmlns:a="http://schemas.openxmlformats.org/drawingml/2006/main">
              <a:ext uri="{FF2B5EF4-FFF2-40B4-BE49-F238E27FC236}">
                <a16:creationId xmlns:a16="http://schemas.microsoft.com/office/drawing/2014/main" id="{0C1124B1-FF66-4733-8A8E-2482E12025AC}"/>
              </a:ext>
            </a:extLst>
          </p:cNvPr>
          <p:cNvSpPr>
            <a:spLocks xmlns:a="http://schemas.openxmlformats.org/drawingml/2006/main" noGrp="1"/>
          </p:cNvSpPr>
          <p:nvPr/>
        </p:nvSpPr>
        <p:spPr>
          <a:xfrm xmlns:a="http://schemas.openxmlformats.org/drawingml/2006/main">
            <a:off x="5353050" y="19335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2ACFF"/>
                </a:solidFill>
                <a:latin typeface="Arial"/>
                <a:ea typeface="Arial"/>
                <a:cs typeface="Arial"/>
              </a:defRPr>
            </a:defPPr>
            <a:lvl1pPr algn="l">
              <a:defRPr sz="2025" b="1">
                <a:solidFill>
                  <a:srgbClr val="62ACFF"/>
                </a:solidFill>
                <a:latin typeface="Arial"/>
                <a:ea typeface="Arial"/>
                <a:cs typeface="Arial"/>
              </a:defRPr>
            </a:lvl1pPr>
            <a:lvl2pPr algn="l">
              <a:defRPr sz="2025" b="1">
                <a:solidFill>
                  <a:srgbClr val="62ACFF"/>
                </a:solidFill>
                <a:latin typeface="Arial"/>
                <a:ea typeface="Arial"/>
                <a:cs typeface="Arial"/>
              </a:defRPr>
            </a:lvl2pPr>
            <a:lvl3pPr algn="l">
              <a:defRPr sz="2025" b="1">
                <a:solidFill>
                  <a:srgbClr val="62ACFF"/>
                </a:solidFill>
                <a:latin typeface="Arial"/>
                <a:ea typeface="Arial"/>
                <a:cs typeface="Arial"/>
              </a:defRPr>
            </a:lvl3pPr>
            <a:lvl4pPr algn="l">
              <a:defRPr sz="2025" b="1">
                <a:solidFill>
                  <a:srgbClr val="62ACFF"/>
                </a:solidFill>
                <a:latin typeface="Arial"/>
                <a:ea typeface="Arial"/>
                <a:cs typeface="Arial"/>
              </a:defRPr>
            </a:lvl4pPr>
            <a:lvl5pPr algn="l">
              <a:defRPr sz="2025" b="1">
                <a:solidFill>
                  <a:srgbClr val="62ACFF"/>
                </a:solidFill>
                <a:latin typeface="Arial"/>
                <a:ea typeface="Arial"/>
                <a:cs typeface="Arial"/>
              </a:defRPr>
            </a:lvl5pPr>
            <a:lvl6pPr algn="l">
              <a:defRPr sz="2025" b="1">
                <a:solidFill>
                  <a:srgbClr val="62ACFF"/>
                </a:solidFill>
                <a:latin typeface="Arial"/>
                <a:ea typeface="Arial"/>
                <a:cs typeface="Arial"/>
              </a:defRPr>
            </a:lvl6pPr>
            <a:lvl7pPr algn="l">
              <a:defRPr sz="2025" b="1">
                <a:solidFill>
                  <a:srgbClr val="62ACFF"/>
                </a:solidFill>
                <a:latin typeface="Arial"/>
                <a:ea typeface="Arial"/>
                <a:cs typeface="Arial"/>
              </a:defRPr>
            </a:lvl7pPr>
            <a:lvl8pPr algn="l">
              <a:defRPr sz="2025" b="1">
                <a:solidFill>
                  <a:srgbClr val="62ACFF"/>
                </a:solidFill>
                <a:latin typeface="Arial"/>
                <a:ea typeface="Arial"/>
                <a:cs typeface="Arial"/>
              </a:defRPr>
            </a:lvl8pPr>
            <a:lvl9pPr algn="l">
              <a:defRPr sz="2025" b="1">
                <a:solidFill>
                  <a:srgbClr val="62ACFF"/>
                </a:solidFill>
                <a:latin typeface="Arial"/>
                <a:ea typeface="Arial"/>
                <a:cs typeface="Arial"/>
              </a:defRPr>
            </a:lvl9pPr>
          </a:lstStyle>
          <a:p xmlns:a="http://schemas.openxmlformats.org/drawingml/2006/main">
            <a:pPr algn="l">
              <a:defRPr sz="2025" b="1">
                <a:solidFill>
                  <a:srgbClr val="62ACFF"/>
                </a:solidFill>
                <a:latin typeface="Arial"/>
                <a:ea typeface="Arial"/>
                <a:cs typeface="Arial"/>
              </a:defRPr>
            </a:pPr>
            <a:r>
              <a:rPr sz="2025" b="1">
                <a:solidFill>
                  <a:srgbClr val="62ACFF"/>
                </a:solidFill>
                <a:latin typeface="Arial"/>
                <a:ea typeface="Arial"/>
                <a:cs typeface="Arial"/>
              </a:rPr>
              <a:t>Local full-task median (ms)</a:t>
            </a:r>
          </a:p>
        </p:txBody>
      </p:sp>
      <p:sp>
        <p:nvSpPr>
          <p:cNvPr id="20" name="Local chain, n=30 per group. Setup excluded. Applicable export and ver">
            <a:extLst xmlns:a="http://schemas.openxmlformats.org/drawingml/2006/main">
              <a:ext uri="{FF2B5EF4-FFF2-40B4-BE49-F238E27FC236}">
                <a16:creationId xmlns:a16="http://schemas.microsoft.com/office/drawing/2014/main" id="{008AE11A-F4A6-4231-9D80-25F2283227AC}"/>
              </a:ext>
            </a:extLst>
          </p:cNvPr>
          <p:cNvSpPr>
            <a:spLocks xmlns:a="http://schemas.openxmlformats.org/drawingml/2006/main" noGrp="1"/>
          </p:cNvSpPr>
          <p:nvPr/>
        </p:nvSpPr>
        <p:spPr>
          <a:xfrm xmlns:a="http://schemas.openxmlformats.org/drawingml/2006/main">
            <a:off x="609600" y="59340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0A5AF"/>
                </a:solidFill>
                <a:latin typeface="Arial"/>
                <a:ea typeface="Arial"/>
                <a:cs typeface="Arial"/>
              </a:defRPr>
            </a:defPPr>
            <a:lvl1pPr algn="l">
              <a:defRPr sz="1500" b="0">
                <a:solidFill>
                  <a:srgbClr val="A0A5AF"/>
                </a:solidFill>
                <a:latin typeface="Arial"/>
                <a:ea typeface="Arial"/>
                <a:cs typeface="Arial"/>
              </a:defRPr>
            </a:lvl1pPr>
            <a:lvl2pPr algn="l">
              <a:defRPr sz="1500" b="0">
                <a:solidFill>
                  <a:srgbClr val="A0A5AF"/>
                </a:solidFill>
                <a:latin typeface="Arial"/>
                <a:ea typeface="Arial"/>
                <a:cs typeface="Arial"/>
              </a:defRPr>
            </a:lvl2pPr>
            <a:lvl3pPr algn="l">
              <a:defRPr sz="1500" b="0">
                <a:solidFill>
                  <a:srgbClr val="A0A5AF"/>
                </a:solidFill>
                <a:latin typeface="Arial"/>
                <a:ea typeface="Arial"/>
                <a:cs typeface="Arial"/>
              </a:defRPr>
            </a:lvl3pPr>
            <a:lvl4pPr algn="l">
              <a:defRPr sz="1500" b="0">
                <a:solidFill>
                  <a:srgbClr val="A0A5AF"/>
                </a:solidFill>
                <a:latin typeface="Arial"/>
                <a:ea typeface="Arial"/>
                <a:cs typeface="Arial"/>
              </a:defRPr>
            </a:lvl4pPr>
            <a:lvl5pPr algn="l">
              <a:defRPr sz="1500" b="0">
                <a:solidFill>
                  <a:srgbClr val="A0A5AF"/>
                </a:solidFill>
                <a:latin typeface="Arial"/>
                <a:ea typeface="Arial"/>
                <a:cs typeface="Arial"/>
              </a:defRPr>
            </a:lvl5pPr>
            <a:lvl6pPr algn="l">
              <a:defRPr sz="1500" b="0">
                <a:solidFill>
                  <a:srgbClr val="A0A5AF"/>
                </a:solidFill>
                <a:latin typeface="Arial"/>
                <a:ea typeface="Arial"/>
                <a:cs typeface="Arial"/>
              </a:defRPr>
            </a:lvl6pPr>
            <a:lvl7pPr algn="l">
              <a:defRPr sz="1500" b="0">
                <a:solidFill>
                  <a:srgbClr val="A0A5AF"/>
                </a:solidFill>
                <a:latin typeface="Arial"/>
                <a:ea typeface="Arial"/>
                <a:cs typeface="Arial"/>
              </a:defRPr>
            </a:lvl7pPr>
            <a:lvl8pPr algn="l">
              <a:defRPr sz="1500" b="0">
                <a:solidFill>
                  <a:srgbClr val="A0A5AF"/>
                </a:solidFill>
                <a:latin typeface="Arial"/>
                <a:ea typeface="Arial"/>
                <a:cs typeface="Arial"/>
              </a:defRPr>
            </a:lvl8pPr>
            <a:lvl9pPr algn="l">
              <a:defRPr sz="1500" b="0">
                <a:solidFill>
                  <a:srgbClr val="A0A5AF"/>
                </a:solidFill>
                <a:latin typeface="Arial"/>
                <a:ea typeface="Arial"/>
                <a:cs typeface="Arial"/>
              </a:defRPr>
            </a:lvl9pPr>
          </a:lstStyle>
          <a:p xmlns:a="http://schemas.openxmlformats.org/drawingml/2006/main">
            <a:pPr algn="l">
              <a:defRPr sz="1500" b="0">
                <a:solidFill>
                  <a:srgbClr val="A0A5AF"/>
                </a:solidFill>
                <a:latin typeface="Arial"/>
                <a:ea typeface="Arial"/>
                <a:cs typeface="Arial"/>
              </a:defRPr>
            </a:pPr>
            <a:r>
              <a:rPr sz="1500" b="0">
                <a:solidFill>
                  <a:srgbClr val="A0A5AF"/>
                </a:solidFill>
                <a:latin typeface="Arial"/>
                <a:ea typeface="Arial"/>
                <a:cs typeface="Arial"/>
              </a:rPr>
              <a:t>Local chain, n=30 per group. Setup excluded. Applicable export and verification included.</a:t>
            </a:r>
          </a:p>
        </p:txBody>
      </p:sp>
    </p:spTree>
    <p:extLst>
      <p:ext uri="{BB962C8B-B14F-4D97-AF65-F5344CB8AC3E}">
        <p14:creationId xmlns:p14="http://schemas.microsoft.com/office/powerpoint/2010/main" val="830846624"/>
      </p:ext>
    </p:extLst>
  </p:cSld>
</p:sld>
</file>

<file path=ppt/slides/slide13.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F8D6876-E2FF-44A5-A167-5229D15C6C2D}"/>
              </a:ext>
            </a:extLst>
          </p:cNvPr>
          <p:cNvPicPr>
            <a:picLocks xmlns:a="http://schemas.openxmlformats.org/drawingml/2006/main" noChangeAspect="1"/>
          </p:cNvPicPr>
          <p:nvPr/>
        </p:nvPicPr>
        <p:blipFill>
          <a:blip xmlns:r="http://schemas.openxmlformats.org/officeDocument/2006/relationships" xmlns:a="http://schemas.openxmlformats.org/drawingml/2006/main" r:embed="Ra7daa3e8074844f3">
            <a:extLst>
              <a:ext uri="{96DAC541-7B7A-43D3-8B79-37D633B846F1}">
                <asvg:svgBlip xmlns:asvg="http://schemas.microsoft.com/office/drawing/2016/SVG/main" r:embed="Rf55f42bc23ec45de"/>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Public execution and revocation evidence">
            <a:extLst xmlns:a="http://schemas.openxmlformats.org/drawingml/2006/main">
              <a:ext uri="{FF2B5EF4-FFF2-40B4-BE49-F238E27FC236}">
                <a16:creationId xmlns:a16="http://schemas.microsoft.com/office/drawing/2014/main" id="{1AE0B34E-3B91-4995-952D-349B8DD072AF}"/>
              </a:ext>
            </a:extLst>
          </p:cNvPr>
          <p:cNvSpPr>
            <a:spLocks xmlns:a="http://schemas.openxmlformats.org/drawingml/2006/main" noGrp="1"/>
          </p:cNvSpPr>
          <p:nvPr/>
        </p:nvSpPr>
        <p:spPr>
          <a:xfrm xmlns:a="http://schemas.openxmlformats.org/drawingml/2006/main">
            <a:off x="609600" y="990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6F8"/>
                </a:solidFill>
                <a:latin typeface="Arial"/>
                <a:ea typeface="Arial"/>
                <a:cs typeface="Arial"/>
              </a:defRPr>
            </a:defPPr>
            <a:lvl1pPr algn="l">
              <a:defRPr sz="3225" b="1">
                <a:solidFill>
                  <a:srgbClr val="F5F6F8"/>
                </a:solidFill>
                <a:latin typeface="Arial"/>
                <a:ea typeface="Arial"/>
                <a:cs typeface="Arial"/>
              </a:defRPr>
            </a:lvl1pPr>
            <a:lvl2pPr algn="l">
              <a:defRPr sz="3225" b="1">
                <a:solidFill>
                  <a:srgbClr val="F5F6F8"/>
                </a:solidFill>
                <a:latin typeface="Arial"/>
                <a:ea typeface="Arial"/>
                <a:cs typeface="Arial"/>
              </a:defRPr>
            </a:lvl2pPr>
            <a:lvl3pPr algn="l">
              <a:defRPr sz="3225" b="1">
                <a:solidFill>
                  <a:srgbClr val="F5F6F8"/>
                </a:solidFill>
                <a:latin typeface="Arial"/>
                <a:ea typeface="Arial"/>
                <a:cs typeface="Arial"/>
              </a:defRPr>
            </a:lvl3pPr>
            <a:lvl4pPr algn="l">
              <a:defRPr sz="3225" b="1">
                <a:solidFill>
                  <a:srgbClr val="F5F6F8"/>
                </a:solidFill>
                <a:latin typeface="Arial"/>
                <a:ea typeface="Arial"/>
                <a:cs typeface="Arial"/>
              </a:defRPr>
            </a:lvl4pPr>
            <a:lvl5pPr algn="l">
              <a:defRPr sz="3225" b="1">
                <a:solidFill>
                  <a:srgbClr val="F5F6F8"/>
                </a:solidFill>
                <a:latin typeface="Arial"/>
                <a:ea typeface="Arial"/>
                <a:cs typeface="Arial"/>
              </a:defRPr>
            </a:lvl5pPr>
            <a:lvl6pPr algn="l">
              <a:defRPr sz="3225" b="1">
                <a:solidFill>
                  <a:srgbClr val="F5F6F8"/>
                </a:solidFill>
                <a:latin typeface="Arial"/>
                <a:ea typeface="Arial"/>
                <a:cs typeface="Arial"/>
              </a:defRPr>
            </a:lvl6pPr>
            <a:lvl7pPr algn="l">
              <a:defRPr sz="3225" b="1">
                <a:solidFill>
                  <a:srgbClr val="F5F6F8"/>
                </a:solidFill>
                <a:latin typeface="Arial"/>
                <a:ea typeface="Arial"/>
                <a:cs typeface="Arial"/>
              </a:defRPr>
            </a:lvl7pPr>
            <a:lvl8pPr algn="l">
              <a:defRPr sz="3225" b="1">
                <a:solidFill>
                  <a:srgbClr val="F5F6F8"/>
                </a:solidFill>
                <a:latin typeface="Arial"/>
                <a:ea typeface="Arial"/>
                <a:cs typeface="Arial"/>
              </a:defRPr>
            </a:lvl8pPr>
            <a:lvl9pPr algn="l">
              <a:defRPr sz="3225" b="1">
                <a:solidFill>
                  <a:srgbClr val="F5F6F8"/>
                </a:solidFill>
                <a:latin typeface="Arial"/>
                <a:ea typeface="Arial"/>
                <a:cs typeface="Arial"/>
              </a:defRPr>
            </a:lvl9pPr>
          </a:lstStyle>
          <a:p xmlns:a="http://schemas.openxmlformats.org/drawingml/2006/main">
            <a:pPr algn="l">
              <a:defRPr sz="3225" b="1">
                <a:solidFill>
                  <a:srgbClr val="F5F6F8"/>
                </a:solidFill>
                <a:latin typeface="Arial"/>
                <a:ea typeface="Arial"/>
                <a:cs typeface="Arial"/>
              </a:defRPr>
            </a:pPr>
            <a:r>
              <a:rPr sz="3225" b="1">
                <a:solidFill>
                  <a:srgbClr val="F5F6F8"/>
                </a:solidFill>
                <a:latin typeface="Arial"/>
                <a:ea typeface="Arial"/>
                <a:cs typeface="Arial"/>
              </a:rPr>
              <a:t>Public execution and revocation evidence</a:t>
            </a:r>
          </a:p>
        </p:txBody>
      </p:sp>
      <p:sp>
        <p:nvSpPr>
          <p:cNvPr id="4" name="Mandate Labs">
            <a:extLst xmlns:a="http://schemas.openxmlformats.org/drawingml/2006/main">
              <a:ext uri="{FF2B5EF4-FFF2-40B4-BE49-F238E27FC236}">
                <a16:creationId xmlns:a16="http://schemas.microsoft.com/office/drawing/2014/main" id="{12F4AD91-CD19-456E-A8D1-2A4D5C81669C}"/>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5" name="13">
            <a:extLst xmlns:a="http://schemas.openxmlformats.org/drawingml/2006/main">
              <a:ext uri="{FF2B5EF4-FFF2-40B4-BE49-F238E27FC236}">
                <a16:creationId xmlns:a16="http://schemas.microsoft.com/office/drawing/2014/main" id="{A055A2BC-283B-43C1-88EA-9C3E28BC4940}"/>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13</a:t>
            </a:r>
          </a:p>
        </p:txBody>
      </p:sp>
      <p:sp>
        <p:nvSpPr>
          <p:cNvPr id="6" name="0.01">
            <a:extLst xmlns:a="http://schemas.openxmlformats.org/drawingml/2006/main">
              <a:ext uri="{FF2B5EF4-FFF2-40B4-BE49-F238E27FC236}">
                <a16:creationId xmlns:a16="http://schemas.microsoft.com/office/drawing/2014/main" id="{A2822FC3-3372-4144-8E48-E6D137EC63A9}"/>
              </a:ext>
            </a:extLst>
          </p:cNvPr>
          <p:cNvSpPr>
            <a:spLocks xmlns:a="http://schemas.openxmlformats.org/drawingml/2006/main" noGrp="1"/>
          </p:cNvSpPr>
          <p:nvPr/>
        </p:nvSpPr>
        <p:spPr>
          <a:xfrm xmlns:a="http://schemas.openxmlformats.org/drawingml/2006/main">
            <a:off x="609600" y="2066925"/>
            <a:ext cx="3486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62ACFF"/>
                </a:solidFill>
                <a:latin typeface="Arial"/>
                <a:ea typeface="Arial"/>
                <a:cs typeface="Arial"/>
              </a:defRPr>
            </a:defPPr>
            <a:lvl1pPr algn="l">
              <a:defRPr sz="5100" b="1">
                <a:solidFill>
                  <a:srgbClr val="62ACFF"/>
                </a:solidFill>
                <a:latin typeface="Arial"/>
                <a:ea typeface="Arial"/>
                <a:cs typeface="Arial"/>
              </a:defRPr>
            </a:lvl1pPr>
            <a:lvl2pPr algn="l">
              <a:defRPr sz="5100" b="1">
                <a:solidFill>
                  <a:srgbClr val="62ACFF"/>
                </a:solidFill>
                <a:latin typeface="Arial"/>
                <a:ea typeface="Arial"/>
                <a:cs typeface="Arial"/>
              </a:defRPr>
            </a:lvl2pPr>
            <a:lvl3pPr algn="l">
              <a:defRPr sz="5100" b="1">
                <a:solidFill>
                  <a:srgbClr val="62ACFF"/>
                </a:solidFill>
                <a:latin typeface="Arial"/>
                <a:ea typeface="Arial"/>
                <a:cs typeface="Arial"/>
              </a:defRPr>
            </a:lvl3pPr>
            <a:lvl4pPr algn="l">
              <a:defRPr sz="5100" b="1">
                <a:solidFill>
                  <a:srgbClr val="62ACFF"/>
                </a:solidFill>
                <a:latin typeface="Arial"/>
                <a:ea typeface="Arial"/>
                <a:cs typeface="Arial"/>
              </a:defRPr>
            </a:lvl4pPr>
            <a:lvl5pPr algn="l">
              <a:defRPr sz="5100" b="1">
                <a:solidFill>
                  <a:srgbClr val="62ACFF"/>
                </a:solidFill>
                <a:latin typeface="Arial"/>
                <a:ea typeface="Arial"/>
                <a:cs typeface="Arial"/>
              </a:defRPr>
            </a:lvl5pPr>
            <a:lvl6pPr algn="l">
              <a:defRPr sz="5100" b="1">
                <a:solidFill>
                  <a:srgbClr val="62ACFF"/>
                </a:solidFill>
                <a:latin typeface="Arial"/>
                <a:ea typeface="Arial"/>
                <a:cs typeface="Arial"/>
              </a:defRPr>
            </a:lvl6pPr>
            <a:lvl7pPr algn="l">
              <a:defRPr sz="5100" b="1">
                <a:solidFill>
                  <a:srgbClr val="62ACFF"/>
                </a:solidFill>
                <a:latin typeface="Arial"/>
                <a:ea typeface="Arial"/>
                <a:cs typeface="Arial"/>
              </a:defRPr>
            </a:lvl7pPr>
            <a:lvl8pPr algn="l">
              <a:defRPr sz="5100" b="1">
                <a:solidFill>
                  <a:srgbClr val="62ACFF"/>
                </a:solidFill>
                <a:latin typeface="Arial"/>
                <a:ea typeface="Arial"/>
                <a:cs typeface="Arial"/>
              </a:defRPr>
            </a:lvl8pPr>
            <a:lvl9pPr algn="l">
              <a:defRPr sz="5100" b="1">
                <a:solidFill>
                  <a:srgbClr val="62ACFF"/>
                </a:solidFill>
                <a:latin typeface="Arial"/>
                <a:ea typeface="Arial"/>
                <a:cs typeface="Arial"/>
              </a:defRPr>
            </a:lvl9pPr>
          </a:lstStyle>
          <a:p xmlns:a="http://schemas.openxmlformats.org/drawingml/2006/main">
            <a:pPr algn="l">
              <a:defRPr sz="5100" b="1">
                <a:solidFill>
                  <a:srgbClr val="62ACFF"/>
                </a:solidFill>
                <a:latin typeface="Arial"/>
                <a:ea typeface="Arial"/>
                <a:cs typeface="Arial"/>
              </a:defRPr>
            </a:pPr>
            <a:r>
              <a:rPr sz="5100" b="1">
                <a:solidFill>
                  <a:srgbClr val="62ACFF"/>
                </a:solidFill>
                <a:latin typeface="Arial"/>
                <a:ea typeface="Arial"/>
                <a:cs typeface="Arial"/>
              </a:rPr>
              <a:t>0.01</a:t>
            </a:r>
          </a:p>
        </p:txBody>
      </p:sp>
      <p:sp>
        <p:nvSpPr>
          <p:cNvPr id="7" name="test USDC paid once">
            <a:extLst xmlns:a="http://schemas.openxmlformats.org/drawingml/2006/main">
              <a:ext uri="{FF2B5EF4-FFF2-40B4-BE49-F238E27FC236}">
                <a16:creationId xmlns:a16="http://schemas.microsoft.com/office/drawing/2014/main" id="{C552D5C4-EF88-454B-BE80-C02FDB9D2916}"/>
              </a:ext>
            </a:extLst>
          </p:cNvPr>
          <p:cNvSpPr>
            <a:spLocks xmlns:a="http://schemas.openxmlformats.org/drawingml/2006/main" noGrp="1"/>
          </p:cNvSpPr>
          <p:nvPr/>
        </p:nvSpPr>
        <p:spPr>
          <a:xfrm xmlns:a="http://schemas.openxmlformats.org/drawingml/2006/main">
            <a:off x="609600" y="30480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6F8"/>
                </a:solidFill>
                <a:latin typeface="Arial"/>
                <a:ea typeface="Arial"/>
                <a:cs typeface="Arial"/>
              </a:defRPr>
            </a:defPPr>
            <a:lvl1pPr algn="l">
              <a:defRPr sz="1950" b="0">
                <a:solidFill>
                  <a:srgbClr val="F5F6F8"/>
                </a:solidFill>
                <a:latin typeface="Arial"/>
                <a:ea typeface="Arial"/>
                <a:cs typeface="Arial"/>
              </a:defRPr>
            </a:lvl1pPr>
            <a:lvl2pPr algn="l">
              <a:defRPr sz="1950" b="0">
                <a:solidFill>
                  <a:srgbClr val="F5F6F8"/>
                </a:solidFill>
                <a:latin typeface="Arial"/>
                <a:ea typeface="Arial"/>
                <a:cs typeface="Arial"/>
              </a:defRPr>
            </a:lvl2pPr>
            <a:lvl3pPr algn="l">
              <a:defRPr sz="1950" b="0">
                <a:solidFill>
                  <a:srgbClr val="F5F6F8"/>
                </a:solidFill>
                <a:latin typeface="Arial"/>
                <a:ea typeface="Arial"/>
                <a:cs typeface="Arial"/>
              </a:defRPr>
            </a:lvl3pPr>
            <a:lvl4pPr algn="l">
              <a:defRPr sz="1950" b="0">
                <a:solidFill>
                  <a:srgbClr val="F5F6F8"/>
                </a:solidFill>
                <a:latin typeface="Arial"/>
                <a:ea typeface="Arial"/>
                <a:cs typeface="Arial"/>
              </a:defRPr>
            </a:lvl4pPr>
            <a:lvl5pPr algn="l">
              <a:defRPr sz="1950" b="0">
                <a:solidFill>
                  <a:srgbClr val="F5F6F8"/>
                </a:solidFill>
                <a:latin typeface="Arial"/>
                <a:ea typeface="Arial"/>
                <a:cs typeface="Arial"/>
              </a:defRPr>
            </a:lvl5pPr>
            <a:lvl6pPr algn="l">
              <a:defRPr sz="1950" b="0">
                <a:solidFill>
                  <a:srgbClr val="F5F6F8"/>
                </a:solidFill>
                <a:latin typeface="Arial"/>
                <a:ea typeface="Arial"/>
                <a:cs typeface="Arial"/>
              </a:defRPr>
            </a:lvl6pPr>
            <a:lvl7pPr algn="l">
              <a:defRPr sz="1950" b="0">
                <a:solidFill>
                  <a:srgbClr val="F5F6F8"/>
                </a:solidFill>
                <a:latin typeface="Arial"/>
                <a:ea typeface="Arial"/>
                <a:cs typeface="Arial"/>
              </a:defRPr>
            </a:lvl7pPr>
            <a:lvl8pPr algn="l">
              <a:defRPr sz="1950" b="0">
                <a:solidFill>
                  <a:srgbClr val="F5F6F8"/>
                </a:solidFill>
                <a:latin typeface="Arial"/>
                <a:ea typeface="Arial"/>
                <a:cs typeface="Arial"/>
              </a:defRPr>
            </a:lvl8pPr>
            <a:lvl9pPr algn="l">
              <a:defRPr sz="1950" b="0">
                <a:solidFill>
                  <a:srgbClr val="F5F6F8"/>
                </a:solidFill>
                <a:latin typeface="Arial"/>
                <a:ea typeface="Arial"/>
                <a:cs typeface="Arial"/>
              </a:defRPr>
            </a:lvl9pPr>
          </a:lstStyle>
          <a:p xmlns:a="http://schemas.openxmlformats.org/drawingml/2006/main">
            <a:pPr algn="l">
              <a:defRPr sz="1950" b="0">
                <a:solidFill>
                  <a:srgbClr val="F5F6F8"/>
                </a:solidFill>
                <a:latin typeface="Arial"/>
                <a:ea typeface="Arial"/>
                <a:cs typeface="Arial"/>
              </a:defRPr>
            </a:pPr>
            <a:r>
              <a:rPr sz="1950" b="0">
                <a:solidFill>
                  <a:srgbClr val="F5F6F8"/>
                </a:solidFill>
                <a:latin typeface="Arial"/>
                <a:ea typeface="Arial"/>
                <a:cs typeface="Arial"/>
              </a:rPr>
              <a:t>test USDC paid once</a:t>
            </a:r>
          </a:p>
        </p:txBody>
      </p:sp>
      <p:sp>
        <p:nvSpPr>
          <p:cNvPr id="8" name="0.14">
            <a:extLst xmlns:a="http://schemas.openxmlformats.org/drawingml/2006/main">
              <a:ext uri="{FF2B5EF4-FFF2-40B4-BE49-F238E27FC236}">
                <a16:creationId xmlns:a16="http://schemas.microsoft.com/office/drawing/2014/main" id="{D59491D7-FF2D-469A-915C-C1109F19B1A3}"/>
              </a:ext>
            </a:extLst>
          </p:cNvPr>
          <p:cNvSpPr>
            <a:spLocks xmlns:a="http://schemas.openxmlformats.org/drawingml/2006/main" noGrp="1"/>
          </p:cNvSpPr>
          <p:nvPr/>
        </p:nvSpPr>
        <p:spPr>
          <a:xfrm xmlns:a="http://schemas.openxmlformats.org/drawingml/2006/main">
            <a:off x="4333875" y="2066925"/>
            <a:ext cx="3486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62ACFF"/>
                </a:solidFill>
                <a:latin typeface="Arial"/>
                <a:ea typeface="Arial"/>
                <a:cs typeface="Arial"/>
              </a:defRPr>
            </a:defPPr>
            <a:lvl1pPr algn="l">
              <a:defRPr sz="5100" b="1">
                <a:solidFill>
                  <a:srgbClr val="62ACFF"/>
                </a:solidFill>
                <a:latin typeface="Arial"/>
                <a:ea typeface="Arial"/>
                <a:cs typeface="Arial"/>
              </a:defRPr>
            </a:lvl1pPr>
            <a:lvl2pPr algn="l">
              <a:defRPr sz="5100" b="1">
                <a:solidFill>
                  <a:srgbClr val="62ACFF"/>
                </a:solidFill>
                <a:latin typeface="Arial"/>
                <a:ea typeface="Arial"/>
                <a:cs typeface="Arial"/>
              </a:defRPr>
            </a:lvl2pPr>
            <a:lvl3pPr algn="l">
              <a:defRPr sz="5100" b="1">
                <a:solidFill>
                  <a:srgbClr val="62ACFF"/>
                </a:solidFill>
                <a:latin typeface="Arial"/>
                <a:ea typeface="Arial"/>
                <a:cs typeface="Arial"/>
              </a:defRPr>
            </a:lvl3pPr>
            <a:lvl4pPr algn="l">
              <a:defRPr sz="5100" b="1">
                <a:solidFill>
                  <a:srgbClr val="62ACFF"/>
                </a:solidFill>
                <a:latin typeface="Arial"/>
                <a:ea typeface="Arial"/>
                <a:cs typeface="Arial"/>
              </a:defRPr>
            </a:lvl4pPr>
            <a:lvl5pPr algn="l">
              <a:defRPr sz="5100" b="1">
                <a:solidFill>
                  <a:srgbClr val="62ACFF"/>
                </a:solidFill>
                <a:latin typeface="Arial"/>
                <a:ea typeface="Arial"/>
                <a:cs typeface="Arial"/>
              </a:defRPr>
            </a:lvl5pPr>
            <a:lvl6pPr algn="l">
              <a:defRPr sz="5100" b="1">
                <a:solidFill>
                  <a:srgbClr val="62ACFF"/>
                </a:solidFill>
                <a:latin typeface="Arial"/>
                <a:ea typeface="Arial"/>
                <a:cs typeface="Arial"/>
              </a:defRPr>
            </a:lvl6pPr>
            <a:lvl7pPr algn="l">
              <a:defRPr sz="5100" b="1">
                <a:solidFill>
                  <a:srgbClr val="62ACFF"/>
                </a:solidFill>
                <a:latin typeface="Arial"/>
                <a:ea typeface="Arial"/>
                <a:cs typeface="Arial"/>
              </a:defRPr>
            </a:lvl7pPr>
            <a:lvl8pPr algn="l">
              <a:defRPr sz="5100" b="1">
                <a:solidFill>
                  <a:srgbClr val="62ACFF"/>
                </a:solidFill>
                <a:latin typeface="Arial"/>
                <a:ea typeface="Arial"/>
                <a:cs typeface="Arial"/>
              </a:defRPr>
            </a:lvl8pPr>
            <a:lvl9pPr algn="l">
              <a:defRPr sz="5100" b="1">
                <a:solidFill>
                  <a:srgbClr val="62ACFF"/>
                </a:solidFill>
                <a:latin typeface="Arial"/>
                <a:ea typeface="Arial"/>
                <a:cs typeface="Arial"/>
              </a:defRPr>
            </a:lvl9pPr>
          </a:lstStyle>
          <a:p xmlns:a="http://schemas.openxmlformats.org/drawingml/2006/main">
            <a:pPr algn="l">
              <a:defRPr sz="5100" b="1">
                <a:solidFill>
                  <a:srgbClr val="62ACFF"/>
                </a:solidFill>
                <a:latin typeface="Arial"/>
                <a:ea typeface="Arial"/>
                <a:cs typeface="Arial"/>
              </a:defRPr>
            </a:pPr>
            <a:r>
              <a:rPr sz="5100" b="1">
                <a:solidFill>
                  <a:srgbClr val="62ACFF"/>
                </a:solidFill>
                <a:latin typeface="Arial"/>
                <a:ea typeface="Arial"/>
                <a:cs typeface="Arial"/>
              </a:rPr>
              <a:t>0.14</a:t>
            </a:r>
          </a:p>
        </p:txBody>
      </p:sp>
      <p:sp>
        <p:nvSpPr>
          <p:cNvPr id="9" name="final test USDC balance">
            <a:extLst xmlns:a="http://schemas.openxmlformats.org/drawingml/2006/main">
              <a:ext uri="{FF2B5EF4-FFF2-40B4-BE49-F238E27FC236}">
                <a16:creationId xmlns:a16="http://schemas.microsoft.com/office/drawing/2014/main" id="{6F80F7F3-6A4C-443D-BA5E-D158B765F9F2}"/>
              </a:ext>
            </a:extLst>
          </p:cNvPr>
          <p:cNvSpPr>
            <a:spLocks xmlns:a="http://schemas.openxmlformats.org/drawingml/2006/main" noGrp="1"/>
          </p:cNvSpPr>
          <p:nvPr/>
        </p:nvSpPr>
        <p:spPr>
          <a:xfrm xmlns:a="http://schemas.openxmlformats.org/drawingml/2006/main">
            <a:off x="4333875" y="30480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6F8"/>
                </a:solidFill>
                <a:latin typeface="Arial"/>
                <a:ea typeface="Arial"/>
                <a:cs typeface="Arial"/>
              </a:defRPr>
            </a:defPPr>
            <a:lvl1pPr algn="l">
              <a:defRPr sz="1950" b="0">
                <a:solidFill>
                  <a:srgbClr val="F5F6F8"/>
                </a:solidFill>
                <a:latin typeface="Arial"/>
                <a:ea typeface="Arial"/>
                <a:cs typeface="Arial"/>
              </a:defRPr>
            </a:lvl1pPr>
            <a:lvl2pPr algn="l">
              <a:defRPr sz="1950" b="0">
                <a:solidFill>
                  <a:srgbClr val="F5F6F8"/>
                </a:solidFill>
                <a:latin typeface="Arial"/>
                <a:ea typeface="Arial"/>
                <a:cs typeface="Arial"/>
              </a:defRPr>
            </a:lvl2pPr>
            <a:lvl3pPr algn="l">
              <a:defRPr sz="1950" b="0">
                <a:solidFill>
                  <a:srgbClr val="F5F6F8"/>
                </a:solidFill>
                <a:latin typeface="Arial"/>
                <a:ea typeface="Arial"/>
                <a:cs typeface="Arial"/>
              </a:defRPr>
            </a:lvl3pPr>
            <a:lvl4pPr algn="l">
              <a:defRPr sz="1950" b="0">
                <a:solidFill>
                  <a:srgbClr val="F5F6F8"/>
                </a:solidFill>
                <a:latin typeface="Arial"/>
                <a:ea typeface="Arial"/>
                <a:cs typeface="Arial"/>
              </a:defRPr>
            </a:lvl4pPr>
            <a:lvl5pPr algn="l">
              <a:defRPr sz="1950" b="0">
                <a:solidFill>
                  <a:srgbClr val="F5F6F8"/>
                </a:solidFill>
                <a:latin typeface="Arial"/>
                <a:ea typeface="Arial"/>
                <a:cs typeface="Arial"/>
              </a:defRPr>
            </a:lvl5pPr>
            <a:lvl6pPr algn="l">
              <a:defRPr sz="1950" b="0">
                <a:solidFill>
                  <a:srgbClr val="F5F6F8"/>
                </a:solidFill>
                <a:latin typeface="Arial"/>
                <a:ea typeface="Arial"/>
                <a:cs typeface="Arial"/>
              </a:defRPr>
            </a:lvl6pPr>
            <a:lvl7pPr algn="l">
              <a:defRPr sz="1950" b="0">
                <a:solidFill>
                  <a:srgbClr val="F5F6F8"/>
                </a:solidFill>
                <a:latin typeface="Arial"/>
                <a:ea typeface="Arial"/>
                <a:cs typeface="Arial"/>
              </a:defRPr>
            </a:lvl7pPr>
            <a:lvl8pPr algn="l">
              <a:defRPr sz="1950" b="0">
                <a:solidFill>
                  <a:srgbClr val="F5F6F8"/>
                </a:solidFill>
                <a:latin typeface="Arial"/>
                <a:ea typeface="Arial"/>
                <a:cs typeface="Arial"/>
              </a:defRPr>
            </a:lvl8pPr>
            <a:lvl9pPr algn="l">
              <a:defRPr sz="1950" b="0">
                <a:solidFill>
                  <a:srgbClr val="F5F6F8"/>
                </a:solidFill>
                <a:latin typeface="Arial"/>
                <a:ea typeface="Arial"/>
                <a:cs typeface="Arial"/>
              </a:defRPr>
            </a:lvl9pPr>
          </a:lstStyle>
          <a:p xmlns:a="http://schemas.openxmlformats.org/drawingml/2006/main">
            <a:pPr algn="l">
              <a:defRPr sz="1950" b="0">
                <a:solidFill>
                  <a:srgbClr val="F5F6F8"/>
                </a:solidFill>
                <a:latin typeface="Arial"/>
                <a:ea typeface="Arial"/>
                <a:cs typeface="Arial"/>
              </a:defRPr>
            </a:pPr>
            <a:r>
              <a:rPr sz="1950" b="0">
                <a:solidFill>
                  <a:srgbClr val="F5F6F8"/>
                </a:solidFill>
                <a:latin typeface="Arial"/>
                <a:ea typeface="Arial"/>
                <a:cs typeface="Arial"/>
              </a:rPr>
              <a:t>final test USDC balance</a:t>
            </a:r>
          </a:p>
        </p:txBody>
      </p:sp>
      <p:sp>
        <p:nvSpPr>
          <p:cNvPr id="10" name="0">
            <a:extLst xmlns:a="http://schemas.openxmlformats.org/drawingml/2006/main">
              <a:ext uri="{FF2B5EF4-FFF2-40B4-BE49-F238E27FC236}">
                <a16:creationId xmlns:a16="http://schemas.microsoft.com/office/drawing/2014/main" id="{32B2AC0E-CCD1-4B74-B2DA-881FFB3497FF}"/>
              </a:ext>
            </a:extLst>
          </p:cNvPr>
          <p:cNvSpPr>
            <a:spLocks xmlns:a="http://schemas.openxmlformats.org/drawingml/2006/main" noGrp="1"/>
          </p:cNvSpPr>
          <p:nvPr/>
        </p:nvSpPr>
        <p:spPr>
          <a:xfrm xmlns:a="http://schemas.openxmlformats.org/drawingml/2006/main">
            <a:off x="8058150" y="2066925"/>
            <a:ext cx="3486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62ACFF"/>
                </a:solidFill>
                <a:latin typeface="Arial"/>
                <a:ea typeface="Arial"/>
                <a:cs typeface="Arial"/>
              </a:defRPr>
            </a:defPPr>
            <a:lvl1pPr algn="l">
              <a:defRPr sz="5100" b="1">
                <a:solidFill>
                  <a:srgbClr val="62ACFF"/>
                </a:solidFill>
                <a:latin typeface="Arial"/>
                <a:ea typeface="Arial"/>
                <a:cs typeface="Arial"/>
              </a:defRPr>
            </a:lvl1pPr>
            <a:lvl2pPr algn="l">
              <a:defRPr sz="5100" b="1">
                <a:solidFill>
                  <a:srgbClr val="62ACFF"/>
                </a:solidFill>
                <a:latin typeface="Arial"/>
                <a:ea typeface="Arial"/>
                <a:cs typeface="Arial"/>
              </a:defRPr>
            </a:lvl2pPr>
            <a:lvl3pPr algn="l">
              <a:defRPr sz="5100" b="1">
                <a:solidFill>
                  <a:srgbClr val="62ACFF"/>
                </a:solidFill>
                <a:latin typeface="Arial"/>
                <a:ea typeface="Arial"/>
                <a:cs typeface="Arial"/>
              </a:defRPr>
            </a:lvl3pPr>
            <a:lvl4pPr algn="l">
              <a:defRPr sz="5100" b="1">
                <a:solidFill>
                  <a:srgbClr val="62ACFF"/>
                </a:solidFill>
                <a:latin typeface="Arial"/>
                <a:ea typeface="Arial"/>
                <a:cs typeface="Arial"/>
              </a:defRPr>
            </a:lvl4pPr>
            <a:lvl5pPr algn="l">
              <a:defRPr sz="5100" b="1">
                <a:solidFill>
                  <a:srgbClr val="62ACFF"/>
                </a:solidFill>
                <a:latin typeface="Arial"/>
                <a:ea typeface="Arial"/>
                <a:cs typeface="Arial"/>
              </a:defRPr>
            </a:lvl5pPr>
            <a:lvl6pPr algn="l">
              <a:defRPr sz="5100" b="1">
                <a:solidFill>
                  <a:srgbClr val="62ACFF"/>
                </a:solidFill>
                <a:latin typeface="Arial"/>
                <a:ea typeface="Arial"/>
                <a:cs typeface="Arial"/>
              </a:defRPr>
            </a:lvl6pPr>
            <a:lvl7pPr algn="l">
              <a:defRPr sz="5100" b="1">
                <a:solidFill>
                  <a:srgbClr val="62ACFF"/>
                </a:solidFill>
                <a:latin typeface="Arial"/>
                <a:ea typeface="Arial"/>
                <a:cs typeface="Arial"/>
              </a:defRPr>
            </a:lvl7pPr>
            <a:lvl8pPr algn="l">
              <a:defRPr sz="5100" b="1">
                <a:solidFill>
                  <a:srgbClr val="62ACFF"/>
                </a:solidFill>
                <a:latin typeface="Arial"/>
                <a:ea typeface="Arial"/>
                <a:cs typeface="Arial"/>
              </a:defRPr>
            </a:lvl8pPr>
            <a:lvl9pPr algn="l">
              <a:defRPr sz="5100" b="1">
                <a:solidFill>
                  <a:srgbClr val="62ACFF"/>
                </a:solidFill>
                <a:latin typeface="Arial"/>
                <a:ea typeface="Arial"/>
                <a:cs typeface="Arial"/>
              </a:defRPr>
            </a:lvl9pPr>
          </a:lstStyle>
          <a:p xmlns:a="http://schemas.openxmlformats.org/drawingml/2006/main">
            <a:pPr algn="l">
              <a:defRPr sz="5100" b="1">
                <a:solidFill>
                  <a:srgbClr val="62ACFF"/>
                </a:solidFill>
                <a:latin typeface="Arial"/>
                <a:ea typeface="Arial"/>
                <a:cs typeface="Arial"/>
              </a:defRPr>
            </a:pPr>
            <a:r>
              <a:rPr sz="5100" b="1">
                <a:solidFill>
                  <a:srgbClr val="62ACFF"/>
                </a:solidFill>
                <a:latin typeface="Arial"/>
                <a:ea typeface="Arial"/>
                <a:cs typeface="Arial"/>
              </a:rPr>
              <a:t>0</a:t>
            </a:r>
          </a:p>
        </p:txBody>
      </p:sp>
      <p:sp>
        <p:nvSpPr>
          <p:cNvPr id="11" name="new transactions after refusal">
            <a:extLst xmlns:a="http://schemas.openxmlformats.org/drawingml/2006/main">
              <a:ext uri="{FF2B5EF4-FFF2-40B4-BE49-F238E27FC236}">
                <a16:creationId xmlns:a16="http://schemas.microsoft.com/office/drawing/2014/main" id="{BC36AAA6-7696-4813-A37B-606E5CACBD7F}"/>
              </a:ext>
            </a:extLst>
          </p:cNvPr>
          <p:cNvSpPr>
            <a:spLocks xmlns:a="http://schemas.openxmlformats.org/drawingml/2006/main" noGrp="1"/>
          </p:cNvSpPr>
          <p:nvPr/>
        </p:nvSpPr>
        <p:spPr>
          <a:xfrm xmlns:a="http://schemas.openxmlformats.org/drawingml/2006/main">
            <a:off x="8058150" y="30480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6F8"/>
                </a:solidFill>
                <a:latin typeface="Arial"/>
                <a:ea typeface="Arial"/>
                <a:cs typeface="Arial"/>
              </a:defRPr>
            </a:defPPr>
            <a:lvl1pPr algn="l">
              <a:defRPr sz="1950" b="0">
                <a:solidFill>
                  <a:srgbClr val="F5F6F8"/>
                </a:solidFill>
                <a:latin typeface="Arial"/>
                <a:ea typeface="Arial"/>
                <a:cs typeface="Arial"/>
              </a:defRPr>
            </a:lvl1pPr>
            <a:lvl2pPr algn="l">
              <a:defRPr sz="1950" b="0">
                <a:solidFill>
                  <a:srgbClr val="F5F6F8"/>
                </a:solidFill>
                <a:latin typeface="Arial"/>
                <a:ea typeface="Arial"/>
                <a:cs typeface="Arial"/>
              </a:defRPr>
            </a:lvl2pPr>
            <a:lvl3pPr algn="l">
              <a:defRPr sz="1950" b="0">
                <a:solidFill>
                  <a:srgbClr val="F5F6F8"/>
                </a:solidFill>
                <a:latin typeface="Arial"/>
                <a:ea typeface="Arial"/>
                <a:cs typeface="Arial"/>
              </a:defRPr>
            </a:lvl3pPr>
            <a:lvl4pPr algn="l">
              <a:defRPr sz="1950" b="0">
                <a:solidFill>
                  <a:srgbClr val="F5F6F8"/>
                </a:solidFill>
                <a:latin typeface="Arial"/>
                <a:ea typeface="Arial"/>
                <a:cs typeface="Arial"/>
              </a:defRPr>
            </a:lvl4pPr>
            <a:lvl5pPr algn="l">
              <a:defRPr sz="1950" b="0">
                <a:solidFill>
                  <a:srgbClr val="F5F6F8"/>
                </a:solidFill>
                <a:latin typeface="Arial"/>
                <a:ea typeface="Arial"/>
                <a:cs typeface="Arial"/>
              </a:defRPr>
            </a:lvl5pPr>
            <a:lvl6pPr algn="l">
              <a:defRPr sz="1950" b="0">
                <a:solidFill>
                  <a:srgbClr val="F5F6F8"/>
                </a:solidFill>
                <a:latin typeface="Arial"/>
                <a:ea typeface="Arial"/>
                <a:cs typeface="Arial"/>
              </a:defRPr>
            </a:lvl6pPr>
            <a:lvl7pPr algn="l">
              <a:defRPr sz="1950" b="0">
                <a:solidFill>
                  <a:srgbClr val="F5F6F8"/>
                </a:solidFill>
                <a:latin typeface="Arial"/>
                <a:ea typeface="Arial"/>
                <a:cs typeface="Arial"/>
              </a:defRPr>
            </a:lvl7pPr>
            <a:lvl8pPr algn="l">
              <a:defRPr sz="1950" b="0">
                <a:solidFill>
                  <a:srgbClr val="F5F6F8"/>
                </a:solidFill>
                <a:latin typeface="Arial"/>
                <a:ea typeface="Arial"/>
                <a:cs typeface="Arial"/>
              </a:defRPr>
            </a:lvl8pPr>
            <a:lvl9pPr algn="l">
              <a:defRPr sz="1950" b="0">
                <a:solidFill>
                  <a:srgbClr val="F5F6F8"/>
                </a:solidFill>
                <a:latin typeface="Arial"/>
                <a:ea typeface="Arial"/>
                <a:cs typeface="Arial"/>
              </a:defRPr>
            </a:lvl9pPr>
          </a:lstStyle>
          <a:p xmlns:a="http://schemas.openxmlformats.org/drawingml/2006/main">
            <a:pPr algn="l">
              <a:defRPr sz="1950" b="0">
                <a:solidFill>
                  <a:srgbClr val="F5F6F8"/>
                </a:solidFill>
                <a:latin typeface="Arial"/>
                <a:ea typeface="Arial"/>
                <a:cs typeface="Arial"/>
              </a:defRPr>
            </a:pPr>
            <a:r>
              <a:rPr sz="1950" b="0">
                <a:solidFill>
                  <a:srgbClr val="F5F6F8"/>
                </a:solidFill>
                <a:latin typeface="Arial"/>
                <a:ea typeface="Arial"/>
                <a:cs typeface="Arial"/>
              </a:rPr>
              <a:t>new transactions after refusal</a:t>
            </a:r>
          </a:p>
        </p:txBody>
      </p:sp>
      <p:sp>
        <p:nvSpPr>
          <p:cNvPr id="12" name="Settlement on BaseScan">
            <a:extLst xmlns:a="http://schemas.openxmlformats.org/drawingml/2006/main">
              <a:ext uri="{FF2B5EF4-FFF2-40B4-BE49-F238E27FC236}">
                <a16:creationId xmlns:a16="http://schemas.microsoft.com/office/drawing/2014/main" id="{7A2F8029-867B-45A8-85AB-1D9F93E6A94A}"/>
              </a:ext>
            </a:extLst>
          </p:cNvPr>
          <p:cNvSpPr>
            <a:spLocks xmlns:a="http://schemas.openxmlformats.org/drawingml/2006/main" noGrp="1"/>
          </p:cNvSpPr>
          <p:nvPr/>
        </p:nvSpPr>
        <p:spPr>
          <a:xfrm xmlns:a="http://schemas.openxmlformats.org/drawingml/2006/main">
            <a:off x="609600" y="41910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2ACFF"/>
                </a:solidFill>
                <a:latin typeface="Arial"/>
                <a:ea typeface="Arial"/>
                <a:cs typeface="Arial"/>
              </a:defRPr>
            </a:defPPr>
            <a:lvl1pPr algn="l">
              <a:defRPr sz="2175" b="0">
                <a:solidFill>
                  <a:srgbClr val="62ACFF"/>
                </a:solidFill>
                <a:latin typeface="Arial"/>
                <a:ea typeface="Arial"/>
                <a:cs typeface="Arial"/>
              </a:defRPr>
            </a:lvl1pPr>
            <a:lvl2pPr algn="l">
              <a:defRPr sz="2175" b="0">
                <a:solidFill>
                  <a:srgbClr val="62ACFF"/>
                </a:solidFill>
                <a:latin typeface="Arial"/>
                <a:ea typeface="Arial"/>
                <a:cs typeface="Arial"/>
              </a:defRPr>
            </a:lvl2pPr>
            <a:lvl3pPr algn="l">
              <a:defRPr sz="2175" b="0">
                <a:solidFill>
                  <a:srgbClr val="62ACFF"/>
                </a:solidFill>
                <a:latin typeface="Arial"/>
                <a:ea typeface="Arial"/>
                <a:cs typeface="Arial"/>
              </a:defRPr>
            </a:lvl3pPr>
            <a:lvl4pPr algn="l">
              <a:defRPr sz="2175" b="0">
                <a:solidFill>
                  <a:srgbClr val="62ACFF"/>
                </a:solidFill>
                <a:latin typeface="Arial"/>
                <a:ea typeface="Arial"/>
                <a:cs typeface="Arial"/>
              </a:defRPr>
            </a:lvl4pPr>
            <a:lvl5pPr algn="l">
              <a:defRPr sz="2175" b="0">
                <a:solidFill>
                  <a:srgbClr val="62ACFF"/>
                </a:solidFill>
                <a:latin typeface="Arial"/>
                <a:ea typeface="Arial"/>
                <a:cs typeface="Arial"/>
              </a:defRPr>
            </a:lvl5pPr>
            <a:lvl6pPr algn="l">
              <a:defRPr sz="2175" b="0">
                <a:solidFill>
                  <a:srgbClr val="62ACFF"/>
                </a:solidFill>
                <a:latin typeface="Arial"/>
                <a:ea typeface="Arial"/>
                <a:cs typeface="Arial"/>
              </a:defRPr>
            </a:lvl6pPr>
            <a:lvl7pPr algn="l">
              <a:defRPr sz="2175" b="0">
                <a:solidFill>
                  <a:srgbClr val="62ACFF"/>
                </a:solidFill>
                <a:latin typeface="Arial"/>
                <a:ea typeface="Arial"/>
                <a:cs typeface="Arial"/>
              </a:defRPr>
            </a:lvl7pPr>
            <a:lvl8pPr algn="l">
              <a:defRPr sz="2175" b="0">
                <a:solidFill>
                  <a:srgbClr val="62ACFF"/>
                </a:solidFill>
                <a:latin typeface="Arial"/>
                <a:ea typeface="Arial"/>
                <a:cs typeface="Arial"/>
              </a:defRPr>
            </a:lvl8pPr>
            <a:lvl9pPr algn="l">
              <a:defRPr sz="2175" b="0">
                <a:solidFill>
                  <a:srgbClr val="62ACFF"/>
                </a:solidFill>
                <a:latin typeface="Arial"/>
                <a:ea typeface="Arial"/>
                <a:cs typeface="Arial"/>
              </a:defRPr>
            </a:lvl9pPr>
          </a:lstStyle>
          <a:p xmlns:a="http://schemas.openxmlformats.org/drawingml/2006/main">
            <a:pPr algn="l">
              <a:defRPr sz="2175" b="0">
                <a:solidFill>
                  <a:srgbClr val="62ACFF"/>
                </a:solidFill>
                <a:latin typeface="Arial"/>
                <a:ea typeface="Arial"/>
                <a:cs typeface="Arial"/>
              </a:defRPr>
            </a:pPr>
            <a:r>
              <a:rPr sz="2175" u="sng">
                <a:solidFill>
                  <a:srgbClr val="62ACFF"/>
                </a:solidFill>
                <a:latin typeface="Arial"/>
                <a:ea typeface="Arial"/>
                <a:cs typeface="Arial"/>
                <a:hlinkClick xmlns:r="http://schemas.openxmlformats.org/officeDocument/2006/relationships" r:id="Rb53afccc0f174c37"/>
              </a:rPr>
              <a:t>Settlement on BaseScan</a:t>
            </a:r>
          </a:p>
        </p:txBody>
      </p:sp>
      <p:sp>
        <p:nvSpPr>
          <p:cNvPr id="13" name="Session revocation on BaseScan">
            <a:extLst xmlns:a="http://schemas.openxmlformats.org/drawingml/2006/main">
              <a:ext uri="{FF2B5EF4-FFF2-40B4-BE49-F238E27FC236}">
                <a16:creationId xmlns:a16="http://schemas.microsoft.com/office/drawing/2014/main" id="{0C1200CB-F939-4C9D-AE4A-209294F58D2E}"/>
              </a:ext>
            </a:extLst>
          </p:cNvPr>
          <p:cNvSpPr>
            <a:spLocks xmlns:a="http://schemas.openxmlformats.org/drawingml/2006/main" noGrp="1"/>
          </p:cNvSpPr>
          <p:nvPr/>
        </p:nvSpPr>
        <p:spPr>
          <a:xfrm xmlns:a="http://schemas.openxmlformats.org/drawingml/2006/main">
            <a:off x="609600" y="477202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2ACFF"/>
                </a:solidFill>
                <a:latin typeface="Arial"/>
                <a:ea typeface="Arial"/>
                <a:cs typeface="Arial"/>
              </a:defRPr>
            </a:defPPr>
            <a:lvl1pPr algn="l">
              <a:defRPr sz="2175" b="0">
                <a:solidFill>
                  <a:srgbClr val="62ACFF"/>
                </a:solidFill>
                <a:latin typeface="Arial"/>
                <a:ea typeface="Arial"/>
                <a:cs typeface="Arial"/>
              </a:defRPr>
            </a:lvl1pPr>
            <a:lvl2pPr algn="l">
              <a:defRPr sz="2175" b="0">
                <a:solidFill>
                  <a:srgbClr val="62ACFF"/>
                </a:solidFill>
                <a:latin typeface="Arial"/>
                <a:ea typeface="Arial"/>
                <a:cs typeface="Arial"/>
              </a:defRPr>
            </a:lvl2pPr>
            <a:lvl3pPr algn="l">
              <a:defRPr sz="2175" b="0">
                <a:solidFill>
                  <a:srgbClr val="62ACFF"/>
                </a:solidFill>
                <a:latin typeface="Arial"/>
                <a:ea typeface="Arial"/>
                <a:cs typeface="Arial"/>
              </a:defRPr>
            </a:lvl3pPr>
            <a:lvl4pPr algn="l">
              <a:defRPr sz="2175" b="0">
                <a:solidFill>
                  <a:srgbClr val="62ACFF"/>
                </a:solidFill>
                <a:latin typeface="Arial"/>
                <a:ea typeface="Arial"/>
                <a:cs typeface="Arial"/>
              </a:defRPr>
            </a:lvl4pPr>
            <a:lvl5pPr algn="l">
              <a:defRPr sz="2175" b="0">
                <a:solidFill>
                  <a:srgbClr val="62ACFF"/>
                </a:solidFill>
                <a:latin typeface="Arial"/>
                <a:ea typeface="Arial"/>
                <a:cs typeface="Arial"/>
              </a:defRPr>
            </a:lvl5pPr>
            <a:lvl6pPr algn="l">
              <a:defRPr sz="2175" b="0">
                <a:solidFill>
                  <a:srgbClr val="62ACFF"/>
                </a:solidFill>
                <a:latin typeface="Arial"/>
                <a:ea typeface="Arial"/>
                <a:cs typeface="Arial"/>
              </a:defRPr>
            </a:lvl6pPr>
            <a:lvl7pPr algn="l">
              <a:defRPr sz="2175" b="0">
                <a:solidFill>
                  <a:srgbClr val="62ACFF"/>
                </a:solidFill>
                <a:latin typeface="Arial"/>
                <a:ea typeface="Arial"/>
                <a:cs typeface="Arial"/>
              </a:defRPr>
            </a:lvl7pPr>
            <a:lvl8pPr algn="l">
              <a:defRPr sz="2175" b="0">
                <a:solidFill>
                  <a:srgbClr val="62ACFF"/>
                </a:solidFill>
                <a:latin typeface="Arial"/>
                <a:ea typeface="Arial"/>
                <a:cs typeface="Arial"/>
              </a:defRPr>
            </a:lvl8pPr>
            <a:lvl9pPr algn="l">
              <a:defRPr sz="2175" b="0">
                <a:solidFill>
                  <a:srgbClr val="62ACFF"/>
                </a:solidFill>
                <a:latin typeface="Arial"/>
                <a:ea typeface="Arial"/>
                <a:cs typeface="Arial"/>
              </a:defRPr>
            </a:lvl9pPr>
          </a:lstStyle>
          <a:p xmlns:a="http://schemas.openxmlformats.org/drawingml/2006/main">
            <a:pPr algn="l">
              <a:defRPr sz="2175" b="0">
                <a:solidFill>
                  <a:srgbClr val="62ACFF"/>
                </a:solidFill>
                <a:latin typeface="Arial"/>
                <a:ea typeface="Arial"/>
                <a:cs typeface="Arial"/>
              </a:defRPr>
            </a:pPr>
            <a:r>
              <a:rPr sz="2175" u="sng">
                <a:solidFill>
                  <a:srgbClr val="62ACFF"/>
                </a:solidFill>
                <a:latin typeface="Arial"/>
                <a:ea typeface="Arial"/>
                <a:cs typeface="Arial"/>
                <a:hlinkClick xmlns:r="http://schemas.openxmlformats.org/officeDocument/2006/relationships" r:id="R048938ee32144676"/>
              </a:rPr>
              <a:t>Session revocation on BaseScan</a:t>
            </a:r>
          </a:p>
        </p:txBody>
      </p:sp>
      <p:sp>
        <p:nvSpPr>
          <p:cNvPr id="14" name="Eight exported key transactions. Required financial checks passed.">
            <a:extLst xmlns:a="http://schemas.openxmlformats.org/drawingml/2006/main">
              <a:ext uri="{FF2B5EF4-FFF2-40B4-BE49-F238E27FC236}">
                <a16:creationId xmlns:a16="http://schemas.microsoft.com/office/drawing/2014/main" id="{84B7F7C9-9038-47FF-A5F1-42AE56B2FCE5}"/>
              </a:ext>
            </a:extLst>
          </p:cNvPr>
          <p:cNvSpPr>
            <a:spLocks xmlns:a="http://schemas.openxmlformats.org/drawingml/2006/main" noGrp="1"/>
          </p:cNvSpPr>
          <p:nvPr/>
        </p:nvSpPr>
        <p:spPr>
          <a:xfrm xmlns:a="http://schemas.openxmlformats.org/drawingml/2006/main">
            <a:off x="609600" y="54483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6F8"/>
                </a:solidFill>
                <a:latin typeface="Arial"/>
                <a:ea typeface="Arial"/>
                <a:cs typeface="Arial"/>
              </a:defRPr>
            </a:defPPr>
            <a:lvl1pPr algn="l">
              <a:defRPr sz="1950" b="0">
                <a:solidFill>
                  <a:srgbClr val="F5F6F8"/>
                </a:solidFill>
                <a:latin typeface="Arial"/>
                <a:ea typeface="Arial"/>
                <a:cs typeface="Arial"/>
              </a:defRPr>
            </a:lvl1pPr>
            <a:lvl2pPr algn="l">
              <a:defRPr sz="1950" b="0">
                <a:solidFill>
                  <a:srgbClr val="F5F6F8"/>
                </a:solidFill>
                <a:latin typeface="Arial"/>
                <a:ea typeface="Arial"/>
                <a:cs typeface="Arial"/>
              </a:defRPr>
            </a:lvl2pPr>
            <a:lvl3pPr algn="l">
              <a:defRPr sz="1950" b="0">
                <a:solidFill>
                  <a:srgbClr val="F5F6F8"/>
                </a:solidFill>
                <a:latin typeface="Arial"/>
                <a:ea typeface="Arial"/>
                <a:cs typeface="Arial"/>
              </a:defRPr>
            </a:lvl3pPr>
            <a:lvl4pPr algn="l">
              <a:defRPr sz="1950" b="0">
                <a:solidFill>
                  <a:srgbClr val="F5F6F8"/>
                </a:solidFill>
                <a:latin typeface="Arial"/>
                <a:ea typeface="Arial"/>
                <a:cs typeface="Arial"/>
              </a:defRPr>
            </a:lvl4pPr>
            <a:lvl5pPr algn="l">
              <a:defRPr sz="1950" b="0">
                <a:solidFill>
                  <a:srgbClr val="F5F6F8"/>
                </a:solidFill>
                <a:latin typeface="Arial"/>
                <a:ea typeface="Arial"/>
                <a:cs typeface="Arial"/>
              </a:defRPr>
            </a:lvl5pPr>
            <a:lvl6pPr algn="l">
              <a:defRPr sz="1950" b="0">
                <a:solidFill>
                  <a:srgbClr val="F5F6F8"/>
                </a:solidFill>
                <a:latin typeface="Arial"/>
                <a:ea typeface="Arial"/>
                <a:cs typeface="Arial"/>
              </a:defRPr>
            </a:lvl6pPr>
            <a:lvl7pPr algn="l">
              <a:defRPr sz="1950" b="0">
                <a:solidFill>
                  <a:srgbClr val="F5F6F8"/>
                </a:solidFill>
                <a:latin typeface="Arial"/>
                <a:ea typeface="Arial"/>
                <a:cs typeface="Arial"/>
              </a:defRPr>
            </a:lvl7pPr>
            <a:lvl8pPr algn="l">
              <a:defRPr sz="1950" b="0">
                <a:solidFill>
                  <a:srgbClr val="F5F6F8"/>
                </a:solidFill>
                <a:latin typeface="Arial"/>
                <a:ea typeface="Arial"/>
                <a:cs typeface="Arial"/>
              </a:defRPr>
            </a:lvl8pPr>
            <a:lvl9pPr algn="l">
              <a:defRPr sz="1950" b="0">
                <a:solidFill>
                  <a:srgbClr val="F5F6F8"/>
                </a:solidFill>
                <a:latin typeface="Arial"/>
                <a:ea typeface="Arial"/>
                <a:cs typeface="Arial"/>
              </a:defRPr>
            </a:lvl9pPr>
          </a:lstStyle>
          <a:p xmlns:a="http://schemas.openxmlformats.org/drawingml/2006/main">
            <a:pPr algn="l">
              <a:defRPr sz="1950" b="0">
                <a:solidFill>
                  <a:srgbClr val="F5F6F8"/>
                </a:solidFill>
                <a:latin typeface="Arial"/>
                <a:ea typeface="Arial"/>
                <a:cs typeface="Arial"/>
              </a:defRPr>
            </a:pPr>
            <a:r>
              <a:rPr sz="1950" b="0">
                <a:solidFill>
                  <a:srgbClr val="F5F6F8"/>
                </a:solidFill>
                <a:latin typeface="Arial"/>
                <a:ea typeface="Arial"/>
                <a:cs typeface="Arial"/>
              </a:rPr>
              <a:t>Eight exported key transactions. Required financial checks passed.</a:t>
            </a:r>
          </a:p>
        </p:txBody>
      </p:sp>
      <p:sp>
        <p:nvSpPr>
          <p:cNvPr id="15" name="Controlled merchant and facilitator. HTTPS source and full history rem">
            <a:extLst xmlns:a="http://schemas.openxmlformats.org/drawingml/2006/main">
              <a:ext uri="{FF2B5EF4-FFF2-40B4-BE49-F238E27FC236}">
                <a16:creationId xmlns:a16="http://schemas.microsoft.com/office/drawing/2014/main" id="{CCB6186E-8103-45D8-9775-5C0D13DBD010}"/>
              </a:ext>
            </a:extLst>
          </p:cNvPr>
          <p:cNvSpPr>
            <a:spLocks xmlns:a="http://schemas.openxmlformats.org/drawingml/2006/main" noGrp="1"/>
          </p:cNvSpPr>
          <p:nvPr/>
        </p:nvSpPr>
        <p:spPr>
          <a:xfrm xmlns:a="http://schemas.openxmlformats.org/drawingml/2006/main">
            <a:off x="609600" y="5943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0A5AF"/>
                </a:solidFill>
                <a:latin typeface="Arial"/>
                <a:ea typeface="Arial"/>
                <a:cs typeface="Arial"/>
              </a:defRPr>
            </a:defPPr>
            <a:lvl1pPr algn="l">
              <a:defRPr sz="1650" b="0">
                <a:solidFill>
                  <a:srgbClr val="A0A5AF"/>
                </a:solidFill>
                <a:latin typeface="Arial"/>
                <a:ea typeface="Arial"/>
                <a:cs typeface="Arial"/>
              </a:defRPr>
            </a:lvl1pPr>
            <a:lvl2pPr algn="l">
              <a:defRPr sz="1650" b="0">
                <a:solidFill>
                  <a:srgbClr val="A0A5AF"/>
                </a:solidFill>
                <a:latin typeface="Arial"/>
                <a:ea typeface="Arial"/>
                <a:cs typeface="Arial"/>
              </a:defRPr>
            </a:lvl2pPr>
            <a:lvl3pPr algn="l">
              <a:defRPr sz="1650" b="0">
                <a:solidFill>
                  <a:srgbClr val="A0A5AF"/>
                </a:solidFill>
                <a:latin typeface="Arial"/>
                <a:ea typeface="Arial"/>
                <a:cs typeface="Arial"/>
              </a:defRPr>
            </a:lvl3pPr>
            <a:lvl4pPr algn="l">
              <a:defRPr sz="1650" b="0">
                <a:solidFill>
                  <a:srgbClr val="A0A5AF"/>
                </a:solidFill>
                <a:latin typeface="Arial"/>
                <a:ea typeface="Arial"/>
                <a:cs typeface="Arial"/>
              </a:defRPr>
            </a:lvl4pPr>
            <a:lvl5pPr algn="l">
              <a:defRPr sz="1650" b="0">
                <a:solidFill>
                  <a:srgbClr val="A0A5AF"/>
                </a:solidFill>
                <a:latin typeface="Arial"/>
                <a:ea typeface="Arial"/>
                <a:cs typeface="Arial"/>
              </a:defRPr>
            </a:lvl5pPr>
            <a:lvl6pPr algn="l">
              <a:defRPr sz="1650" b="0">
                <a:solidFill>
                  <a:srgbClr val="A0A5AF"/>
                </a:solidFill>
                <a:latin typeface="Arial"/>
                <a:ea typeface="Arial"/>
                <a:cs typeface="Arial"/>
              </a:defRPr>
            </a:lvl6pPr>
            <a:lvl7pPr algn="l">
              <a:defRPr sz="1650" b="0">
                <a:solidFill>
                  <a:srgbClr val="A0A5AF"/>
                </a:solidFill>
                <a:latin typeface="Arial"/>
                <a:ea typeface="Arial"/>
                <a:cs typeface="Arial"/>
              </a:defRPr>
            </a:lvl7pPr>
            <a:lvl8pPr algn="l">
              <a:defRPr sz="1650" b="0">
                <a:solidFill>
                  <a:srgbClr val="A0A5AF"/>
                </a:solidFill>
                <a:latin typeface="Arial"/>
                <a:ea typeface="Arial"/>
                <a:cs typeface="Arial"/>
              </a:defRPr>
            </a:lvl8pPr>
            <a:lvl9pPr algn="l">
              <a:defRPr sz="1650" b="0">
                <a:solidFill>
                  <a:srgbClr val="A0A5AF"/>
                </a:solidFill>
                <a:latin typeface="Arial"/>
                <a:ea typeface="Arial"/>
                <a:cs typeface="Arial"/>
              </a:defRPr>
            </a:lvl9pPr>
          </a:lstStyle>
          <a:p xmlns:a="http://schemas.openxmlformats.org/drawingml/2006/main">
            <a:pPr algn="l">
              <a:defRPr sz="1650" b="0">
                <a:solidFill>
                  <a:srgbClr val="A0A5AF"/>
                </a:solidFill>
                <a:latin typeface="Arial"/>
                <a:ea typeface="Arial"/>
                <a:cs typeface="Arial"/>
              </a:defRPr>
            </a:pPr>
            <a:r>
              <a:rPr sz="1650" b="0">
                <a:solidFill>
                  <a:srgbClr val="A0A5AF"/>
                </a:solidFill>
                <a:latin typeface="Arial"/>
                <a:ea typeface="Arial"/>
                <a:cs typeface="Arial"/>
              </a:rPr>
              <a:t>Controlled merchant and facilitator. HTTPS source and full history remain unproven.</a:t>
            </a:r>
          </a:p>
        </p:txBody>
      </p:sp>
    </p:spTree>
    <p:extLst>
      <p:ext uri="{BB962C8B-B14F-4D97-AF65-F5344CB8AC3E}">
        <p14:creationId xmlns:p14="http://schemas.microsoft.com/office/powerpoint/2010/main" val="876055484"/>
      </p:ext>
    </p:extLst>
  </p:cSld>
</p:sld>
</file>

<file path=ppt/slides/slide14.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B162321-C451-44E9-81E8-5EFF6C8F1B2B}"/>
              </a:ext>
            </a:extLst>
          </p:cNvPr>
          <p:cNvPicPr>
            <a:picLocks xmlns:a="http://schemas.openxmlformats.org/drawingml/2006/main" noChangeAspect="1"/>
          </p:cNvPicPr>
          <p:nvPr/>
        </p:nvPicPr>
        <p:blipFill>
          <a:blip xmlns:r="http://schemas.openxmlformats.org/officeDocument/2006/relationships" xmlns:a="http://schemas.openxmlformats.org/drawingml/2006/main" r:embed="R0a4f66179f02427c">
            <a:extLst>
              <a:ext uri="{96DAC541-7B7A-43D3-8B79-37D633B846F1}">
                <asvg:svgBlip xmlns:asvg="http://schemas.microsoft.com/office/drawing/2016/SVG/main" r:embed="R649820c3373d4ca1"/>
              </a:ext>
            </a:extLst>
          </a:blip>
          <a:stretch xmlns:a="http://schemas.openxmlformats.org/drawingml/2006/main"/>
        </p:blipFill>
        <p:spPr>
          <a:xfrm xmlns:a="http://schemas.openxmlformats.org/drawingml/2006/main">
            <a:off x="9667875" y="266700"/>
            <a:ext cx="1905000" cy="333375"/>
          </a:xfrm>
          <a:prstGeom xmlns:a="http://schemas.openxmlformats.org/drawingml/2006/main" prst="rect">
            <a:avLst/>
          </a:prstGeom>
        </p:spPr>
      </p:pic>
      <p:sp>
        <p:nvSpPr>
          <p:cNvPr id="3" name="Mandate Labs">
            <a:extLst xmlns:a="http://schemas.openxmlformats.org/drawingml/2006/main">
              <a:ext uri="{FF2B5EF4-FFF2-40B4-BE49-F238E27FC236}">
                <a16:creationId xmlns:a16="http://schemas.microsoft.com/office/drawing/2014/main" id="{2E874C34-34B6-4C87-A532-9D0631728066}"/>
              </a:ext>
            </a:extLst>
          </p:cNvPr>
          <p:cNvSpPr>
            <a:spLocks xmlns:a="http://schemas.openxmlformats.org/drawingml/2006/main" noGrp="1"/>
          </p:cNvSpPr>
          <p:nvPr/>
        </p:nvSpPr>
        <p:spPr>
          <a:xfrm xmlns:a="http://schemas.openxmlformats.org/drawingml/2006/main">
            <a:off x="609600" y="64103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0A5AF"/>
                </a:solidFill>
                <a:latin typeface="Arial"/>
                <a:ea typeface="Arial"/>
                <a:cs typeface="Arial"/>
              </a:defRPr>
            </a:defPPr>
            <a:lvl1pPr algn="l">
              <a:defRPr sz="1275" b="0">
                <a:solidFill>
                  <a:srgbClr val="A0A5AF"/>
                </a:solidFill>
                <a:latin typeface="Arial"/>
                <a:ea typeface="Arial"/>
                <a:cs typeface="Arial"/>
              </a:defRPr>
            </a:lvl1pPr>
            <a:lvl2pPr algn="l">
              <a:defRPr sz="1275" b="0">
                <a:solidFill>
                  <a:srgbClr val="A0A5AF"/>
                </a:solidFill>
                <a:latin typeface="Arial"/>
                <a:ea typeface="Arial"/>
                <a:cs typeface="Arial"/>
              </a:defRPr>
            </a:lvl2pPr>
            <a:lvl3pPr algn="l">
              <a:defRPr sz="1275" b="0">
                <a:solidFill>
                  <a:srgbClr val="A0A5AF"/>
                </a:solidFill>
                <a:latin typeface="Arial"/>
                <a:ea typeface="Arial"/>
                <a:cs typeface="Arial"/>
              </a:defRPr>
            </a:lvl3pPr>
            <a:lvl4pPr algn="l">
              <a:defRPr sz="1275" b="0">
                <a:solidFill>
                  <a:srgbClr val="A0A5AF"/>
                </a:solidFill>
                <a:latin typeface="Arial"/>
                <a:ea typeface="Arial"/>
                <a:cs typeface="Arial"/>
              </a:defRPr>
            </a:lvl4pPr>
            <a:lvl5pPr algn="l">
              <a:defRPr sz="1275" b="0">
                <a:solidFill>
                  <a:srgbClr val="A0A5AF"/>
                </a:solidFill>
                <a:latin typeface="Arial"/>
                <a:ea typeface="Arial"/>
                <a:cs typeface="Arial"/>
              </a:defRPr>
            </a:lvl5pPr>
            <a:lvl6pPr algn="l">
              <a:defRPr sz="1275" b="0">
                <a:solidFill>
                  <a:srgbClr val="A0A5AF"/>
                </a:solidFill>
                <a:latin typeface="Arial"/>
                <a:ea typeface="Arial"/>
                <a:cs typeface="Arial"/>
              </a:defRPr>
            </a:lvl6pPr>
            <a:lvl7pPr algn="l">
              <a:defRPr sz="1275" b="0">
                <a:solidFill>
                  <a:srgbClr val="A0A5AF"/>
                </a:solidFill>
                <a:latin typeface="Arial"/>
                <a:ea typeface="Arial"/>
                <a:cs typeface="Arial"/>
              </a:defRPr>
            </a:lvl7pPr>
            <a:lvl8pPr algn="l">
              <a:defRPr sz="1275" b="0">
                <a:solidFill>
                  <a:srgbClr val="A0A5AF"/>
                </a:solidFill>
                <a:latin typeface="Arial"/>
                <a:ea typeface="Arial"/>
                <a:cs typeface="Arial"/>
              </a:defRPr>
            </a:lvl8pPr>
            <a:lvl9pPr algn="l">
              <a:defRPr sz="1275" b="0">
                <a:solidFill>
                  <a:srgbClr val="A0A5AF"/>
                </a:solidFill>
                <a:latin typeface="Arial"/>
                <a:ea typeface="Arial"/>
                <a:cs typeface="Arial"/>
              </a:defRPr>
            </a:lvl9pPr>
          </a:lstStyle>
          <a:p xmlns:a="http://schemas.openxmlformats.org/drawingml/2006/main">
            <a:pPr algn="l">
              <a:defRPr sz="1275" b="0">
                <a:solidFill>
                  <a:srgbClr val="A0A5AF"/>
                </a:solidFill>
                <a:latin typeface="Arial"/>
                <a:ea typeface="Arial"/>
                <a:cs typeface="Arial"/>
              </a:defRPr>
            </a:pPr>
            <a:r>
              <a:rPr sz="1275" b="0">
                <a:solidFill>
                  <a:srgbClr val="A0A5AF"/>
                </a:solidFill>
                <a:latin typeface="Arial"/>
                <a:ea typeface="Arial"/>
                <a:cs typeface="Arial"/>
              </a:rPr>
              <a:t>Mandate Labs</a:t>
            </a:r>
          </a:p>
        </p:txBody>
      </p:sp>
      <p:sp>
        <p:nvSpPr>
          <p:cNvPr id="4" name="14">
            <a:extLst xmlns:a="http://schemas.openxmlformats.org/drawingml/2006/main">
              <a:ext uri="{FF2B5EF4-FFF2-40B4-BE49-F238E27FC236}">
                <a16:creationId xmlns:a16="http://schemas.microsoft.com/office/drawing/2014/main" id="{FE350CD8-52B8-427B-B773-FAD14D81B7D1}"/>
              </a:ext>
            </a:extLst>
          </p:cNvPr>
          <p:cNvSpPr>
            <a:spLocks xmlns:a="http://schemas.openxmlformats.org/drawingml/2006/main" noGrp="1"/>
          </p:cNvSpPr>
          <p:nvPr/>
        </p:nvSpPr>
        <p:spPr>
          <a:xfrm xmlns:a="http://schemas.openxmlformats.org/drawingml/2006/main">
            <a:off x="11191875"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0A5AF"/>
                </a:solidFill>
                <a:latin typeface="Arial"/>
                <a:ea typeface="Arial"/>
                <a:cs typeface="Arial"/>
              </a:defRPr>
            </a:defPPr>
            <a:lvl1pPr algn="r">
              <a:defRPr sz="1275" b="0">
                <a:solidFill>
                  <a:srgbClr val="A0A5AF"/>
                </a:solidFill>
                <a:latin typeface="Arial"/>
                <a:ea typeface="Arial"/>
                <a:cs typeface="Arial"/>
              </a:defRPr>
            </a:lvl1pPr>
            <a:lvl2pPr algn="r">
              <a:defRPr sz="1275" b="0">
                <a:solidFill>
                  <a:srgbClr val="A0A5AF"/>
                </a:solidFill>
                <a:latin typeface="Arial"/>
                <a:ea typeface="Arial"/>
                <a:cs typeface="Arial"/>
              </a:defRPr>
            </a:lvl2pPr>
            <a:lvl3pPr algn="r">
              <a:defRPr sz="1275" b="0">
                <a:solidFill>
                  <a:srgbClr val="A0A5AF"/>
                </a:solidFill>
                <a:latin typeface="Arial"/>
                <a:ea typeface="Arial"/>
                <a:cs typeface="Arial"/>
              </a:defRPr>
            </a:lvl3pPr>
            <a:lvl4pPr algn="r">
              <a:defRPr sz="1275" b="0">
                <a:solidFill>
                  <a:srgbClr val="A0A5AF"/>
                </a:solidFill>
                <a:latin typeface="Arial"/>
                <a:ea typeface="Arial"/>
                <a:cs typeface="Arial"/>
              </a:defRPr>
            </a:lvl4pPr>
            <a:lvl5pPr algn="r">
              <a:defRPr sz="1275" b="0">
                <a:solidFill>
                  <a:srgbClr val="A0A5AF"/>
                </a:solidFill>
                <a:latin typeface="Arial"/>
                <a:ea typeface="Arial"/>
                <a:cs typeface="Arial"/>
              </a:defRPr>
            </a:lvl5pPr>
            <a:lvl6pPr algn="r">
              <a:defRPr sz="1275" b="0">
                <a:solidFill>
                  <a:srgbClr val="A0A5AF"/>
                </a:solidFill>
                <a:latin typeface="Arial"/>
                <a:ea typeface="Arial"/>
                <a:cs typeface="Arial"/>
              </a:defRPr>
            </a:lvl6pPr>
            <a:lvl7pPr algn="r">
              <a:defRPr sz="1275" b="0">
                <a:solidFill>
                  <a:srgbClr val="A0A5AF"/>
                </a:solidFill>
                <a:latin typeface="Arial"/>
                <a:ea typeface="Arial"/>
                <a:cs typeface="Arial"/>
              </a:defRPr>
            </a:lvl7pPr>
            <a:lvl8pPr algn="r">
              <a:defRPr sz="1275" b="0">
                <a:solidFill>
                  <a:srgbClr val="A0A5AF"/>
                </a:solidFill>
                <a:latin typeface="Arial"/>
                <a:ea typeface="Arial"/>
                <a:cs typeface="Arial"/>
              </a:defRPr>
            </a:lvl8pPr>
            <a:lvl9pPr algn="r">
              <a:defRPr sz="1275" b="0">
                <a:solidFill>
                  <a:srgbClr val="A0A5AF"/>
                </a:solidFill>
                <a:latin typeface="Arial"/>
                <a:ea typeface="Arial"/>
                <a:cs typeface="Arial"/>
              </a:defRPr>
            </a:lvl9pPr>
          </a:lstStyle>
          <a:p xmlns:a="http://schemas.openxmlformats.org/drawingml/2006/main">
            <a:pPr algn="r">
              <a:defRPr sz="1275" b="0">
                <a:solidFill>
                  <a:srgbClr val="A0A5AF"/>
                </a:solidFill>
                <a:latin typeface="Arial"/>
                <a:ea typeface="Arial"/>
                <a:cs typeface="Arial"/>
              </a:defRPr>
            </a:pPr>
            <a:r>
              <a:rPr sz="1275" b="0">
                <a:solidFill>
                  <a:srgbClr val="A0A5AF"/>
                </a:solidFill>
                <a:latin typeface="Arial"/>
                <a:ea typeface="Arial"/>
                <a:cs typeface="Arial"/>
              </a:rPr>
              <a:t>14</a:t>
            </a:r>
          </a:p>
        </p:txBody>
      </p:sp>
      <p:pic>
        <p:nvPicPr>
          <p:cNvPr id="5" name="">
            <a:extLst xmlns:a="http://schemas.openxmlformats.org/drawingml/2006/main">
              <a:ext uri="{FF2B5EF4-FFF2-40B4-BE49-F238E27FC236}">
                <a16:creationId xmlns:a16="http://schemas.microsoft.com/office/drawing/2014/main" id="{FC876B11-3B53-45D9-B79A-E676BEC9BF52}"/>
              </a:ext>
            </a:extLst>
          </p:cNvPr>
          <p:cNvPicPr>
            <a:picLocks xmlns:a="http://schemas.openxmlformats.org/drawingml/2006/main" noChangeAspect="1"/>
          </p:cNvPicPr>
          <p:nvPr/>
        </p:nvPicPr>
        <p:blipFill>
          <a:blip xmlns:r="http://schemas.openxmlformats.org/officeDocument/2006/relationships" xmlns:a="http://schemas.openxmlformats.org/drawingml/2006/main" r:embed="R4e3689511499416a">
            <a:extLst>
              <a:ext uri="{96DAC541-7B7A-43D3-8B79-37D633B846F1}">
                <asvg:svgBlip xmlns:asvg="http://schemas.microsoft.com/office/drawing/2016/SVG/main" r:embed="R2151a610fa3a4842"/>
              </a:ext>
            </a:extLst>
          </a:blip>
          <a:stretch xmlns:a="http://schemas.openxmlformats.org/drawingml/2006/main"/>
        </p:blipFill>
        <p:spPr>
          <a:xfrm xmlns:a="http://schemas.openxmlformats.org/drawingml/2006/main">
            <a:off x="609600" y="1924050"/>
            <a:ext cx="5334000" cy="923925"/>
          </a:xfrm>
          <a:prstGeom xmlns:a="http://schemas.openxmlformats.org/drawingml/2006/main" prst="rect">
            <a:avLst/>
          </a:prstGeom>
        </p:spPr>
      </p:pic>
      <p:sp>
        <p:nvSpPr>
          <p:cNvPr id="6" name="Financial scope with&#10;reviewable evidence">
            <a:extLst xmlns:a="http://schemas.openxmlformats.org/drawingml/2006/main">
              <a:ext uri="{FF2B5EF4-FFF2-40B4-BE49-F238E27FC236}">
                <a16:creationId xmlns:a16="http://schemas.microsoft.com/office/drawing/2014/main" id="{0D44FDB0-F52B-487F-A048-19B8ED3ECCBE}"/>
              </a:ext>
            </a:extLst>
          </p:cNvPr>
          <p:cNvSpPr>
            <a:spLocks xmlns:a="http://schemas.openxmlformats.org/drawingml/2006/main" noGrp="1"/>
          </p:cNvSpPr>
          <p:nvPr/>
        </p:nvSpPr>
        <p:spPr>
          <a:xfrm xmlns:a="http://schemas.openxmlformats.org/drawingml/2006/main">
            <a:off x="657225" y="3305175"/>
            <a:ext cx="6000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5F6F8"/>
                </a:solidFill>
                <a:latin typeface="Arial"/>
                <a:ea typeface="Arial"/>
                <a:cs typeface="Arial"/>
              </a:defRPr>
            </a:defPPr>
            <a:lvl1pPr algn="l">
              <a:defRPr sz="3525" b="1">
                <a:solidFill>
                  <a:srgbClr val="F5F6F8"/>
                </a:solidFill>
                <a:latin typeface="Arial"/>
                <a:ea typeface="Arial"/>
                <a:cs typeface="Arial"/>
              </a:defRPr>
            </a:lvl1pPr>
            <a:lvl2pPr algn="l">
              <a:defRPr sz="3525" b="1">
                <a:solidFill>
                  <a:srgbClr val="F5F6F8"/>
                </a:solidFill>
                <a:latin typeface="Arial"/>
                <a:ea typeface="Arial"/>
                <a:cs typeface="Arial"/>
              </a:defRPr>
            </a:lvl2pPr>
            <a:lvl3pPr algn="l">
              <a:defRPr sz="3525" b="1">
                <a:solidFill>
                  <a:srgbClr val="F5F6F8"/>
                </a:solidFill>
                <a:latin typeface="Arial"/>
                <a:ea typeface="Arial"/>
                <a:cs typeface="Arial"/>
              </a:defRPr>
            </a:lvl3pPr>
            <a:lvl4pPr algn="l">
              <a:defRPr sz="3525" b="1">
                <a:solidFill>
                  <a:srgbClr val="F5F6F8"/>
                </a:solidFill>
                <a:latin typeface="Arial"/>
                <a:ea typeface="Arial"/>
                <a:cs typeface="Arial"/>
              </a:defRPr>
            </a:lvl4pPr>
            <a:lvl5pPr algn="l">
              <a:defRPr sz="3525" b="1">
                <a:solidFill>
                  <a:srgbClr val="F5F6F8"/>
                </a:solidFill>
                <a:latin typeface="Arial"/>
                <a:ea typeface="Arial"/>
                <a:cs typeface="Arial"/>
              </a:defRPr>
            </a:lvl5pPr>
            <a:lvl6pPr algn="l">
              <a:defRPr sz="3525" b="1">
                <a:solidFill>
                  <a:srgbClr val="F5F6F8"/>
                </a:solidFill>
                <a:latin typeface="Arial"/>
                <a:ea typeface="Arial"/>
                <a:cs typeface="Arial"/>
              </a:defRPr>
            </a:lvl6pPr>
            <a:lvl7pPr algn="l">
              <a:defRPr sz="3525" b="1">
                <a:solidFill>
                  <a:srgbClr val="F5F6F8"/>
                </a:solidFill>
                <a:latin typeface="Arial"/>
                <a:ea typeface="Arial"/>
                <a:cs typeface="Arial"/>
              </a:defRPr>
            </a:lvl7pPr>
            <a:lvl8pPr algn="l">
              <a:defRPr sz="3525" b="1">
                <a:solidFill>
                  <a:srgbClr val="F5F6F8"/>
                </a:solidFill>
                <a:latin typeface="Arial"/>
                <a:ea typeface="Arial"/>
                <a:cs typeface="Arial"/>
              </a:defRPr>
            </a:lvl8pPr>
            <a:lvl9pPr algn="l">
              <a:defRPr sz="3525" b="1">
                <a:solidFill>
                  <a:srgbClr val="F5F6F8"/>
                </a:solidFill>
                <a:latin typeface="Arial"/>
                <a:ea typeface="Arial"/>
                <a:cs typeface="Arial"/>
              </a:defRPr>
            </a:lvl9pPr>
          </a:lstStyle>
          <a:p xmlns:a="http://schemas.openxmlformats.org/drawingml/2006/main">
            <a:pPr algn="l">
              <a:defRPr sz="3525" b="1">
                <a:solidFill>
                  <a:srgbClr val="F5F6F8"/>
                </a:solidFill>
                <a:latin typeface="Arial"/>
                <a:ea typeface="Arial"/>
                <a:cs typeface="Arial"/>
              </a:defRPr>
            </a:pPr>
            <a:r>
              <a:rPr sz="3525" b="1">
                <a:solidFill>
                  <a:srgbClr val="F5F6F8"/>
                </a:solidFill>
                <a:latin typeface="Arial"/>
                <a:ea typeface="Arial"/>
                <a:cs typeface="Arial"/>
              </a:rPr>
              <a:t>Financial scope with</a:t>
            </a:r>
          </a:p>
          <a:p xmlns:a="http://schemas.openxmlformats.org/drawingml/2006/main">
            <a:pPr algn="l">
              <a:defRPr sz="3525" b="1">
                <a:solidFill>
                  <a:srgbClr val="F5F6F8"/>
                </a:solidFill>
                <a:latin typeface="Arial"/>
                <a:ea typeface="Arial"/>
                <a:cs typeface="Arial"/>
              </a:defRPr>
            </a:pPr>
            <a:r>
              <a:rPr sz="3525" b="1">
                <a:solidFill>
                  <a:srgbClr val="F5F6F8"/>
                </a:solidFill>
                <a:latin typeface="Arial"/>
                <a:ea typeface="Arial"/>
                <a:cs typeface="Arial"/>
              </a:rPr>
              <a:t>reviewable evidence</a:t>
            </a:r>
          </a:p>
        </p:txBody>
      </p:sp>
      <p:sp>
        <p:nvSpPr>
          <p:cNvPr id="7" name="Next implementation priorities">
            <a:extLst xmlns:a="http://schemas.openxmlformats.org/drawingml/2006/main">
              <a:ext uri="{FF2B5EF4-FFF2-40B4-BE49-F238E27FC236}">
                <a16:creationId xmlns:a16="http://schemas.microsoft.com/office/drawing/2014/main" id="{8CBC17E0-36D9-4839-A842-AA491A7E1B0A}"/>
              </a:ext>
            </a:extLst>
          </p:cNvPr>
          <p:cNvSpPr>
            <a:spLocks xmlns:a="http://schemas.openxmlformats.org/drawingml/2006/main" noGrp="1"/>
          </p:cNvSpPr>
          <p:nvPr/>
        </p:nvSpPr>
        <p:spPr>
          <a:xfrm xmlns:a="http://schemas.openxmlformats.org/drawingml/2006/main">
            <a:off x="7296150" y="20383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ACFF"/>
                </a:solidFill>
                <a:latin typeface="Arial"/>
                <a:ea typeface="Arial"/>
                <a:cs typeface="Arial"/>
              </a:defRPr>
            </a:defPPr>
            <a:lvl1pPr algn="l">
              <a:defRPr sz="2175" b="1">
                <a:solidFill>
                  <a:srgbClr val="62ACFF"/>
                </a:solidFill>
                <a:latin typeface="Arial"/>
                <a:ea typeface="Arial"/>
                <a:cs typeface="Arial"/>
              </a:defRPr>
            </a:lvl1pPr>
            <a:lvl2pPr algn="l">
              <a:defRPr sz="2175" b="1">
                <a:solidFill>
                  <a:srgbClr val="62ACFF"/>
                </a:solidFill>
                <a:latin typeface="Arial"/>
                <a:ea typeface="Arial"/>
                <a:cs typeface="Arial"/>
              </a:defRPr>
            </a:lvl2pPr>
            <a:lvl3pPr algn="l">
              <a:defRPr sz="2175" b="1">
                <a:solidFill>
                  <a:srgbClr val="62ACFF"/>
                </a:solidFill>
                <a:latin typeface="Arial"/>
                <a:ea typeface="Arial"/>
                <a:cs typeface="Arial"/>
              </a:defRPr>
            </a:lvl3pPr>
            <a:lvl4pPr algn="l">
              <a:defRPr sz="2175" b="1">
                <a:solidFill>
                  <a:srgbClr val="62ACFF"/>
                </a:solidFill>
                <a:latin typeface="Arial"/>
                <a:ea typeface="Arial"/>
                <a:cs typeface="Arial"/>
              </a:defRPr>
            </a:lvl4pPr>
            <a:lvl5pPr algn="l">
              <a:defRPr sz="2175" b="1">
                <a:solidFill>
                  <a:srgbClr val="62ACFF"/>
                </a:solidFill>
                <a:latin typeface="Arial"/>
                <a:ea typeface="Arial"/>
                <a:cs typeface="Arial"/>
              </a:defRPr>
            </a:lvl5pPr>
            <a:lvl6pPr algn="l">
              <a:defRPr sz="2175" b="1">
                <a:solidFill>
                  <a:srgbClr val="62ACFF"/>
                </a:solidFill>
                <a:latin typeface="Arial"/>
                <a:ea typeface="Arial"/>
                <a:cs typeface="Arial"/>
              </a:defRPr>
            </a:lvl6pPr>
            <a:lvl7pPr algn="l">
              <a:defRPr sz="2175" b="1">
                <a:solidFill>
                  <a:srgbClr val="62ACFF"/>
                </a:solidFill>
                <a:latin typeface="Arial"/>
                <a:ea typeface="Arial"/>
                <a:cs typeface="Arial"/>
              </a:defRPr>
            </a:lvl7pPr>
            <a:lvl8pPr algn="l">
              <a:defRPr sz="2175" b="1">
                <a:solidFill>
                  <a:srgbClr val="62ACFF"/>
                </a:solidFill>
                <a:latin typeface="Arial"/>
                <a:ea typeface="Arial"/>
                <a:cs typeface="Arial"/>
              </a:defRPr>
            </a:lvl8pPr>
            <a:lvl9pPr algn="l">
              <a:defRPr sz="2175" b="1">
                <a:solidFill>
                  <a:srgbClr val="62ACFF"/>
                </a:solidFill>
                <a:latin typeface="Arial"/>
                <a:ea typeface="Arial"/>
                <a:cs typeface="Arial"/>
              </a:defRPr>
            </a:lvl9pPr>
          </a:lstStyle>
          <a:p xmlns:a="http://schemas.openxmlformats.org/drawingml/2006/main">
            <a:pPr algn="l">
              <a:defRPr sz="2175" b="1">
                <a:solidFill>
                  <a:srgbClr val="62ACFF"/>
                </a:solidFill>
                <a:latin typeface="Arial"/>
                <a:ea typeface="Arial"/>
                <a:cs typeface="Arial"/>
              </a:defRPr>
            </a:pPr>
            <a:r>
              <a:rPr sz="2175" b="1">
                <a:solidFill>
                  <a:srgbClr val="62ACFF"/>
                </a:solidFill>
                <a:latin typeface="Arial"/>
                <a:ea typeface="Arial"/>
                <a:cs typeface="Arial"/>
              </a:rPr>
              <a:t>Next implementation priorities</a:t>
            </a:r>
          </a:p>
        </p:txBody>
      </p:sp>
      <p:sp>
        <p:nvSpPr>
          <p:cNvPr id="8" name="Supported installation and updates&#10;&#10;Broader merchant compatibility&#10;&#10;In">
            <a:extLst xmlns:a="http://schemas.openxmlformats.org/drawingml/2006/main">
              <a:ext uri="{FF2B5EF4-FFF2-40B4-BE49-F238E27FC236}">
                <a16:creationId xmlns:a16="http://schemas.microsoft.com/office/drawing/2014/main" id="{9958C70B-9F5E-4335-B4A7-8C5DFF5AD808}"/>
              </a:ext>
            </a:extLst>
          </p:cNvPr>
          <p:cNvSpPr>
            <a:spLocks xmlns:a="http://schemas.openxmlformats.org/drawingml/2006/main" noGrp="1"/>
          </p:cNvSpPr>
          <p:nvPr/>
        </p:nvSpPr>
        <p:spPr>
          <a:xfrm xmlns:a="http://schemas.openxmlformats.org/drawingml/2006/main">
            <a:off x="7296150" y="2819400"/>
            <a:ext cx="42862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6F8"/>
                </a:solidFill>
                <a:latin typeface="Arial"/>
                <a:ea typeface="Arial"/>
                <a:cs typeface="Arial"/>
              </a:defRPr>
            </a:defPPr>
            <a:lvl1pPr algn="l">
              <a:defRPr sz="1875" b="0">
                <a:solidFill>
                  <a:srgbClr val="F5F6F8"/>
                </a:solidFill>
                <a:latin typeface="Arial"/>
                <a:ea typeface="Arial"/>
                <a:cs typeface="Arial"/>
              </a:defRPr>
            </a:lvl1pPr>
            <a:lvl2pPr algn="l">
              <a:defRPr sz="1875" b="0">
                <a:solidFill>
                  <a:srgbClr val="F5F6F8"/>
                </a:solidFill>
                <a:latin typeface="Arial"/>
                <a:ea typeface="Arial"/>
                <a:cs typeface="Arial"/>
              </a:defRPr>
            </a:lvl2pPr>
            <a:lvl3pPr algn="l">
              <a:defRPr sz="1875" b="0">
                <a:solidFill>
                  <a:srgbClr val="F5F6F8"/>
                </a:solidFill>
                <a:latin typeface="Arial"/>
                <a:ea typeface="Arial"/>
                <a:cs typeface="Arial"/>
              </a:defRPr>
            </a:lvl3pPr>
            <a:lvl4pPr algn="l">
              <a:defRPr sz="1875" b="0">
                <a:solidFill>
                  <a:srgbClr val="F5F6F8"/>
                </a:solidFill>
                <a:latin typeface="Arial"/>
                <a:ea typeface="Arial"/>
                <a:cs typeface="Arial"/>
              </a:defRPr>
            </a:lvl4pPr>
            <a:lvl5pPr algn="l">
              <a:defRPr sz="1875" b="0">
                <a:solidFill>
                  <a:srgbClr val="F5F6F8"/>
                </a:solidFill>
                <a:latin typeface="Arial"/>
                <a:ea typeface="Arial"/>
                <a:cs typeface="Arial"/>
              </a:defRPr>
            </a:lvl5pPr>
            <a:lvl6pPr algn="l">
              <a:defRPr sz="1875" b="0">
                <a:solidFill>
                  <a:srgbClr val="F5F6F8"/>
                </a:solidFill>
                <a:latin typeface="Arial"/>
                <a:ea typeface="Arial"/>
                <a:cs typeface="Arial"/>
              </a:defRPr>
            </a:lvl6pPr>
            <a:lvl7pPr algn="l">
              <a:defRPr sz="1875" b="0">
                <a:solidFill>
                  <a:srgbClr val="F5F6F8"/>
                </a:solidFill>
                <a:latin typeface="Arial"/>
                <a:ea typeface="Arial"/>
                <a:cs typeface="Arial"/>
              </a:defRPr>
            </a:lvl7pPr>
            <a:lvl8pPr algn="l">
              <a:defRPr sz="1875" b="0">
                <a:solidFill>
                  <a:srgbClr val="F5F6F8"/>
                </a:solidFill>
                <a:latin typeface="Arial"/>
                <a:ea typeface="Arial"/>
                <a:cs typeface="Arial"/>
              </a:defRPr>
            </a:lvl8pPr>
            <a:lvl9pPr algn="l">
              <a:defRPr sz="1875" b="0">
                <a:solidFill>
                  <a:srgbClr val="F5F6F8"/>
                </a:solidFill>
                <a:latin typeface="Arial"/>
                <a:ea typeface="Arial"/>
                <a:cs typeface="Arial"/>
              </a:defRPr>
            </a:lvl9pPr>
          </a:lstStyle>
          <a:p xmlns:a="http://schemas.openxmlformats.org/drawingml/2006/main">
            <a:pPr algn="l">
              <a:defRPr sz="1875" b="0">
                <a:solidFill>
                  <a:srgbClr val="F5F6F8"/>
                </a:solidFill>
                <a:latin typeface="Arial"/>
                <a:ea typeface="Arial"/>
                <a:cs typeface="Arial"/>
              </a:defRPr>
            </a:pPr>
            <a:r>
              <a:rPr sz="1875" b="0">
                <a:solidFill>
                  <a:srgbClr val="F5F6F8"/>
                </a:solidFill>
                <a:latin typeface="Arial"/>
                <a:ea typeface="Arial"/>
                <a:cs typeface="Arial"/>
              </a:rPr>
              <a:t>Supported installation and updates</a:t>
            </a:r>
          </a:p>
          <a:p xmlns:a="http://schemas.openxmlformats.org/drawingml/2006/main">
            <a:r>
              <a:t/>
            </a:r>
          </a:p>
          <a:p xmlns:a="http://schemas.openxmlformats.org/drawingml/2006/main">
            <a:pPr algn="l">
              <a:defRPr sz="1875" b="0">
                <a:solidFill>
                  <a:srgbClr val="F5F6F8"/>
                </a:solidFill>
                <a:latin typeface="Arial"/>
                <a:ea typeface="Arial"/>
                <a:cs typeface="Arial"/>
              </a:defRPr>
            </a:pPr>
            <a:r>
              <a:rPr sz="1875" b="0">
                <a:solidFill>
                  <a:srgbClr val="F5F6F8"/>
                </a:solidFill>
                <a:latin typeface="Arial"/>
                <a:ea typeface="Arial"/>
                <a:cs typeface="Arial"/>
              </a:rPr>
              <a:t>Broader merchant compatibility</a:t>
            </a:r>
          </a:p>
          <a:p xmlns:a="http://schemas.openxmlformats.org/drawingml/2006/main">
            <a:r>
              <a:t/>
            </a:r>
          </a:p>
          <a:p xmlns:a="http://schemas.openxmlformats.org/drawingml/2006/main">
            <a:pPr algn="l">
              <a:defRPr sz="1875" b="0">
                <a:solidFill>
                  <a:srgbClr val="F5F6F8"/>
                </a:solidFill>
                <a:latin typeface="Arial"/>
                <a:ea typeface="Arial"/>
                <a:cs typeface="Arial"/>
              </a:defRPr>
            </a:pPr>
            <a:r>
              <a:rPr sz="1875" b="0">
                <a:solidFill>
                  <a:srgbClr val="F5F6F8"/>
                </a:solidFill>
                <a:latin typeface="Arial"/>
                <a:ea typeface="Arial"/>
                <a:cs typeface="Arial"/>
              </a:rPr>
              <a:t>Independent source and history evidence</a:t>
            </a:r>
          </a:p>
        </p:txBody>
      </p:sp>
      <p:sp>
        <p:nvSpPr>
          <p:cNvPr id="9" name="Beacon commitments and stronger execution proofs remain research exten">
            <a:extLst xmlns:a="http://schemas.openxmlformats.org/drawingml/2006/main">
              <a:ext uri="{FF2B5EF4-FFF2-40B4-BE49-F238E27FC236}">
                <a16:creationId xmlns:a16="http://schemas.microsoft.com/office/drawing/2014/main" id="{403BA048-4797-4178-9D61-819B873AE85F}"/>
              </a:ext>
            </a:extLst>
          </p:cNvPr>
          <p:cNvSpPr>
            <a:spLocks xmlns:a="http://schemas.openxmlformats.org/drawingml/2006/main" noGrp="1"/>
          </p:cNvSpPr>
          <p:nvPr/>
        </p:nvSpPr>
        <p:spPr>
          <a:xfrm xmlns:a="http://schemas.openxmlformats.org/drawingml/2006/main">
            <a:off x="609600" y="52578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0A5AF"/>
                </a:solidFill>
                <a:latin typeface="Arial"/>
                <a:ea typeface="Arial"/>
                <a:cs typeface="Arial"/>
              </a:defRPr>
            </a:defPPr>
            <a:lvl1pPr algn="l">
              <a:defRPr sz="1800" b="0">
                <a:solidFill>
                  <a:srgbClr val="A0A5AF"/>
                </a:solidFill>
                <a:latin typeface="Arial"/>
                <a:ea typeface="Arial"/>
                <a:cs typeface="Arial"/>
              </a:defRPr>
            </a:lvl1pPr>
            <a:lvl2pPr algn="l">
              <a:defRPr sz="1800" b="0">
                <a:solidFill>
                  <a:srgbClr val="A0A5AF"/>
                </a:solidFill>
                <a:latin typeface="Arial"/>
                <a:ea typeface="Arial"/>
                <a:cs typeface="Arial"/>
              </a:defRPr>
            </a:lvl2pPr>
            <a:lvl3pPr algn="l">
              <a:defRPr sz="1800" b="0">
                <a:solidFill>
                  <a:srgbClr val="A0A5AF"/>
                </a:solidFill>
                <a:latin typeface="Arial"/>
                <a:ea typeface="Arial"/>
                <a:cs typeface="Arial"/>
              </a:defRPr>
            </a:lvl3pPr>
            <a:lvl4pPr algn="l">
              <a:defRPr sz="1800" b="0">
                <a:solidFill>
                  <a:srgbClr val="A0A5AF"/>
                </a:solidFill>
                <a:latin typeface="Arial"/>
                <a:ea typeface="Arial"/>
                <a:cs typeface="Arial"/>
              </a:defRPr>
            </a:lvl4pPr>
            <a:lvl5pPr algn="l">
              <a:defRPr sz="1800" b="0">
                <a:solidFill>
                  <a:srgbClr val="A0A5AF"/>
                </a:solidFill>
                <a:latin typeface="Arial"/>
                <a:ea typeface="Arial"/>
                <a:cs typeface="Arial"/>
              </a:defRPr>
            </a:lvl5pPr>
            <a:lvl6pPr algn="l">
              <a:defRPr sz="1800" b="0">
                <a:solidFill>
                  <a:srgbClr val="A0A5AF"/>
                </a:solidFill>
                <a:latin typeface="Arial"/>
                <a:ea typeface="Arial"/>
                <a:cs typeface="Arial"/>
              </a:defRPr>
            </a:lvl6pPr>
            <a:lvl7pPr algn="l">
              <a:defRPr sz="1800" b="0">
                <a:solidFill>
                  <a:srgbClr val="A0A5AF"/>
                </a:solidFill>
                <a:latin typeface="Arial"/>
                <a:ea typeface="Arial"/>
                <a:cs typeface="Arial"/>
              </a:defRPr>
            </a:lvl7pPr>
            <a:lvl8pPr algn="l">
              <a:defRPr sz="1800" b="0">
                <a:solidFill>
                  <a:srgbClr val="A0A5AF"/>
                </a:solidFill>
                <a:latin typeface="Arial"/>
                <a:ea typeface="Arial"/>
                <a:cs typeface="Arial"/>
              </a:defRPr>
            </a:lvl8pPr>
            <a:lvl9pPr algn="l">
              <a:defRPr sz="1800" b="0">
                <a:solidFill>
                  <a:srgbClr val="A0A5AF"/>
                </a:solidFill>
                <a:latin typeface="Arial"/>
                <a:ea typeface="Arial"/>
                <a:cs typeface="Arial"/>
              </a:defRPr>
            </a:lvl9pPr>
          </a:lstStyle>
          <a:p xmlns:a="http://schemas.openxmlformats.org/drawingml/2006/main">
            <a:pPr algn="l">
              <a:defRPr sz="1800" b="0">
                <a:solidFill>
                  <a:srgbClr val="A0A5AF"/>
                </a:solidFill>
                <a:latin typeface="Arial"/>
                <a:ea typeface="Arial"/>
                <a:cs typeface="Arial"/>
              </a:defRPr>
            </a:pPr>
            <a:r>
              <a:rPr sz="1800" b="0">
                <a:solidFill>
                  <a:srgbClr val="A0A5AF"/>
                </a:solidFill>
                <a:latin typeface="Arial"/>
                <a:ea typeface="Arial"/>
                <a:cs typeface="Arial"/>
              </a:rPr>
              <a:t>Beacon commitments and stronger execution proofs remain research extensions.</a:t>
            </a:r>
          </a:p>
        </p:txBody>
      </p:sp>
      <p:sp>
        <p:nvSpPr>
          <p:cNvPr id="10" name="Mengzhong Ma, Sat Chidananda, Vrushank Ajay Ahire, Wilfried Ariel Muly">
            <a:extLst xmlns:a="http://schemas.openxmlformats.org/drawingml/2006/main">
              <a:ext uri="{FF2B5EF4-FFF2-40B4-BE49-F238E27FC236}">
                <a16:creationId xmlns:a16="http://schemas.microsoft.com/office/drawing/2014/main" id="{244688A4-EA9A-42C5-A688-10A320CC5BEA}"/>
              </a:ext>
            </a:extLst>
          </p:cNvPr>
          <p:cNvSpPr>
            <a:spLocks xmlns:a="http://schemas.openxmlformats.org/drawingml/2006/main" noGrp="1"/>
          </p:cNvSpPr>
          <p:nvPr/>
        </p:nvSpPr>
        <p:spPr>
          <a:xfrm xmlns:a="http://schemas.openxmlformats.org/drawingml/2006/main">
            <a:off x="609600" y="58293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5F6F8"/>
                </a:solidFill>
                <a:latin typeface="Arial"/>
                <a:ea typeface="Arial"/>
                <a:cs typeface="Arial"/>
              </a:defRPr>
            </a:defPPr>
            <a:lvl1pPr algn="l">
              <a:defRPr sz="1500" b="0">
                <a:solidFill>
                  <a:srgbClr val="F5F6F8"/>
                </a:solidFill>
                <a:latin typeface="Arial"/>
                <a:ea typeface="Arial"/>
                <a:cs typeface="Arial"/>
              </a:defRPr>
            </a:lvl1pPr>
            <a:lvl2pPr algn="l">
              <a:defRPr sz="1500" b="0">
                <a:solidFill>
                  <a:srgbClr val="F5F6F8"/>
                </a:solidFill>
                <a:latin typeface="Arial"/>
                <a:ea typeface="Arial"/>
                <a:cs typeface="Arial"/>
              </a:defRPr>
            </a:lvl2pPr>
            <a:lvl3pPr algn="l">
              <a:defRPr sz="1500" b="0">
                <a:solidFill>
                  <a:srgbClr val="F5F6F8"/>
                </a:solidFill>
                <a:latin typeface="Arial"/>
                <a:ea typeface="Arial"/>
                <a:cs typeface="Arial"/>
              </a:defRPr>
            </a:lvl3pPr>
            <a:lvl4pPr algn="l">
              <a:defRPr sz="1500" b="0">
                <a:solidFill>
                  <a:srgbClr val="F5F6F8"/>
                </a:solidFill>
                <a:latin typeface="Arial"/>
                <a:ea typeface="Arial"/>
                <a:cs typeface="Arial"/>
              </a:defRPr>
            </a:lvl4pPr>
            <a:lvl5pPr algn="l">
              <a:defRPr sz="1500" b="0">
                <a:solidFill>
                  <a:srgbClr val="F5F6F8"/>
                </a:solidFill>
                <a:latin typeface="Arial"/>
                <a:ea typeface="Arial"/>
                <a:cs typeface="Arial"/>
              </a:defRPr>
            </a:lvl5pPr>
            <a:lvl6pPr algn="l">
              <a:defRPr sz="1500" b="0">
                <a:solidFill>
                  <a:srgbClr val="F5F6F8"/>
                </a:solidFill>
                <a:latin typeface="Arial"/>
                <a:ea typeface="Arial"/>
                <a:cs typeface="Arial"/>
              </a:defRPr>
            </a:lvl6pPr>
            <a:lvl7pPr algn="l">
              <a:defRPr sz="1500" b="0">
                <a:solidFill>
                  <a:srgbClr val="F5F6F8"/>
                </a:solidFill>
                <a:latin typeface="Arial"/>
                <a:ea typeface="Arial"/>
                <a:cs typeface="Arial"/>
              </a:defRPr>
            </a:lvl7pPr>
            <a:lvl8pPr algn="l">
              <a:defRPr sz="1500" b="0">
                <a:solidFill>
                  <a:srgbClr val="F5F6F8"/>
                </a:solidFill>
                <a:latin typeface="Arial"/>
                <a:ea typeface="Arial"/>
                <a:cs typeface="Arial"/>
              </a:defRPr>
            </a:lvl8pPr>
            <a:lvl9pPr algn="l">
              <a:defRPr sz="1500" b="0">
                <a:solidFill>
                  <a:srgbClr val="F5F6F8"/>
                </a:solidFill>
                <a:latin typeface="Arial"/>
                <a:ea typeface="Arial"/>
                <a:cs typeface="Arial"/>
              </a:defRPr>
            </a:lvl9pPr>
          </a:lstStyle>
          <a:p xmlns:a="http://schemas.openxmlformats.org/drawingml/2006/main">
            <a:pPr algn="l">
              <a:defRPr sz="1500" b="0">
                <a:solidFill>
                  <a:srgbClr val="F5F6F8"/>
                </a:solidFill>
                <a:latin typeface="Arial"/>
                <a:ea typeface="Arial"/>
                <a:cs typeface="Arial"/>
              </a:defRPr>
            </a:pPr>
            <a:r>
              <a:rPr sz="1500" b="0">
                <a:solidFill>
                  <a:srgbClr val="F5F6F8"/>
                </a:solidFill>
                <a:latin typeface="Arial"/>
                <a:ea typeface="Arial"/>
                <a:cs typeface="Arial"/>
              </a:rPr>
              <a:t>Mengzhong Ma, Sat Chidananda, Vrushank Ajay Ahire, Wilfried Ariel Mulyawan</a:t>
            </a:r>
          </a:p>
        </p:txBody>
      </p:sp>
      <p:sp>
        <p:nvSpPr>
          <p:cNvPr id="11" name="Nanyang Technological University, Singapore">
            <a:extLst xmlns:a="http://schemas.openxmlformats.org/drawingml/2006/main">
              <a:ext uri="{FF2B5EF4-FFF2-40B4-BE49-F238E27FC236}">
                <a16:creationId xmlns:a16="http://schemas.microsoft.com/office/drawing/2014/main" id="{285F39C4-9E80-4FFC-8900-D4E7655675F3}"/>
              </a:ext>
            </a:extLst>
          </p:cNvPr>
          <p:cNvSpPr>
            <a:spLocks xmlns:a="http://schemas.openxmlformats.org/drawingml/2006/main" noGrp="1"/>
          </p:cNvSpPr>
          <p:nvPr/>
        </p:nvSpPr>
        <p:spPr>
          <a:xfrm xmlns:a="http://schemas.openxmlformats.org/drawingml/2006/main">
            <a:off x="609600" y="61341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0A5AF"/>
                </a:solidFill>
                <a:latin typeface="Arial"/>
                <a:ea typeface="Arial"/>
                <a:cs typeface="Arial"/>
              </a:defRPr>
            </a:defPPr>
            <a:lvl1pPr algn="l">
              <a:defRPr sz="1350" b="0">
                <a:solidFill>
                  <a:srgbClr val="A0A5AF"/>
                </a:solidFill>
                <a:latin typeface="Arial"/>
                <a:ea typeface="Arial"/>
                <a:cs typeface="Arial"/>
              </a:defRPr>
            </a:lvl1pPr>
            <a:lvl2pPr algn="l">
              <a:defRPr sz="1350" b="0">
                <a:solidFill>
                  <a:srgbClr val="A0A5AF"/>
                </a:solidFill>
                <a:latin typeface="Arial"/>
                <a:ea typeface="Arial"/>
                <a:cs typeface="Arial"/>
              </a:defRPr>
            </a:lvl2pPr>
            <a:lvl3pPr algn="l">
              <a:defRPr sz="1350" b="0">
                <a:solidFill>
                  <a:srgbClr val="A0A5AF"/>
                </a:solidFill>
                <a:latin typeface="Arial"/>
                <a:ea typeface="Arial"/>
                <a:cs typeface="Arial"/>
              </a:defRPr>
            </a:lvl3pPr>
            <a:lvl4pPr algn="l">
              <a:defRPr sz="1350" b="0">
                <a:solidFill>
                  <a:srgbClr val="A0A5AF"/>
                </a:solidFill>
                <a:latin typeface="Arial"/>
                <a:ea typeface="Arial"/>
                <a:cs typeface="Arial"/>
              </a:defRPr>
            </a:lvl4pPr>
            <a:lvl5pPr algn="l">
              <a:defRPr sz="1350" b="0">
                <a:solidFill>
                  <a:srgbClr val="A0A5AF"/>
                </a:solidFill>
                <a:latin typeface="Arial"/>
                <a:ea typeface="Arial"/>
                <a:cs typeface="Arial"/>
              </a:defRPr>
            </a:lvl5pPr>
            <a:lvl6pPr algn="l">
              <a:defRPr sz="1350" b="0">
                <a:solidFill>
                  <a:srgbClr val="A0A5AF"/>
                </a:solidFill>
                <a:latin typeface="Arial"/>
                <a:ea typeface="Arial"/>
                <a:cs typeface="Arial"/>
              </a:defRPr>
            </a:lvl6pPr>
            <a:lvl7pPr algn="l">
              <a:defRPr sz="1350" b="0">
                <a:solidFill>
                  <a:srgbClr val="A0A5AF"/>
                </a:solidFill>
                <a:latin typeface="Arial"/>
                <a:ea typeface="Arial"/>
                <a:cs typeface="Arial"/>
              </a:defRPr>
            </a:lvl7pPr>
            <a:lvl8pPr algn="l">
              <a:defRPr sz="1350" b="0">
                <a:solidFill>
                  <a:srgbClr val="A0A5AF"/>
                </a:solidFill>
                <a:latin typeface="Arial"/>
                <a:ea typeface="Arial"/>
                <a:cs typeface="Arial"/>
              </a:defRPr>
            </a:lvl8pPr>
            <a:lvl9pPr algn="l">
              <a:defRPr sz="1350" b="0">
                <a:solidFill>
                  <a:srgbClr val="A0A5AF"/>
                </a:solidFill>
                <a:latin typeface="Arial"/>
                <a:ea typeface="Arial"/>
                <a:cs typeface="Arial"/>
              </a:defRPr>
            </a:lvl9pPr>
          </a:lstStyle>
          <a:p xmlns:a="http://schemas.openxmlformats.org/drawingml/2006/main">
            <a:pPr algn="l">
              <a:defRPr sz="1350" b="0">
                <a:solidFill>
                  <a:srgbClr val="A0A5AF"/>
                </a:solidFill>
                <a:latin typeface="Arial"/>
                <a:ea typeface="Arial"/>
                <a:cs typeface="Arial"/>
              </a:defRPr>
            </a:pPr>
            <a:r>
              <a:rPr sz="1350" b="0">
                <a:solidFill>
                  <a:srgbClr val="A0A5AF"/>
                </a:solidFill>
                <a:latin typeface="Arial"/>
                <a:ea typeface="Arial"/>
                <a:cs typeface="Arial"/>
              </a:rPr>
              <a:t>Nanyang Technological University, Singapore</a:t>
            </a:r>
          </a:p>
        </p:txBody>
      </p:sp>
    </p:spTree>
    <p:extLst>
      <p:ext uri="{BB962C8B-B14F-4D97-AF65-F5344CB8AC3E}">
        <p14:creationId xmlns:p14="http://schemas.microsoft.com/office/powerpoint/2010/main" val="11921613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2026-10-20T05:59:39.3560000Z</dcterms:created>
  <dcterms:modified xsi:type="dcterms:W3CDTF">2026-10-20T05:59:39.3560000Z</dcterms:modified>
</coreProperties>
</file>